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Diphylleia"/>
      <p:regular r:id="rId2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본부 보직자 대상 전략 보고를 개시합니다. 분절된 행정 처리 구조를 통합 플랫폼 중심으로 전환하는 핵심 목표를 공유합니다.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대학 대내외 평가 지표 관리와 행정 수요 폭증의 이중고를 설명하고, 본 안건 승인이 조직 경쟁력 회복의 선결 조건임을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조사 수치에서 확인되듯 문제는 담당자의 역량이 아닌 구조화된 제도와 절차의 노후화에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원인이 악순환 고리를 형성하고 있음을 설명합니다. 부서 간 장벽 해소가 정책 개선의 출발점입니다.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시스템 구축 전이라도 제도와 지침 개정만으로 신속히 달성 가능한 정책 개선 패키지임을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개별 구축된 학사정보, 연구지원, 그룹웨어를 하나의 통합 포털로 수렴하여 데이터와 결재의 단일 흐름을 완성합니다.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총 소요 예산의 투자 대비 효과(민원 처리 기간 60% 단축, 연간 종이 서류 80% 감축)를 부각하며 차기 추경 배정을 요청합니다.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발표를 매듭지으며 이번 행정 혁신이 교원과 학생의 체감 만족도를 획기적으로 개선하고 대외 평가 경쟁력을 선점하는 필수 투자임을 재확인합니다.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EEF4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EEF4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EEF4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EEF4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bg>
      <p:bgPr>
        <a:solidFill>
          <a:srgbClr val="EEF4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6">
    <p:bg>
      <p:bgPr>
        <a:solidFill>
          <a:srgbClr val="EEF4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7">
    <p:bg>
      <p:bgPr>
        <a:solidFill>
          <a:srgbClr val="EEF4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8">
    <p:bg>
      <p:bgPr>
        <a:solidFill>
          <a:srgbClr val="EEF4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603114"/>
            <a:ext cx="5943451" cy="2084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ko-KR" altLang="en-US" sz="7200" spc="-86" kern="100" dirty="0">
                <a:solidFill>
                  <a:srgbClr val="542F65"/>
                </a:solidFill>
                <a:latin typeface="Diphylleia" pitchFamily="34" charset="0"/>
                <a:ea typeface="Diphylleia" pitchFamily="34" charset="-122"/>
                <a:cs typeface="Diphylleia" pitchFamily="34" charset="0"/>
              </a:rPr>
              <a:t>대학 행정</a:t>
            </a:r>
            <a:endParaRPr lang="ko-KR" sz="7200" dirty="0"/>
          </a:p>
          <a:p>
            <a:pPr algn="l" indent="0" marL="0">
              <a:lnSpc>
                <a:spcPct val="95000"/>
              </a:lnSpc>
              <a:buNone/>
            </a:pPr>
            <a:r>
              <a:rPr lang="ko-KR" altLang="en-US" sz="7200" spc="-86" kern="100" dirty="0">
                <a:solidFill>
                  <a:srgbClr val="542F65"/>
                </a:solidFill>
                <a:latin typeface="Diphylleia" pitchFamily="34" charset="0"/>
                <a:ea typeface="Diphylleia" pitchFamily="34" charset="-122"/>
                <a:cs typeface="Diphylleia" pitchFamily="34" charset="0"/>
              </a:rPr>
              <a:t>혁신 전략</a:t>
            </a:r>
            <a:endParaRPr lang="ko-KR" sz="7200" dirty="0"/>
          </a:p>
        </p:txBody>
      </p:sp>
      <p:sp>
        <p:nvSpPr>
          <p:cNvPr id="3" name="Text 1"/>
          <p:cNvSpPr/>
          <p:nvPr/>
        </p:nvSpPr>
        <p:spPr>
          <a:xfrm>
            <a:off x="660383" y="2816622"/>
            <a:ext cx="5943451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000" dirty="0">
                <a:solidFill>
                  <a:srgbClr val="542F65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학습자·교원 중심의 스마트 거버넌스 전환안</a:t>
            </a:r>
            <a:endParaRPr lang="ko-KR" sz="2000" dirty="0"/>
          </a:p>
        </p:txBody>
      </p:sp>
      <p:sp>
        <p:nvSpPr>
          <p:cNvPr id="4" name="Text 2"/>
          <p:cNvSpPr/>
          <p:nvPr/>
        </p:nvSpPr>
        <p:spPr>
          <a:xfrm>
            <a:off x="660383" y="6209506"/>
            <a:ext cx="6248244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1250" spc="125" kern="100" dirty="0">
                <a:solidFill>
                  <a:srgbClr val="506447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기획처 행정혁신TF · 대학 본부 경영진 심의 안건</a:t>
            </a:r>
            <a:endParaRPr lang="ko-KR" sz="1250" dirty="0"/>
          </a:p>
        </p:txBody>
      </p:sp>
      <p:sp>
        <p:nvSpPr>
          <p:cNvPr id="5" name="Shape 3"/>
          <p:cNvSpPr/>
          <p:nvPr/>
        </p:nvSpPr>
        <p:spPr>
          <a:xfrm>
            <a:off x="7010225" y="508000"/>
            <a:ext cx="3251119" cy="1828800"/>
          </a:xfrm>
          <a:prstGeom prst="rect">
            <a:avLst/>
          </a:prstGeom>
          <a:noFill/>
          <a:ln/>
          <a:effectLst>
            <a:outerShdw sx="100000" sy="100000" kx="0" ky="0" algn="bl" rotWithShape="0" blurRad="36830" dist="5080" dir="5400000">
              <a:srgbClr val="233d33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0225" y="508000"/>
            <a:ext cx="3251119" cy="1828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10225" y="2653506"/>
            <a:ext cx="325111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1250" spc="12" kern="100" dirty="0">
                <a:solidFill>
                  <a:srgbClr val="506447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대학 행정 거버넌스 개편 심의 계획(2026). 설명용 생성 이미지.</a:t>
            </a:r>
            <a:endParaRPr lang="ko-KR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736387"/>
            <a:ext cx="5720016" cy="501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ko-KR" altLang="en-US" sz="3800" spc="-38" kern="100" dirty="0">
                <a:solidFill>
                  <a:srgbClr val="542F65"/>
                </a:solidFill>
                <a:latin typeface="Diphylleia" pitchFamily="34" charset="0"/>
                <a:ea typeface="Diphylleia" pitchFamily="34" charset="-122"/>
                <a:cs typeface="Diphylleia" pitchFamily="34" charset="0"/>
              </a:rPr>
              <a:t>혁신이 필요한 이유</a:t>
            </a:r>
            <a:endParaRPr lang="ko-KR" sz="3800" dirty="0"/>
          </a:p>
        </p:txBody>
      </p:sp>
      <p:sp>
        <p:nvSpPr>
          <p:cNvPr id="3" name="Text 1"/>
          <p:cNvSpPr/>
          <p:nvPr/>
        </p:nvSpPr>
        <p:spPr>
          <a:xfrm>
            <a:off x="660383" y="1393230"/>
            <a:ext cx="6329601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1250" spc="125" kern="100" dirty="0">
                <a:solidFill>
                  <a:srgbClr val="506447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환경 변화와 승인 요청 배경</a:t>
            </a:r>
            <a:endParaRPr lang="ko-KR" sz="1250" dirty="0"/>
          </a:p>
        </p:txBody>
      </p:sp>
      <p:sp>
        <p:nvSpPr>
          <p:cNvPr id="4" name="Text 2"/>
          <p:cNvSpPr/>
          <p:nvPr/>
        </p:nvSpPr>
        <p:spPr>
          <a:xfrm>
            <a:off x="660383" y="2009180"/>
            <a:ext cx="5720016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700" dirty="0">
                <a:solidFill>
                  <a:srgbClr val="542F65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기대 수준 상승과 행정 부담 가중</a:t>
            </a:r>
            <a:endParaRPr lang="ko-KR" sz="1700" dirty="0"/>
          </a:p>
        </p:txBody>
      </p:sp>
      <p:sp>
        <p:nvSpPr>
          <p:cNvPr id="5" name="Text 3"/>
          <p:cNvSpPr/>
          <p:nvPr/>
        </p:nvSpPr>
        <p:spPr>
          <a:xfrm>
            <a:off x="660383" y="2416294"/>
            <a:ext cx="5720016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ko-KR" altLang="en-US" sz="1450" dirty="0">
                <a:solidFill>
                  <a:srgbClr val="233D33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비대면 디지털 서비스에 익숙한 학생·교원의 신속 행정 요구와 다변화된 평가 지표로 본부 실무진의 피로도가 한계에 도달했습니다.</a:t>
            </a:r>
            <a:endParaRPr lang="ko-KR" sz="1450" dirty="0"/>
          </a:p>
        </p:txBody>
      </p:sp>
      <p:sp>
        <p:nvSpPr>
          <p:cNvPr id="6" name="Text 4"/>
          <p:cNvSpPr/>
          <p:nvPr/>
        </p:nvSpPr>
        <p:spPr>
          <a:xfrm>
            <a:off x="660383" y="3375025"/>
            <a:ext cx="5720016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700" dirty="0">
                <a:solidFill>
                  <a:srgbClr val="542F65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분절된 사일로화에 따른 비용 누수</a:t>
            </a:r>
            <a:endParaRPr lang="ko-KR" sz="1700" dirty="0"/>
          </a:p>
        </p:txBody>
      </p:sp>
      <p:sp>
        <p:nvSpPr>
          <p:cNvPr id="7" name="Text 5"/>
          <p:cNvSpPr/>
          <p:nvPr/>
        </p:nvSpPr>
        <p:spPr>
          <a:xfrm>
            <a:off x="660383" y="3782139"/>
            <a:ext cx="5720016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ko-KR" altLang="en-US" sz="1450" dirty="0">
                <a:solidFill>
                  <a:srgbClr val="233D33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유사 서식 중복 요구 및 부서 간 칸막이식 검토 절차로 학내 민원 처리 기간이 지연되며 자원 낭비가 지속되고 있습니다.</a:t>
            </a:r>
            <a:endParaRPr lang="ko-KR" sz="1450" dirty="0"/>
          </a:p>
        </p:txBody>
      </p:sp>
      <p:sp>
        <p:nvSpPr>
          <p:cNvPr id="8" name="Text 6"/>
          <p:cNvSpPr/>
          <p:nvPr/>
        </p:nvSpPr>
        <p:spPr>
          <a:xfrm>
            <a:off x="660383" y="4740870"/>
            <a:ext cx="5720016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700" dirty="0">
                <a:solidFill>
                  <a:srgbClr val="542F65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의사결정 승인 및 추진 예산 확보</a:t>
            </a:r>
            <a:endParaRPr lang="ko-KR" sz="1700" dirty="0"/>
          </a:p>
        </p:txBody>
      </p:sp>
      <p:sp>
        <p:nvSpPr>
          <p:cNvPr id="9" name="Text 7"/>
          <p:cNvSpPr/>
          <p:nvPr/>
        </p:nvSpPr>
        <p:spPr>
          <a:xfrm>
            <a:off x="660383" y="5147985"/>
            <a:ext cx="5720016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ko-KR" altLang="en-US" sz="1450" dirty="0">
                <a:solidFill>
                  <a:srgbClr val="233D33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현장 행정 체질 개선을 위한 3개년 개편안 승인과 선도 통합 시스템 구축을 위한 전략 예산 배정이 필수적입니다.</a:t>
            </a:r>
            <a:endParaRPr lang="ko-KR" sz="1450" dirty="0"/>
          </a:p>
        </p:txBody>
      </p:sp>
      <p:sp>
        <p:nvSpPr>
          <p:cNvPr id="10" name="Shape 8"/>
          <p:cNvSpPr/>
          <p:nvPr/>
        </p:nvSpPr>
        <p:spPr>
          <a:xfrm>
            <a:off x="8158256" y="660400"/>
            <a:ext cx="3373055" cy="1897360"/>
          </a:xfrm>
          <a:prstGeom prst="rect">
            <a:avLst/>
          </a:prstGeom>
          <a:noFill/>
          <a:ln/>
          <a:effectLst>
            <a:outerShdw sx="100000" sy="100000" kx="0" ky="0" algn="bl" rotWithShape="0" blurRad="36830" dist="5080" dir="5400000">
              <a:srgbClr val="233d33">
                <a:alpha val="10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8256" y="660400"/>
            <a:ext cx="3373055" cy="18973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158256" y="2798266"/>
            <a:ext cx="337305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1250" spc="12" kern="100" dirty="0">
                <a:solidFill>
                  <a:srgbClr val="506447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본부 현안 심의 회의 구성. 실무 혁신 및 거버넌스 통합 모델.</a:t>
            </a:r>
            <a:endParaRPr lang="ko-KR" sz="1250" dirty="0"/>
          </a:p>
        </p:txBody>
      </p:sp>
      <p:sp>
        <p:nvSpPr>
          <p:cNvPr id="13" name="Shape 10"/>
          <p:cNvSpPr/>
          <p:nvPr/>
        </p:nvSpPr>
        <p:spPr>
          <a:xfrm>
            <a:off x="660383" y="3137694"/>
            <a:ext cx="5720016" cy="12700"/>
          </a:xfrm>
          <a:prstGeom prst="rect">
            <a:avLst/>
          </a:prstGeom>
          <a:solidFill>
            <a:srgbClr val="458364"/>
          </a:solidFill>
          <a:ln/>
        </p:spPr>
      </p:sp>
      <p:sp>
        <p:nvSpPr>
          <p:cNvPr id="14" name="Shape 11"/>
          <p:cNvSpPr/>
          <p:nvPr/>
        </p:nvSpPr>
        <p:spPr>
          <a:xfrm>
            <a:off x="660383" y="4503539"/>
            <a:ext cx="5720016" cy="12700"/>
          </a:xfrm>
          <a:prstGeom prst="rect">
            <a:avLst/>
          </a:prstGeom>
          <a:solidFill>
            <a:srgbClr val="458364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736387"/>
            <a:ext cx="6111127" cy="1003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ko-KR" altLang="en-US" sz="3800" spc="-38" kern="100" dirty="0">
                <a:solidFill>
                  <a:srgbClr val="542F65"/>
                </a:solidFill>
                <a:latin typeface="Diphylleia" pitchFamily="34" charset="0"/>
                <a:ea typeface="Diphylleia" pitchFamily="34" charset="-122"/>
                <a:cs typeface="Diphylleia" pitchFamily="34" charset="0"/>
              </a:rPr>
              <a:t>만족도 분석: 불편은 절차에 집중된다</a:t>
            </a:r>
            <a:endParaRPr lang="ko-KR" sz="3800" dirty="0"/>
          </a:p>
        </p:txBody>
      </p:sp>
      <p:sp>
        <p:nvSpPr>
          <p:cNvPr id="3" name="Text 1"/>
          <p:cNvSpPr/>
          <p:nvPr/>
        </p:nvSpPr>
        <p:spPr>
          <a:xfrm>
            <a:off x="660383" y="1895078"/>
            <a:ext cx="672071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1250" spc="125" kern="100" dirty="0">
                <a:solidFill>
                  <a:srgbClr val="506447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구성원 행정 만족도 조사 결과 요약</a:t>
            </a:r>
            <a:endParaRPr lang="ko-KR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2280047"/>
            <a:ext cx="6111127" cy="33673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0383" y="5745063"/>
            <a:ext cx="611112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1250" spc="12" kern="100" dirty="0">
                <a:solidFill>
                  <a:srgbClr val="506447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학내 구성원(학생·교원·직원) 종합 만족도 조사 분석 결과. 절차·안내 영역이 최저 수준을 기록함.</a:t>
            </a:r>
            <a:endParaRPr lang="ko-KR" sz="1250" dirty="0"/>
          </a:p>
        </p:txBody>
      </p:sp>
      <p:sp>
        <p:nvSpPr>
          <p:cNvPr id="6" name="Text 3"/>
          <p:cNvSpPr/>
          <p:nvPr/>
        </p:nvSpPr>
        <p:spPr>
          <a:xfrm>
            <a:off x="8549367" y="1396216"/>
            <a:ext cx="2981945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ko-KR" altLang="en-US" sz="5600" spc="-56" kern="100" dirty="0">
                <a:solidFill>
                  <a:srgbClr val="542F65"/>
                </a:solidFill>
                <a:latin typeface="Diphylleia" pitchFamily="34" charset="0"/>
                <a:ea typeface="Diphylleia" pitchFamily="34" charset="-122"/>
                <a:cs typeface="Diphylleia" pitchFamily="34" charset="0"/>
              </a:rPr>
              <a:t>38.2점</a:t>
            </a:r>
            <a:endParaRPr lang="ko-KR" sz="5600" dirty="0"/>
          </a:p>
        </p:txBody>
      </p:sp>
      <p:sp>
        <p:nvSpPr>
          <p:cNvPr id="7" name="Text 4"/>
          <p:cNvSpPr/>
          <p:nvPr/>
        </p:nvSpPr>
        <p:spPr>
          <a:xfrm>
            <a:off x="8549367" y="2211388"/>
            <a:ext cx="2981945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ko-KR" altLang="en-US" sz="1700" dirty="0">
                <a:solidFill>
                  <a:srgbClr val="233D33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담당자 친절도는 양호하나, 복잡한 신청 절차와 제출 서식 중복 항목에서 전 계층 불만이 집중되었습니다.</a:t>
            </a:r>
            <a:endParaRPr lang="ko-KR" sz="1700" dirty="0"/>
          </a:p>
        </p:txBody>
      </p:sp>
      <p:sp>
        <p:nvSpPr>
          <p:cNvPr id="8" name="Text 5"/>
          <p:cNvSpPr/>
          <p:nvPr/>
        </p:nvSpPr>
        <p:spPr>
          <a:xfrm>
            <a:off x="8549367" y="3677444"/>
            <a:ext cx="2981945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ko-KR" altLang="en-US" sz="1450" dirty="0">
                <a:solidFill>
                  <a:srgbClr val="233D33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학생은 서류 실물 제출에, 교원은 연구비 정산 지연에 가장 낮은 점수를 부여해 </a:t>
            </a:r>
            <a:pPr algn="l" indent="0" marL="0">
              <a:lnSpc>
                <a:spcPct val="125000"/>
              </a:lnSpc>
              <a:buNone/>
            </a:pPr>
            <a:r>
              <a:rPr lang="ko-KR" altLang="en-US" sz="1450" b="1" dirty="0">
                <a:solidFill>
                  <a:srgbClr val="233D33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0"/>
              </a:rPr>
              <a:t>절차 간소화</a:t>
            </a:r>
            <a:pPr algn="l" indent="0" marL="0">
              <a:lnSpc>
                <a:spcPct val="125000"/>
              </a:lnSpc>
              <a:buNone/>
            </a:pPr>
            <a:r>
              <a:rPr lang="ko-KR" altLang="en-US" sz="1450" dirty="0">
                <a:solidFill>
                  <a:srgbClr val="233D33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가 시급함을 입증합니다.</a:t>
            </a:r>
            <a:endParaRPr lang="ko-KR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736387"/>
            <a:ext cx="10870928" cy="501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ko-KR" altLang="en-US" sz="3800" spc="-38" kern="100" dirty="0">
                <a:solidFill>
                  <a:srgbClr val="542F65"/>
                </a:solidFill>
                <a:latin typeface="Diphylleia" pitchFamily="34" charset="0"/>
                <a:ea typeface="Diphylleia" pitchFamily="34" charset="-122"/>
                <a:cs typeface="Diphylleia" pitchFamily="34" charset="0"/>
              </a:rPr>
              <a:t>핵심 원인은 분절된 행정 프로세스</a:t>
            </a:r>
            <a:endParaRPr lang="ko-KR" sz="3800" dirty="0"/>
          </a:p>
        </p:txBody>
      </p:sp>
      <p:sp>
        <p:nvSpPr>
          <p:cNvPr id="3" name="Text 1"/>
          <p:cNvSpPr/>
          <p:nvPr/>
        </p:nvSpPr>
        <p:spPr>
          <a:xfrm>
            <a:off x="660383" y="1393230"/>
            <a:ext cx="11480513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1250" spc="125" kern="100" dirty="0">
                <a:solidFill>
                  <a:srgbClr val="506447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구조적 결함 진단</a:t>
            </a:r>
            <a:endParaRPr lang="ko-KR" sz="1250" dirty="0"/>
          </a:p>
        </p:txBody>
      </p:sp>
      <p:sp>
        <p:nvSpPr>
          <p:cNvPr id="4" name="Text 2"/>
          <p:cNvSpPr/>
          <p:nvPr/>
        </p:nvSpPr>
        <p:spPr>
          <a:xfrm>
            <a:off x="660383" y="1863140"/>
            <a:ext cx="3394982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ko-KR" altLang="en-US" sz="5600" spc="-56" kern="100" dirty="0">
                <a:solidFill>
                  <a:srgbClr val="542F65"/>
                </a:solidFill>
                <a:latin typeface="Diphylleia" pitchFamily="34" charset="0"/>
                <a:ea typeface="Diphylleia" pitchFamily="34" charset="-122"/>
                <a:cs typeface="Diphylleia" pitchFamily="34" charset="0"/>
              </a:rPr>
              <a:t>사일로화</a:t>
            </a:r>
            <a:endParaRPr lang="ko-KR" sz="5600" dirty="0"/>
          </a:p>
        </p:txBody>
      </p:sp>
      <p:sp>
        <p:nvSpPr>
          <p:cNvPr id="5" name="Text 3"/>
          <p:cNvSpPr/>
          <p:nvPr/>
        </p:nvSpPr>
        <p:spPr>
          <a:xfrm>
            <a:off x="660383" y="2605286"/>
            <a:ext cx="3394982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000" dirty="0">
                <a:solidFill>
                  <a:srgbClr val="542F65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부서 간 서류 중복 요구</a:t>
            </a:r>
            <a:endParaRPr lang="ko-KR" sz="2000" dirty="0"/>
          </a:p>
        </p:txBody>
      </p:sp>
      <p:sp>
        <p:nvSpPr>
          <p:cNvPr id="6" name="Text 4"/>
          <p:cNvSpPr/>
          <p:nvPr/>
        </p:nvSpPr>
        <p:spPr>
          <a:xfrm>
            <a:off x="660383" y="3063280"/>
            <a:ext cx="3623577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1250" spc="125" kern="100" dirty="0">
                <a:solidFill>
                  <a:srgbClr val="506447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원인 진단</a:t>
            </a:r>
            <a:endParaRPr lang="ko-KR" sz="1250" dirty="0"/>
          </a:p>
        </p:txBody>
      </p:sp>
      <p:sp>
        <p:nvSpPr>
          <p:cNvPr id="7" name="Text 5"/>
          <p:cNvSpPr/>
          <p:nvPr/>
        </p:nvSpPr>
        <p:spPr>
          <a:xfrm>
            <a:off x="660383" y="3391019"/>
            <a:ext cx="3394982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ko-KR" altLang="en-US" sz="1450" dirty="0">
                <a:solidFill>
                  <a:srgbClr val="233D33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학적·장학·연구 부서 간 전산 데이터가 연계되지 않아 기본 인적 사항 증빙을 매번 반복 제출합니다.</a:t>
            </a:r>
            <a:endParaRPr lang="ko-KR" sz="1450" dirty="0"/>
          </a:p>
        </p:txBody>
      </p:sp>
      <p:sp>
        <p:nvSpPr>
          <p:cNvPr id="8" name="Text 6"/>
          <p:cNvSpPr/>
          <p:nvPr/>
        </p:nvSpPr>
        <p:spPr>
          <a:xfrm>
            <a:off x="660383" y="4324648"/>
            <a:ext cx="3623577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1250" spc="125" kern="100" dirty="0">
                <a:solidFill>
                  <a:srgbClr val="506447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결과 영향</a:t>
            </a:r>
            <a:endParaRPr lang="ko-KR" sz="1250" dirty="0"/>
          </a:p>
        </p:txBody>
      </p:sp>
      <p:sp>
        <p:nvSpPr>
          <p:cNvPr id="9" name="Text 7"/>
          <p:cNvSpPr/>
          <p:nvPr/>
        </p:nvSpPr>
        <p:spPr>
          <a:xfrm>
            <a:off x="660383" y="4652387"/>
            <a:ext cx="3394982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ko-KR" altLang="en-US" sz="1450" dirty="0">
                <a:solidFill>
                  <a:srgbClr val="233D33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신청자 업무 가중 및 단순 확인 작업으로 실무 처리 시간이 평균 [3~5일] 지연됩니다.</a:t>
            </a:r>
            <a:endParaRPr lang="ko-KR" sz="1450" dirty="0"/>
          </a:p>
        </p:txBody>
      </p:sp>
      <p:sp>
        <p:nvSpPr>
          <p:cNvPr id="10" name="Text 8"/>
          <p:cNvSpPr/>
          <p:nvPr/>
        </p:nvSpPr>
        <p:spPr>
          <a:xfrm>
            <a:off x="4512554" y="1863140"/>
            <a:ext cx="3166487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ko-KR" altLang="en-US" sz="5600" spc="-56" kern="100" dirty="0">
                <a:solidFill>
                  <a:srgbClr val="542F65"/>
                </a:solidFill>
                <a:latin typeface="Diphylleia" pitchFamily="34" charset="0"/>
                <a:ea typeface="Diphylleia" pitchFamily="34" charset="-122"/>
                <a:cs typeface="Diphylleia" pitchFamily="34" charset="0"/>
              </a:rPr>
              <a:t>불투명성</a:t>
            </a:r>
            <a:endParaRPr lang="ko-KR" sz="5600" dirty="0"/>
          </a:p>
        </p:txBody>
      </p:sp>
      <p:sp>
        <p:nvSpPr>
          <p:cNvPr id="11" name="Text 9"/>
          <p:cNvSpPr/>
          <p:nvPr/>
        </p:nvSpPr>
        <p:spPr>
          <a:xfrm>
            <a:off x="4512554" y="2605286"/>
            <a:ext cx="3166487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000" dirty="0">
                <a:solidFill>
                  <a:srgbClr val="542F65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처리 현황 파악 불가</a:t>
            </a:r>
            <a:endParaRPr lang="ko-KR" sz="2000" dirty="0"/>
          </a:p>
        </p:txBody>
      </p:sp>
      <p:sp>
        <p:nvSpPr>
          <p:cNvPr id="12" name="Text 10"/>
          <p:cNvSpPr/>
          <p:nvPr/>
        </p:nvSpPr>
        <p:spPr>
          <a:xfrm>
            <a:off x="4512554" y="3063280"/>
            <a:ext cx="3395081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1250" spc="125" kern="100" dirty="0">
                <a:solidFill>
                  <a:srgbClr val="506447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원인 진단</a:t>
            </a:r>
            <a:endParaRPr lang="ko-KR" sz="1250" dirty="0"/>
          </a:p>
        </p:txBody>
      </p:sp>
      <p:sp>
        <p:nvSpPr>
          <p:cNvPr id="13" name="Text 11"/>
          <p:cNvSpPr/>
          <p:nvPr/>
        </p:nvSpPr>
        <p:spPr>
          <a:xfrm>
            <a:off x="4512554" y="3391019"/>
            <a:ext cx="3166487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ko-KR" altLang="en-US" sz="1450" dirty="0">
                <a:solidFill>
                  <a:srgbClr val="233D33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신청서가 결재선 어느 단계에 머물러 있는지 신청자가 조회할 수 없는 폐쇄형 처리 구조입니다.</a:t>
            </a:r>
            <a:endParaRPr lang="ko-KR" sz="1450" dirty="0"/>
          </a:p>
        </p:txBody>
      </p:sp>
      <p:sp>
        <p:nvSpPr>
          <p:cNvPr id="14" name="Text 12"/>
          <p:cNvSpPr/>
          <p:nvPr/>
        </p:nvSpPr>
        <p:spPr>
          <a:xfrm>
            <a:off x="4512554" y="4324648"/>
            <a:ext cx="3395081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1250" spc="125" kern="100" dirty="0">
                <a:solidFill>
                  <a:srgbClr val="506447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결과 영향</a:t>
            </a:r>
            <a:endParaRPr lang="ko-KR" sz="1250" dirty="0"/>
          </a:p>
        </p:txBody>
      </p:sp>
      <p:sp>
        <p:nvSpPr>
          <p:cNvPr id="15" name="Text 13"/>
          <p:cNvSpPr/>
          <p:nvPr/>
        </p:nvSpPr>
        <p:spPr>
          <a:xfrm>
            <a:off x="4512554" y="4652387"/>
            <a:ext cx="3166487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ko-KR" altLang="en-US" sz="1450" dirty="0">
                <a:solidFill>
                  <a:srgbClr val="233D33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진행 문의를 위한 반복적 유선 연락이 발생하여 양측 모두의 생산성이 저하됩니다.</a:t>
            </a:r>
            <a:endParaRPr lang="ko-KR" sz="1450" dirty="0"/>
          </a:p>
        </p:txBody>
      </p:sp>
      <p:sp>
        <p:nvSpPr>
          <p:cNvPr id="16" name="Text 14"/>
          <p:cNvSpPr/>
          <p:nvPr/>
        </p:nvSpPr>
        <p:spPr>
          <a:xfrm>
            <a:off x="8136230" y="1863140"/>
            <a:ext cx="3394982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ko-KR" altLang="en-US" sz="5600" spc="-56" kern="100" dirty="0">
                <a:solidFill>
                  <a:srgbClr val="542F65"/>
                </a:solidFill>
                <a:latin typeface="Diphylleia" pitchFamily="34" charset="0"/>
                <a:ea typeface="Diphylleia" pitchFamily="34" charset="-122"/>
                <a:cs typeface="Diphylleia" pitchFamily="34" charset="0"/>
              </a:rPr>
              <a:t>파편화</a:t>
            </a:r>
            <a:endParaRPr lang="ko-KR" sz="5600" dirty="0"/>
          </a:p>
        </p:txBody>
      </p:sp>
      <p:sp>
        <p:nvSpPr>
          <p:cNvPr id="17" name="Text 15"/>
          <p:cNvSpPr/>
          <p:nvPr/>
        </p:nvSpPr>
        <p:spPr>
          <a:xfrm>
            <a:off x="8136230" y="2605286"/>
            <a:ext cx="3394982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000" dirty="0">
                <a:solidFill>
                  <a:srgbClr val="542F65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기준 미비와 안내 혼선</a:t>
            </a:r>
            <a:endParaRPr lang="ko-KR" sz="2000" dirty="0"/>
          </a:p>
        </p:txBody>
      </p:sp>
      <p:sp>
        <p:nvSpPr>
          <p:cNvPr id="18" name="Text 16"/>
          <p:cNvSpPr/>
          <p:nvPr/>
        </p:nvSpPr>
        <p:spPr>
          <a:xfrm>
            <a:off x="8136230" y="3063280"/>
            <a:ext cx="339498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1250" spc="125" kern="100" dirty="0">
                <a:solidFill>
                  <a:srgbClr val="506447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원인 진단</a:t>
            </a:r>
            <a:endParaRPr lang="ko-KR" sz="1250" dirty="0"/>
          </a:p>
        </p:txBody>
      </p:sp>
      <p:sp>
        <p:nvSpPr>
          <p:cNvPr id="19" name="Text 17"/>
          <p:cNvSpPr/>
          <p:nvPr/>
        </p:nvSpPr>
        <p:spPr>
          <a:xfrm>
            <a:off x="8136230" y="3391019"/>
            <a:ext cx="3394982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ko-KR" altLang="en-US" sz="1450" dirty="0">
                <a:solidFill>
                  <a:srgbClr val="233D33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부서 홈페이지마다 공지 기준이 상이하고 전담 민원 가이드라인이 표준화되어 있지 않습니다.</a:t>
            </a:r>
            <a:endParaRPr lang="ko-KR" sz="1450" dirty="0"/>
          </a:p>
        </p:txBody>
      </p:sp>
      <p:sp>
        <p:nvSpPr>
          <p:cNvPr id="20" name="Text 18"/>
          <p:cNvSpPr/>
          <p:nvPr/>
        </p:nvSpPr>
        <p:spPr>
          <a:xfrm>
            <a:off x="8136230" y="4324648"/>
            <a:ext cx="339498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1250" spc="125" kern="100" dirty="0">
                <a:solidFill>
                  <a:srgbClr val="506447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결과 영향</a:t>
            </a:r>
            <a:endParaRPr lang="ko-KR" sz="1250" dirty="0"/>
          </a:p>
        </p:txBody>
      </p:sp>
      <p:sp>
        <p:nvSpPr>
          <p:cNvPr id="21" name="Text 19"/>
          <p:cNvSpPr/>
          <p:nvPr/>
        </p:nvSpPr>
        <p:spPr>
          <a:xfrm>
            <a:off x="8136230" y="4652387"/>
            <a:ext cx="3394982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ko-KR" altLang="en-US" sz="1450" dirty="0">
                <a:solidFill>
                  <a:srgbClr val="233D33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정확한 소관 부서를 찾지 못하는 핑퐁 현상으로 초기 민원 응대 만족도가 급락합니다.</a:t>
            </a:r>
            <a:endParaRPr lang="ko-KR" sz="1450" dirty="0"/>
          </a:p>
        </p:txBody>
      </p:sp>
      <p:sp>
        <p:nvSpPr>
          <p:cNvPr id="22" name="Shape 20"/>
          <p:cNvSpPr/>
          <p:nvPr/>
        </p:nvSpPr>
        <p:spPr>
          <a:xfrm>
            <a:off x="4277610" y="1736923"/>
            <a:ext cx="12700" cy="3707011"/>
          </a:xfrm>
          <a:prstGeom prst="rect">
            <a:avLst/>
          </a:prstGeom>
          <a:solidFill>
            <a:srgbClr val="458364"/>
          </a:solidFill>
          <a:ln/>
        </p:spPr>
      </p:sp>
      <p:sp>
        <p:nvSpPr>
          <p:cNvPr id="23" name="Shape 21"/>
          <p:cNvSpPr/>
          <p:nvPr/>
        </p:nvSpPr>
        <p:spPr>
          <a:xfrm>
            <a:off x="7901286" y="1736923"/>
            <a:ext cx="12700" cy="3707011"/>
          </a:xfrm>
          <a:prstGeom prst="rect">
            <a:avLst/>
          </a:prstGeom>
          <a:solidFill>
            <a:srgbClr val="458364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736387"/>
            <a:ext cx="10870928" cy="501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ko-KR" altLang="en-US" sz="3800" spc="-38" kern="100" dirty="0">
                <a:solidFill>
                  <a:srgbClr val="542F65"/>
                </a:solidFill>
                <a:latin typeface="Diphylleia" pitchFamily="34" charset="0"/>
                <a:ea typeface="Diphylleia" pitchFamily="34" charset="-122"/>
                <a:cs typeface="Diphylleia" pitchFamily="34" charset="0"/>
              </a:rPr>
              <a:t>정책 개선: 세 가지 우선 과제</a:t>
            </a:r>
            <a:endParaRPr lang="ko-KR" sz="3800" dirty="0"/>
          </a:p>
        </p:txBody>
      </p:sp>
      <p:sp>
        <p:nvSpPr>
          <p:cNvPr id="3" name="Text 1"/>
          <p:cNvSpPr/>
          <p:nvPr/>
        </p:nvSpPr>
        <p:spPr>
          <a:xfrm>
            <a:off x="660383" y="1393230"/>
            <a:ext cx="11480513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1250" spc="125" kern="100" dirty="0">
                <a:solidFill>
                  <a:srgbClr val="506447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즉각 착수 행정 혁신 방향</a:t>
            </a:r>
            <a:endParaRPr lang="ko-KR" sz="1250" dirty="0"/>
          </a:p>
        </p:txBody>
      </p:sp>
      <p:sp>
        <p:nvSpPr>
          <p:cNvPr id="4" name="Shape 2"/>
          <p:cNvSpPr/>
          <p:nvPr/>
        </p:nvSpPr>
        <p:spPr>
          <a:xfrm>
            <a:off x="660383" y="1762323"/>
            <a:ext cx="3318784" cy="662285"/>
          </a:xfrm>
          <a:prstGeom prst="roundRect">
            <a:avLst>
              <a:gd name="adj" fmla="val 49999"/>
            </a:avLst>
          </a:prstGeom>
          <a:solidFill>
            <a:srgbClr val="E1EACE"/>
          </a:solidFill>
          <a:ln w="12700">
            <a:solidFill>
              <a:srgbClr val="C7D0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66764" y="1953935"/>
            <a:ext cx="131560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ko-KR" altLang="en-US" sz="1700" dirty="0">
                <a:solidFill>
                  <a:srgbClr val="233D33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과제 01</a:t>
            </a:r>
            <a:endParaRPr lang="ko-KR" sz="1700" dirty="0"/>
          </a:p>
        </p:txBody>
      </p:sp>
      <p:sp>
        <p:nvSpPr>
          <p:cNvPr id="6" name="Text 4"/>
          <p:cNvSpPr/>
          <p:nvPr/>
        </p:nvSpPr>
        <p:spPr>
          <a:xfrm>
            <a:off x="876278" y="2540496"/>
            <a:ext cx="2886995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000" dirty="0">
                <a:solidFill>
                  <a:srgbClr val="542F65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절차 간소화 및 서류 축소</a:t>
            </a:r>
            <a:endParaRPr lang="ko-KR" sz="2000" dirty="0"/>
          </a:p>
        </p:txBody>
      </p:sp>
      <p:sp>
        <p:nvSpPr>
          <p:cNvPr id="7" name="Text 5"/>
          <p:cNvSpPr/>
          <p:nvPr/>
        </p:nvSpPr>
        <p:spPr>
          <a:xfrm>
            <a:off x="876278" y="2990552"/>
            <a:ext cx="2886995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ko-KR" altLang="en-US" sz="1450" dirty="0">
                <a:solidFill>
                  <a:srgbClr val="233D33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학내 데이터 공유 기반을 마련하여 가족관계증명서 등 외부 발급 서류 외 대학 보유 자료는 '제출 생략'으로 전환합니다. 실물 서명 대신 전자 확인 방식을 도입합니다.</a:t>
            </a:r>
            <a:endParaRPr lang="ko-KR" sz="1450" dirty="0"/>
          </a:p>
        </p:txBody>
      </p:sp>
      <p:sp>
        <p:nvSpPr>
          <p:cNvPr id="8" name="Shape 6"/>
          <p:cNvSpPr/>
          <p:nvPr/>
        </p:nvSpPr>
        <p:spPr>
          <a:xfrm>
            <a:off x="4436356" y="1762323"/>
            <a:ext cx="3318883" cy="662285"/>
          </a:xfrm>
          <a:prstGeom prst="roundRect">
            <a:avLst>
              <a:gd name="adj" fmla="val 49999"/>
            </a:avLst>
          </a:prstGeom>
          <a:solidFill>
            <a:srgbClr val="E1EACE"/>
          </a:solidFill>
          <a:ln w="12700">
            <a:solidFill>
              <a:srgbClr val="C7D0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33410" y="1953935"/>
            <a:ext cx="133436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ko-KR" altLang="en-US" sz="1700" dirty="0">
                <a:solidFill>
                  <a:srgbClr val="233D33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과제 02</a:t>
            </a:r>
            <a:endParaRPr lang="ko-KR" sz="1700" dirty="0"/>
          </a:p>
        </p:txBody>
      </p:sp>
      <p:sp>
        <p:nvSpPr>
          <p:cNvPr id="10" name="Text 8"/>
          <p:cNvSpPr/>
          <p:nvPr/>
        </p:nvSpPr>
        <p:spPr>
          <a:xfrm>
            <a:off x="4652251" y="2540496"/>
            <a:ext cx="288709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000" dirty="0">
                <a:solidFill>
                  <a:srgbClr val="542F65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처리 기한 표준 서비스(SLA)</a:t>
            </a:r>
            <a:endParaRPr lang="ko-KR" sz="2000" dirty="0"/>
          </a:p>
        </p:txBody>
      </p:sp>
      <p:sp>
        <p:nvSpPr>
          <p:cNvPr id="11" name="Text 9"/>
          <p:cNvSpPr/>
          <p:nvPr/>
        </p:nvSpPr>
        <p:spPr>
          <a:xfrm>
            <a:off x="4652251" y="3308052"/>
            <a:ext cx="2887094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ko-KR" altLang="en-US" sz="1450" dirty="0">
                <a:solidFill>
                  <a:srgbClr val="233D33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모든 민원·행정 신청 건에 '표준 처리 기한'을 규정화하고 알림톡 기반의 접수·심사·완료 상태 자동 통보 시스템을 의무화합니다.</a:t>
            </a:r>
            <a:endParaRPr lang="ko-KR" sz="1450" dirty="0"/>
          </a:p>
        </p:txBody>
      </p:sp>
      <p:sp>
        <p:nvSpPr>
          <p:cNvPr id="12" name="Shape 10"/>
          <p:cNvSpPr/>
          <p:nvPr/>
        </p:nvSpPr>
        <p:spPr>
          <a:xfrm>
            <a:off x="8212428" y="1762323"/>
            <a:ext cx="3318784" cy="662285"/>
          </a:xfrm>
          <a:prstGeom prst="roundRect">
            <a:avLst>
              <a:gd name="adj" fmla="val 49999"/>
            </a:avLst>
          </a:prstGeom>
          <a:solidFill>
            <a:srgbClr val="E1EACE"/>
          </a:solidFill>
          <a:ln w="12700">
            <a:solidFill>
              <a:srgbClr val="C7D0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482" y="1953935"/>
            <a:ext cx="1334161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ko-KR" altLang="en-US" sz="1700" dirty="0">
                <a:solidFill>
                  <a:srgbClr val="233D33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과제 03</a:t>
            </a:r>
            <a:endParaRPr lang="ko-KR" sz="1700" dirty="0"/>
          </a:p>
        </p:txBody>
      </p:sp>
      <p:sp>
        <p:nvSpPr>
          <p:cNvPr id="14" name="Text 12"/>
          <p:cNvSpPr/>
          <p:nvPr/>
        </p:nvSpPr>
        <p:spPr>
          <a:xfrm>
            <a:off x="8428323" y="2540496"/>
            <a:ext cx="2886995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000" dirty="0">
                <a:solidFill>
                  <a:srgbClr val="542F65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민원 응대 창구 일원화</a:t>
            </a:r>
            <a:endParaRPr lang="ko-KR" sz="2000" dirty="0"/>
          </a:p>
        </p:txBody>
      </p:sp>
      <p:sp>
        <p:nvSpPr>
          <p:cNvPr id="15" name="Text 13"/>
          <p:cNvSpPr/>
          <p:nvPr/>
        </p:nvSpPr>
        <p:spPr>
          <a:xfrm>
            <a:off x="8428323" y="2990552"/>
            <a:ext cx="2886995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ko-KR" altLang="en-US" sz="1450" dirty="0">
                <a:solidFill>
                  <a:srgbClr val="233D33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부서별 산발적 유선 전화를 원스톱 행정 콜센터 및 통합 챗봇으로 일원화하여 문의 초기 해결률을 대폭 제고하고 책임 배정을 명확히 합니다.</a:t>
            </a:r>
            <a:endParaRPr lang="ko-KR" sz="1450" dirty="0"/>
          </a:p>
        </p:txBody>
      </p:sp>
      <p:sp>
        <p:nvSpPr>
          <p:cNvPr id="16" name="Text 14"/>
          <p:cNvSpPr/>
          <p:nvPr/>
        </p:nvSpPr>
        <p:spPr>
          <a:xfrm>
            <a:off x="660383" y="5990431"/>
            <a:ext cx="1148051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1250" spc="12" kern="100" dirty="0">
                <a:solidFill>
                  <a:srgbClr val="506447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정책 개선 과제는 부서 간 합의 및 규정 개정을 거쳐 2026학년도 2학기부터 단계적 시행을 목표로 합니다.</a:t>
            </a:r>
            <a:endParaRPr lang="ko-KR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736387"/>
            <a:ext cx="10870928" cy="501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ko-KR" altLang="en-US" sz="3800" spc="-38" kern="100" dirty="0">
                <a:solidFill>
                  <a:srgbClr val="542F65"/>
                </a:solidFill>
                <a:latin typeface="Diphylleia" pitchFamily="34" charset="0"/>
                <a:ea typeface="Diphylleia" pitchFamily="34" charset="-122"/>
                <a:cs typeface="Diphylleia" pitchFamily="34" charset="0"/>
              </a:rPr>
              <a:t>디지털 행정화: 하나의 창구로 통합</a:t>
            </a:r>
            <a:endParaRPr lang="ko-KR" sz="3800" dirty="0"/>
          </a:p>
        </p:txBody>
      </p:sp>
      <p:sp>
        <p:nvSpPr>
          <p:cNvPr id="3" name="Text 1"/>
          <p:cNvSpPr/>
          <p:nvPr/>
        </p:nvSpPr>
        <p:spPr>
          <a:xfrm>
            <a:off x="660383" y="1393230"/>
            <a:ext cx="11480513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1250" spc="125" kern="100" dirty="0">
                <a:solidFill>
                  <a:srgbClr val="506447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차세대 스마트 행정 통합 아키텍처</a:t>
            </a:r>
            <a:endParaRPr lang="ko-KR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1787723"/>
            <a:ext cx="7224631" cy="4063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0383" y="5990431"/>
            <a:ext cx="1148051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1250" spc="12" kern="100" dirty="0">
                <a:solidFill>
                  <a:srgbClr val="506447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스마트 통합 포털 구축으로 증빙 서류 디지털화, 정형 업무 자동화, 데이터 기반 행정 분석이 하나의 체계로 순환됩니다.</a:t>
            </a:r>
            <a:endParaRPr lang="ko-KR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736387"/>
            <a:ext cx="10870928" cy="501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ko-KR" altLang="en-US" sz="3800" spc="-38" kern="100" dirty="0">
                <a:solidFill>
                  <a:srgbClr val="542F65"/>
                </a:solidFill>
                <a:latin typeface="Diphylleia" pitchFamily="34" charset="0"/>
                <a:ea typeface="Diphylleia" pitchFamily="34" charset="-122"/>
                <a:cs typeface="Diphylleia" pitchFamily="34" charset="0"/>
              </a:rPr>
              <a:t>실행 로드맵과 예산 요청</a:t>
            </a:r>
            <a:endParaRPr lang="ko-KR" sz="3800" dirty="0"/>
          </a:p>
        </p:txBody>
      </p:sp>
      <p:sp>
        <p:nvSpPr>
          <p:cNvPr id="3" name="Text 1"/>
          <p:cNvSpPr/>
          <p:nvPr/>
        </p:nvSpPr>
        <p:spPr>
          <a:xfrm>
            <a:off x="660383" y="1393230"/>
            <a:ext cx="11480513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1250" spc="125" kern="100" dirty="0">
                <a:solidFill>
                  <a:srgbClr val="506447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3단계 추진 일정 및 소요 재정 계획</a:t>
            </a:r>
            <a:endParaRPr lang="ko-KR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1736923"/>
            <a:ext cx="539736" cy="539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0383" y="2498130"/>
            <a:ext cx="3420382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700" dirty="0">
                <a:solidFill>
                  <a:srgbClr val="542F65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1단계: 진단 및 절차 정비</a:t>
            </a:r>
            <a:endParaRPr lang="ko-KR" sz="1700" dirty="0"/>
          </a:p>
        </p:txBody>
      </p:sp>
      <p:sp>
        <p:nvSpPr>
          <p:cNvPr id="6" name="Text 3"/>
          <p:cNvSpPr/>
          <p:nvPr/>
        </p:nvSpPr>
        <p:spPr>
          <a:xfrm>
            <a:off x="660383" y="2905244"/>
            <a:ext cx="3420382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ko-KR" altLang="en-US" sz="1450" b="1" dirty="0">
                <a:solidFill>
                  <a:srgbClr val="233D33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0"/>
              </a:rPr>
              <a:t>기간:</a:t>
            </a:r>
            <a:pPr algn="l" indent="0" marL="0">
              <a:lnSpc>
                <a:spcPct val="121000"/>
              </a:lnSpc>
              <a:buNone/>
            </a:pPr>
            <a:r>
              <a:rPr lang="ko-KR" altLang="en-US" sz="1450" dirty="0">
                <a:solidFill>
                  <a:srgbClr val="233D33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 [2026.04 ~ 08]</a:t>
            </a:r>
            <a:endParaRPr lang="ko-KR" sz="14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ko-KR" altLang="en-US" sz="1450" b="1" dirty="0">
                <a:solidFill>
                  <a:srgbClr val="233D33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0"/>
              </a:rPr>
              <a:t>소요:</a:t>
            </a:r>
            <a:pPr algn="l" indent="0" marL="0">
              <a:lnSpc>
                <a:spcPct val="121000"/>
              </a:lnSpc>
              <a:buNone/>
            </a:pPr>
            <a:r>
              <a:rPr lang="ko-KR" altLang="en-US" sz="1450" dirty="0">
                <a:solidFill>
                  <a:srgbClr val="233D33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 약 [1.5억 원]</a:t>
            </a:r>
            <a:endParaRPr lang="ko-KR" sz="14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ko-KR" altLang="en-US" sz="1450" dirty="0">
                <a:solidFill>
                  <a:srgbClr val="233D33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행정 프로세스 전수 진단, 불필요 서식 폐지, 부서 규정 개정 및 기한 표준화</a:t>
            </a:r>
            <a:endParaRPr lang="ko-KR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5557" y="1736923"/>
            <a:ext cx="539736" cy="539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85557" y="2498130"/>
            <a:ext cx="3420481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700" dirty="0">
                <a:solidFill>
                  <a:srgbClr val="542F65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2단계: 통합 시스템 구축</a:t>
            </a:r>
            <a:endParaRPr lang="ko-KR" sz="1700" dirty="0"/>
          </a:p>
        </p:txBody>
      </p:sp>
      <p:sp>
        <p:nvSpPr>
          <p:cNvPr id="9" name="Text 5"/>
          <p:cNvSpPr/>
          <p:nvPr/>
        </p:nvSpPr>
        <p:spPr>
          <a:xfrm>
            <a:off x="4385557" y="2905244"/>
            <a:ext cx="3420481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ko-KR" altLang="en-US" sz="1450" b="1" dirty="0">
                <a:solidFill>
                  <a:srgbClr val="233D33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0"/>
              </a:rPr>
              <a:t>기간:</a:t>
            </a:r>
            <a:pPr algn="l" indent="0" marL="0">
              <a:lnSpc>
                <a:spcPct val="121000"/>
              </a:lnSpc>
              <a:buNone/>
            </a:pPr>
            <a:r>
              <a:rPr lang="ko-KR" altLang="en-US" sz="1450" dirty="0">
                <a:solidFill>
                  <a:srgbClr val="233D33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 [2026.09 ~ 2027.02]</a:t>
            </a:r>
            <a:endParaRPr lang="ko-KR" sz="14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ko-KR" altLang="en-US" sz="1450" b="1" dirty="0">
                <a:solidFill>
                  <a:srgbClr val="233D33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0"/>
              </a:rPr>
              <a:t>소요:</a:t>
            </a:r>
            <a:pPr algn="l" indent="0" marL="0">
              <a:lnSpc>
                <a:spcPct val="121000"/>
              </a:lnSpc>
              <a:buNone/>
            </a:pPr>
            <a:r>
              <a:rPr lang="ko-KR" altLang="en-US" sz="1450" dirty="0">
                <a:solidFill>
                  <a:srgbClr val="233D33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 약 [8.5억 원]</a:t>
            </a:r>
            <a:endParaRPr lang="ko-KR" sz="14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ko-KR" altLang="en-US" sz="1450" dirty="0">
                <a:solidFill>
                  <a:srgbClr val="233D33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단일 창구 포털 개발, 전자결재 연계, 모바일 원스톱 및 자동화 엔진 탑재</a:t>
            </a:r>
            <a:endParaRPr lang="ko-KR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831" y="1736923"/>
            <a:ext cx="539736" cy="539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10831" y="2498130"/>
            <a:ext cx="3420481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700" dirty="0">
                <a:solidFill>
                  <a:srgbClr val="542F65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3단계: 전사 확산 및 성과 평가</a:t>
            </a:r>
            <a:endParaRPr lang="ko-KR" sz="1700" dirty="0"/>
          </a:p>
        </p:txBody>
      </p:sp>
      <p:sp>
        <p:nvSpPr>
          <p:cNvPr id="12" name="Text 7"/>
          <p:cNvSpPr/>
          <p:nvPr/>
        </p:nvSpPr>
        <p:spPr>
          <a:xfrm>
            <a:off x="8110831" y="2905244"/>
            <a:ext cx="3420481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ko-KR" altLang="en-US" sz="1450" b="1" dirty="0">
                <a:solidFill>
                  <a:srgbClr val="233D33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0"/>
              </a:rPr>
              <a:t>기간:</a:t>
            </a:r>
            <a:pPr algn="l" indent="0" marL="0">
              <a:lnSpc>
                <a:spcPct val="121000"/>
              </a:lnSpc>
              <a:buNone/>
            </a:pPr>
            <a:r>
              <a:rPr lang="ko-KR" altLang="en-US" sz="1450" dirty="0">
                <a:solidFill>
                  <a:srgbClr val="233D33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 [2027.03 이후 지속]</a:t>
            </a:r>
            <a:endParaRPr lang="ko-KR" sz="14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ko-KR" altLang="en-US" sz="1450" b="1" dirty="0">
                <a:solidFill>
                  <a:srgbClr val="233D33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0"/>
              </a:rPr>
              <a:t>소요:</a:t>
            </a:r>
            <a:pPr algn="l" indent="0" marL="0">
              <a:lnSpc>
                <a:spcPct val="121000"/>
              </a:lnSpc>
              <a:buNone/>
            </a:pPr>
            <a:r>
              <a:rPr lang="ko-KR" altLang="en-US" sz="1450" dirty="0">
                <a:solidFill>
                  <a:srgbClr val="233D33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 연간 [1.2억 원]</a:t>
            </a:r>
            <a:endParaRPr lang="ko-KR" sz="14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ko-KR" altLang="en-US" sz="1450" dirty="0">
                <a:solidFill>
                  <a:srgbClr val="233D33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단과대·연구소 전면 안착, 상시 만족도 모니터링 체계 가동 및 기능 고도화</a:t>
            </a:r>
            <a:endParaRPr lang="ko-KR" sz="1450" dirty="0"/>
          </a:p>
        </p:txBody>
      </p:sp>
      <p:sp>
        <p:nvSpPr>
          <p:cNvPr id="13" name="Text 8"/>
          <p:cNvSpPr/>
          <p:nvPr/>
        </p:nvSpPr>
        <p:spPr>
          <a:xfrm>
            <a:off x="660383" y="4169370"/>
            <a:ext cx="1148051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1250" spc="12" kern="100" dirty="0">
                <a:solidFill>
                  <a:srgbClr val="506447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예산 항목: 시스템 개발비, 컨설팅 및 UI/UX 개편, 클라우드 인프라 운용비 (수치는 경영진 심의용 가산액이며 승인 후 확정).</a:t>
            </a:r>
            <a:endParaRPr lang="ko-KR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736387"/>
            <a:ext cx="5811394" cy="1003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ko-KR" altLang="en-US" sz="3800" spc="-38" kern="100" dirty="0">
                <a:solidFill>
                  <a:srgbClr val="542F65"/>
                </a:solidFill>
                <a:latin typeface="Diphylleia" pitchFamily="34" charset="0"/>
                <a:ea typeface="Diphylleia" pitchFamily="34" charset="-122"/>
                <a:cs typeface="Diphylleia" pitchFamily="34" charset="0"/>
              </a:rPr>
              <a:t>미래 방향: 구성원 중심의 스마트 대학 행정</a:t>
            </a:r>
            <a:endParaRPr lang="ko-KR" sz="3800" dirty="0"/>
          </a:p>
        </p:txBody>
      </p:sp>
      <p:sp>
        <p:nvSpPr>
          <p:cNvPr id="3" name="Text 1"/>
          <p:cNvSpPr/>
          <p:nvPr/>
        </p:nvSpPr>
        <p:spPr>
          <a:xfrm>
            <a:off x="660383" y="1895078"/>
            <a:ext cx="6420979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1250" spc="125" kern="100" dirty="0">
                <a:solidFill>
                  <a:srgbClr val="506447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지속 가능한 대학 경쟁력 완성</a:t>
            </a:r>
            <a:endParaRPr lang="ko-KR" sz="1250" dirty="0"/>
          </a:p>
        </p:txBody>
      </p:sp>
      <p:sp>
        <p:nvSpPr>
          <p:cNvPr id="4" name="Text 2"/>
          <p:cNvSpPr/>
          <p:nvPr/>
        </p:nvSpPr>
        <p:spPr>
          <a:xfrm>
            <a:off x="660383" y="2294334"/>
            <a:ext cx="5811394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ko-KR" altLang="en-US" sz="2000" dirty="0">
                <a:solidFill>
                  <a:srgbClr val="233D33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대학 행정 혁신은 단순한 전산화가 아니라, 연구와 학습에 전념할 스마트 학문 공동체의 기반입니다.</a:t>
            </a:r>
            <a:endParaRPr lang="ko-KR" sz="2000" dirty="0"/>
          </a:p>
        </p:txBody>
      </p:sp>
      <p:sp>
        <p:nvSpPr>
          <p:cNvPr id="5" name="Text 3"/>
          <p:cNvSpPr/>
          <p:nvPr/>
        </p:nvSpPr>
        <p:spPr>
          <a:xfrm>
            <a:off x="660383" y="3252708"/>
            <a:ext cx="5811394" cy="1878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ko-KR" altLang="en-US" sz="1700" b="1" dirty="0">
                <a:solidFill>
                  <a:srgbClr val="233D33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0"/>
              </a:rPr>
              <a:t>상시 만족도 모니터링 체계 정착</a:t>
            </a:r>
            <a:pPr algn="l" indent="0" marL="0">
              <a:lnSpc>
                <a:spcPct val="121000"/>
              </a:lnSpc>
              <a:buNone/>
            </a:pPr>
            <a:r>
              <a:rPr lang="ko-KR" altLang="en-US" sz="1700" dirty="0">
                <a:solidFill>
                  <a:srgbClr val="233D33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: 분기별 서비스 질 측정과 처리 병목 구간의 데이터 기반 실시간 피드백 운영. </a:t>
            </a:r>
            <a:pPr algn="l" indent="0" marL="0">
              <a:lnSpc>
                <a:spcPct val="121000"/>
              </a:lnSpc>
              <a:buNone/>
            </a:pPr>
            <a:r>
              <a:rPr lang="ko-KR" altLang="en-US" sz="1700" b="1" dirty="0">
                <a:solidFill>
                  <a:srgbClr val="233D33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0"/>
              </a:rPr>
              <a:t>연구·교육 몰입 환경 조성</a:t>
            </a:r>
            <a:pPr algn="l" indent="0" marL="0">
              <a:lnSpc>
                <a:spcPct val="121000"/>
              </a:lnSpc>
              <a:buNone/>
            </a:pPr>
            <a:r>
              <a:rPr lang="ko-KR" altLang="en-US" sz="1700" dirty="0">
                <a:solidFill>
                  <a:srgbClr val="233D33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: 교원 행정 부담 경감, 학생 학업·진로 지원 중심의 밀착 서비스로 재편. </a:t>
            </a:r>
            <a:pPr algn="l" indent="0" marL="0">
              <a:lnSpc>
                <a:spcPct val="121000"/>
              </a:lnSpc>
              <a:buNone/>
            </a:pPr>
            <a:r>
              <a:rPr lang="ko-KR" altLang="en-US" sz="1700" b="1" dirty="0">
                <a:solidFill>
                  <a:srgbClr val="233D33"/>
                </a:solidFill>
                <a:latin typeface="Noto Serif KR Bold" pitchFamily="34" charset="0"/>
                <a:ea typeface="Noto Serif KR Bold" pitchFamily="34" charset="-122"/>
                <a:cs typeface="Noto Serif KR Bold" pitchFamily="34" charset="0"/>
              </a:rPr>
              <a:t>최종 심의 및 추진 예산 승인 요청</a:t>
            </a:r>
            <a:pPr algn="l" indent="0" marL="0">
              <a:lnSpc>
                <a:spcPct val="121000"/>
              </a:lnSpc>
              <a:buNone/>
            </a:pPr>
            <a:r>
              <a:rPr lang="ko-KR" altLang="en-US" sz="1700" dirty="0">
                <a:solidFill>
                  <a:srgbClr val="233D33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: 대학 본부의 정책적 의결 및 선도 사업 예산 배정을 요청드립니다.</a:t>
            </a:r>
            <a:endParaRPr lang="ko-KR" sz="1700" dirty="0"/>
          </a:p>
        </p:txBody>
      </p:sp>
      <p:sp>
        <p:nvSpPr>
          <p:cNvPr id="6" name="Shape 4"/>
          <p:cNvSpPr/>
          <p:nvPr/>
        </p:nvSpPr>
        <p:spPr>
          <a:xfrm>
            <a:off x="8097238" y="660400"/>
            <a:ext cx="3434073" cy="1931690"/>
          </a:xfrm>
          <a:prstGeom prst="rect">
            <a:avLst/>
          </a:prstGeom>
          <a:noFill/>
          <a:ln/>
          <a:effectLst>
            <a:outerShdw sx="100000" sy="100000" kx="0" ky="0" algn="bl" rotWithShape="0" blurRad="36830" dist="5080" dir="5400000">
              <a:srgbClr val="233d33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7238" y="660400"/>
            <a:ext cx="3434073" cy="19316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97238" y="2689721"/>
            <a:ext cx="3434073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1250" spc="12" kern="100" dirty="0">
                <a:solidFill>
                  <a:srgbClr val="506447"/>
                </a:solidFill>
                <a:latin typeface="Noto Serif KR" pitchFamily="34" charset="0"/>
                <a:ea typeface="Noto Serif KR" pitchFamily="34" charset="-122"/>
                <a:cs typeface="Noto Serif KR" pitchFamily="34" charset="0"/>
              </a:rPr>
              <a:t>학문과 교육에 몰입하는 미래 지향적 스마트 캠퍼스 비전.</a:t>
            </a:r>
            <a:endParaRPr lang="ko-KR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2026-10-22T06:54:18Z</dcterms:created>
  <dcterms:modified xsi:type="dcterms:W3CDTF">2026-10-22T06:54:18Z</dcterms:modified>
</cp:coreProperties>
</file>