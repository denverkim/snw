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  <p:sldMasterId id="2147483803" r:id="rId2"/>
  </p:sldMasterIdLst>
  <p:notesMasterIdLst>
    <p:notesMasterId r:id="rId57"/>
  </p:notesMasterIdLst>
  <p:handoutMasterIdLst>
    <p:handoutMasterId r:id="rId58"/>
  </p:handoutMasterIdLst>
  <p:sldIdLst>
    <p:sldId id="257" r:id="rId3"/>
    <p:sldId id="2171" r:id="rId4"/>
    <p:sldId id="2172" r:id="rId5"/>
    <p:sldId id="1987" r:id="rId6"/>
    <p:sldId id="258" r:id="rId7"/>
    <p:sldId id="2160" r:id="rId8"/>
    <p:sldId id="481" r:id="rId9"/>
    <p:sldId id="2187" r:id="rId10"/>
    <p:sldId id="1996" r:id="rId11"/>
    <p:sldId id="2074" r:id="rId12"/>
    <p:sldId id="1852" r:id="rId13"/>
    <p:sldId id="2224" r:id="rId14"/>
    <p:sldId id="2078" r:id="rId15"/>
    <p:sldId id="2091" r:id="rId16"/>
    <p:sldId id="2079" r:id="rId17"/>
    <p:sldId id="2080" r:id="rId18"/>
    <p:sldId id="2083" r:id="rId19"/>
    <p:sldId id="2084" r:id="rId20"/>
    <p:sldId id="2085" r:id="rId21"/>
    <p:sldId id="2086" r:id="rId22"/>
    <p:sldId id="2087" r:id="rId23"/>
    <p:sldId id="1990" r:id="rId24"/>
    <p:sldId id="1858" r:id="rId25"/>
    <p:sldId id="1991" r:id="rId26"/>
    <p:sldId id="1866" r:id="rId27"/>
    <p:sldId id="1941" r:id="rId28"/>
    <p:sldId id="1937" r:id="rId29"/>
    <p:sldId id="2005" r:id="rId30"/>
    <p:sldId id="2006" r:id="rId31"/>
    <p:sldId id="1972" r:id="rId32"/>
    <p:sldId id="1992" r:id="rId33"/>
    <p:sldId id="1993" r:id="rId34"/>
    <p:sldId id="2007" r:id="rId35"/>
    <p:sldId id="1994" r:id="rId36"/>
    <p:sldId id="1995" r:id="rId37"/>
    <p:sldId id="2003" r:id="rId38"/>
    <p:sldId id="1998" r:id="rId39"/>
    <p:sldId id="2130" r:id="rId40"/>
    <p:sldId id="1968" r:id="rId41"/>
    <p:sldId id="2022" r:id="rId42"/>
    <p:sldId id="1851" r:id="rId43"/>
    <p:sldId id="2127" r:id="rId44"/>
    <p:sldId id="1999" r:id="rId45"/>
    <p:sldId id="2000" r:id="rId46"/>
    <p:sldId id="2001" r:id="rId47"/>
    <p:sldId id="1905" r:id="rId48"/>
    <p:sldId id="2002" r:id="rId49"/>
    <p:sldId id="1969" r:id="rId50"/>
    <p:sldId id="2225" r:id="rId51"/>
    <p:sldId id="2212" r:id="rId52"/>
    <p:sldId id="2213" r:id="rId53"/>
    <p:sldId id="2229" r:id="rId54"/>
    <p:sldId id="2228" r:id="rId55"/>
    <p:sldId id="2226" r:id="rId56"/>
  </p:sldIdLst>
  <p:sldSz cx="12192000" cy="6858000"/>
  <p:notesSz cx="6858000" cy="9144000"/>
  <p:embeddedFontLst>
    <p:embeddedFont>
      <p:font typeface="G마켓 산스 TTF Medium" panose="02000000000000000000" pitchFamily="2" charset="-127"/>
      <p:regular r:id="rId59"/>
    </p:embeddedFont>
    <p:embeddedFont>
      <p:font typeface="KoPub돋움체 Medium" panose="02020603020101020101" pitchFamily="18" charset="-127"/>
      <p:regular r:id="rId60"/>
    </p:embeddedFont>
    <p:embeddedFont>
      <p:font typeface="Poppins" panose="00000500000000000000" pitchFamily="2" charset="0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A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381" autoAdjust="0"/>
  </p:normalViewPr>
  <p:slideViewPr>
    <p:cSldViewPr snapToGrid="0">
      <p:cViewPr>
        <p:scale>
          <a:sx n="50" d="100"/>
          <a:sy n="50" d="100"/>
        </p:scale>
        <p:origin x="1373" y="202"/>
      </p:cViewPr>
      <p:guideLst/>
    </p:cSldViewPr>
  </p:slideViewPr>
  <p:outlineViewPr>
    <p:cViewPr>
      <p:scale>
        <a:sx n="33" d="100"/>
        <a:sy n="33" d="100"/>
      </p:scale>
      <p:origin x="0" y="-180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1790" y="6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font" Target="fonts/font3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2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D77AAA-E3E7-46F4-B095-D5AFF771327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05799C6-74C2-4189-A692-0E115CE5DC79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1: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기초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AEE6EBF-B9A4-4987-AB11-89D63D6F13F6}" type="parTrans" cxnId="{9C08CEB7-C9C6-44B5-A6B8-CD2CDC7F85BE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AF0EF32-0766-4385-9EF7-24B6187AA373}" type="sibTrans" cxnId="{9C08CEB7-C9C6-44B5-A6B8-CD2CDC7F85BE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42BF014-BE24-4050-BE8B-4A6AFBBFB8AB}">
      <dgm:prSet/>
      <dgm:spPr/>
      <dgm:t>
        <a:bodyPr/>
        <a:lstStyle/>
        <a:p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기초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LLM</a:t>
          </a:r>
          <a:r>
            <a:rPr lang="ko-KR" alt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원리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실습</a:t>
          </a:r>
          <a:endParaRPr lang="en-US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B0764BE-6617-42D0-A21E-35E348EB83FD}" type="parTrans" cxnId="{742E89B7-A226-48F1-8E38-4C0CB45820C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162AAD5-41CB-4041-919D-9E8BDADD2B80}" type="sibTrans" cxnId="{742E89B7-A226-48F1-8E38-4C0CB45820C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2C3C4E4-A41F-4D74-9E92-CA56602638D5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2: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기반 데이터 분석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8A065AF-A506-412F-A83D-3AC16745E0E3}" type="parTrans" cxnId="{5BEA914A-4DEB-44C3-B7D5-695586A15D5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A61A7BA-E589-49A6-A894-86802E6B5BB1}" type="sibTrans" cxnId="{5BEA914A-4DEB-44C3-B7D5-695586A15D5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657B317-40B5-4E30-9958-255270D0E66D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Pandas, Matplotlib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5B41C54-14CB-47F6-ACF4-C5AEE8AAAABF}" type="parTrans" cxnId="{FC84436C-F425-425A-B992-BF1B795563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D3001C7-17AA-410C-8766-F1AE96698700}" type="sibTrans" cxnId="{FC84436C-F425-425A-B992-BF1B795563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22920C1-4F8C-4B0E-98CF-5D03F988219F}">
      <dgm:prSet/>
      <dgm:spPr/>
      <dgm:t>
        <a:bodyPr/>
        <a:lstStyle/>
        <a:p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3: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활용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F503EB1-8462-4D32-BEF5-0AB1BE740E00}" type="parTrans" cxnId="{9022DA45-B9E8-46EB-872B-EE74A762B5C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83E0928-C44C-48B8-9099-5D2BD5CB9B8D}" type="sibTrans" cxnId="{9022DA45-B9E8-46EB-872B-EE74A762B5C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3D8C497-C62E-447B-8D43-9B282F6771BB}">
      <dgm:prSet/>
      <dgm:spPr/>
      <dgm:t>
        <a:bodyPr/>
        <a:lstStyle/>
        <a:p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도구 소개 및 활용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템플릿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직무별 활용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9DC8873-C22D-45AD-BF30-CB9B57DFF70A}" type="parTrans" cxnId="{3F5AFA53-DBAE-4BE6-BA33-83DB9576E68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64D3528-A8F7-4E47-9C9D-696924B4F574}" type="sibTrans" cxnId="{3F5AFA53-DBAE-4BE6-BA33-83DB9576E68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030B3C7-5FB0-46EC-A96B-1B29E75A3EB9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및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5ED8F3B-D4E0-4297-8788-74655278482F}" type="parTrans" cxnId="{4409AB95-6C34-4CA8-A1D3-6EDB94899B6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28A194B-5997-425F-9F8B-04996EAAB3E5}" type="sibTrans" cxnId="{4409AB95-6C34-4CA8-A1D3-6EDB94899B6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FEA164B-72BA-4105-9E2B-71E7F589E330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회의록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사업계획서 작성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28F1A9E-4BA3-41DE-83C3-D0B3010123B4}" type="parTrans" cxnId="{79F1A9E5-9C78-4A23-B704-F1775E150FB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9E7B28A-B861-4406-8F74-6713C3980F29}" type="sibTrans" cxnId="{79F1A9E5-9C78-4A23-B704-F1775E150FB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E536FEA-B5FF-403A-8CB8-207B0379C7AA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홍보영상 콘텐츠 설계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B025A2B-8958-4FC9-BB2E-744E0662E72F}" type="parTrans" cxnId="{B85AA45A-671D-4CB3-AC6A-AAD3A617FC1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51D5B10-7272-4FDF-B5C5-6D66920A8E3C}" type="sibTrans" cxnId="{B85AA45A-671D-4CB3-AC6A-AAD3A617FC1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09C81F0-7D13-4FD3-8367-8FE1BCC7B34B}" type="pres">
      <dgm:prSet presAssocID="{C8D77AAA-E3E7-46F4-B095-D5AFF7713273}" presName="linear" presStyleCnt="0">
        <dgm:presLayoutVars>
          <dgm:dir/>
          <dgm:animLvl val="lvl"/>
          <dgm:resizeHandles val="exact"/>
        </dgm:presLayoutVars>
      </dgm:prSet>
      <dgm:spPr/>
    </dgm:pt>
    <dgm:pt modelId="{1B3EEB0A-8008-44AF-9372-987DB616C938}" type="pres">
      <dgm:prSet presAssocID="{905799C6-74C2-4189-A692-0E115CE5DC79}" presName="parentLin" presStyleCnt="0"/>
      <dgm:spPr/>
    </dgm:pt>
    <dgm:pt modelId="{BFD4BF94-3C82-41EF-89B3-4A8B40944DB1}" type="pres">
      <dgm:prSet presAssocID="{905799C6-74C2-4189-A692-0E115CE5DC79}" presName="parentLeftMargin" presStyleLbl="node1" presStyleIdx="0" presStyleCnt="3"/>
      <dgm:spPr/>
    </dgm:pt>
    <dgm:pt modelId="{23F79F9E-B146-48B1-8E94-14C03EA3ED6A}" type="pres">
      <dgm:prSet presAssocID="{905799C6-74C2-4189-A692-0E115CE5DC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ED627C-AE2F-4A8A-A7AA-38E4E300D97A}" type="pres">
      <dgm:prSet presAssocID="{905799C6-74C2-4189-A692-0E115CE5DC79}" presName="negativeSpace" presStyleCnt="0"/>
      <dgm:spPr/>
    </dgm:pt>
    <dgm:pt modelId="{42563690-2F87-48EC-A560-20AC48D234AD}" type="pres">
      <dgm:prSet presAssocID="{905799C6-74C2-4189-A692-0E115CE5DC79}" presName="childText" presStyleLbl="conFgAcc1" presStyleIdx="0" presStyleCnt="3">
        <dgm:presLayoutVars>
          <dgm:bulletEnabled val="1"/>
        </dgm:presLayoutVars>
      </dgm:prSet>
      <dgm:spPr/>
    </dgm:pt>
    <dgm:pt modelId="{2569BA97-28ED-40D1-ABDA-C0B40A4BA466}" type="pres">
      <dgm:prSet presAssocID="{7AF0EF32-0766-4385-9EF7-24B6187AA373}" presName="spaceBetweenRectangles" presStyleCnt="0"/>
      <dgm:spPr/>
    </dgm:pt>
    <dgm:pt modelId="{EAC83CA0-AFE1-46B4-B4E2-60BDDF73519C}" type="pres">
      <dgm:prSet presAssocID="{62C3C4E4-A41F-4D74-9E92-CA56602638D5}" presName="parentLin" presStyleCnt="0"/>
      <dgm:spPr/>
    </dgm:pt>
    <dgm:pt modelId="{86F628C5-C968-4B82-90F0-858A72347D86}" type="pres">
      <dgm:prSet presAssocID="{62C3C4E4-A41F-4D74-9E92-CA56602638D5}" presName="parentLeftMargin" presStyleLbl="node1" presStyleIdx="0" presStyleCnt="3"/>
      <dgm:spPr/>
    </dgm:pt>
    <dgm:pt modelId="{80B871F0-0106-47B4-BA04-7EF5FD9C7AF5}" type="pres">
      <dgm:prSet presAssocID="{62C3C4E4-A41F-4D74-9E92-CA56602638D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C3830D-1739-41D0-85D9-59A6E665C069}" type="pres">
      <dgm:prSet presAssocID="{62C3C4E4-A41F-4D74-9E92-CA56602638D5}" presName="negativeSpace" presStyleCnt="0"/>
      <dgm:spPr/>
    </dgm:pt>
    <dgm:pt modelId="{470FDCE0-9D20-4C7B-A43D-ED1795FAF3AD}" type="pres">
      <dgm:prSet presAssocID="{62C3C4E4-A41F-4D74-9E92-CA56602638D5}" presName="childText" presStyleLbl="conFgAcc1" presStyleIdx="1" presStyleCnt="3">
        <dgm:presLayoutVars>
          <dgm:bulletEnabled val="1"/>
        </dgm:presLayoutVars>
      </dgm:prSet>
      <dgm:spPr/>
    </dgm:pt>
    <dgm:pt modelId="{827411B4-A5AB-4431-8131-D595C3719833}" type="pres">
      <dgm:prSet presAssocID="{5A61A7BA-E589-49A6-A894-86802E6B5BB1}" presName="spaceBetweenRectangles" presStyleCnt="0"/>
      <dgm:spPr/>
    </dgm:pt>
    <dgm:pt modelId="{884AEA19-700E-4767-8B26-C314D2B56DD0}" type="pres">
      <dgm:prSet presAssocID="{F22920C1-4F8C-4B0E-98CF-5D03F988219F}" presName="parentLin" presStyleCnt="0"/>
      <dgm:spPr/>
    </dgm:pt>
    <dgm:pt modelId="{2F2C308A-4816-4088-9C7C-0B3DE7B342CF}" type="pres">
      <dgm:prSet presAssocID="{F22920C1-4F8C-4B0E-98CF-5D03F988219F}" presName="parentLeftMargin" presStyleLbl="node1" presStyleIdx="1" presStyleCnt="3"/>
      <dgm:spPr/>
    </dgm:pt>
    <dgm:pt modelId="{991B8859-E680-4603-A651-EB9DB879C3A0}" type="pres">
      <dgm:prSet presAssocID="{F22920C1-4F8C-4B0E-98CF-5D03F988219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3FE9758-C059-4D78-BC66-5AD2A1AC44E7}" type="pres">
      <dgm:prSet presAssocID="{F22920C1-4F8C-4B0E-98CF-5D03F988219F}" presName="negativeSpace" presStyleCnt="0"/>
      <dgm:spPr/>
    </dgm:pt>
    <dgm:pt modelId="{03BEDFD7-A55C-4ED8-8BE1-14504C4C9CE9}" type="pres">
      <dgm:prSet presAssocID="{F22920C1-4F8C-4B0E-98CF-5D03F988219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D03A310-26FC-4A94-AC68-4BAFD8433DD7}" type="presOf" srcId="{C030B3C7-5FB0-46EC-A96B-1B29E75A3EB9}" destId="{42563690-2F87-48EC-A560-20AC48D234AD}" srcOrd="0" destOrd="1" presId="urn:microsoft.com/office/officeart/2005/8/layout/list1"/>
    <dgm:cxn modelId="{52E5511A-FB65-48C3-86C6-855B79B1FBDB}" type="presOf" srcId="{C8D77AAA-E3E7-46F4-B095-D5AFF7713273}" destId="{009C81F0-7D13-4FD3-8367-8FE1BCC7B34B}" srcOrd="0" destOrd="0" presId="urn:microsoft.com/office/officeart/2005/8/layout/list1"/>
    <dgm:cxn modelId="{005C6031-46B6-4557-8055-244A7590E084}" type="presOf" srcId="{0E536FEA-B5FF-403A-8CB8-207B0379C7AA}" destId="{470FDCE0-9D20-4C7B-A43D-ED1795FAF3AD}" srcOrd="0" destOrd="1" presId="urn:microsoft.com/office/officeart/2005/8/layout/list1"/>
    <dgm:cxn modelId="{8F5D2165-E69B-4002-A960-1D75A494BECC}" type="presOf" srcId="{C657B317-40B5-4E30-9958-255270D0E66D}" destId="{470FDCE0-9D20-4C7B-A43D-ED1795FAF3AD}" srcOrd="0" destOrd="0" presId="urn:microsoft.com/office/officeart/2005/8/layout/list1"/>
    <dgm:cxn modelId="{9022DA45-B9E8-46EB-872B-EE74A762B5C4}" srcId="{C8D77AAA-E3E7-46F4-B095-D5AFF7713273}" destId="{F22920C1-4F8C-4B0E-98CF-5D03F988219F}" srcOrd="2" destOrd="0" parTransId="{4F503EB1-8462-4D32-BEF5-0AB1BE740E00}" sibTransId="{983E0928-C44C-48B8-9099-5D2BD5CB9B8D}"/>
    <dgm:cxn modelId="{5BEA914A-4DEB-44C3-B7D5-695586A15D5D}" srcId="{C8D77AAA-E3E7-46F4-B095-D5AFF7713273}" destId="{62C3C4E4-A41F-4D74-9E92-CA56602638D5}" srcOrd="1" destOrd="0" parTransId="{88A065AF-A506-412F-A83D-3AC16745E0E3}" sibTransId="{5A61A7BA-E589-49A6-A894-86802E6B5BB1}"/>
    <dgm:cxn modelId="{FC84436C-F425-425A-B992-BF1B79556346}" srcId="{62C3C4E4-A41F-4D74-9E92-CA56602638D5}" destId="{C657B317-40B5-4E30-9958-255270D0E66D}" srcOrd="0" destOrd="0" parTransId="{35B41C54-14CB-47F6-ACF4-C5AEE8AAAABF}" sibTransId="{3D3001C7-17AA-410C-8766-F1AE96698700}"/>
    <dgm:cxn modelId="{98544151-CB3F-4831-BACE-BA0C1B8B81B4}" type="presOf" srcId="{2FEA164B-72BA-4105-9E2B-71E7F589E330}" destId="{03BEDFD7-A55C-4ED8-8BE1-14504C4C9CE9}" srcOrd="0" destOrd="1" presId="urn:microsoft.com/office/officeart/2005/8/layout/list1"/>
    <dgm:cxn modelId="{3F5AFA53-DBAE-4BE6-BA33-83DB9576E68B}" srcId="{F22920C1-4F8C-4B0E-98CF-5D03F988219F}" destId="{23D8C497-C62E-447B-8D43-9B282F6771BB}" srcOrd="0" destOrd="0" parTransId="{F9DC8873-C22D-45AD-BF30-CB9B57DFF70A}" sibTransId="{064D3528-A8F7-4E47-9C9D-696924B4F574}"/>
    <dgm:cxn modelId="{B85AA45A-671D-4CB3-AC6A-AAD3A617FC1F}" srcId="{62C3C4E4-A41F-4D74-9E92-CA56602638D5}" destId="{0E536FEA-B5FF-403A-8CB8-207B0379C7AA}" srcOrd="1" destOrd="0" parTransId="{EB025A2B-8958-4FC9-BB2E-744E0662E72F}" sibTransId="{C51D5B10-7272-4FDF-B5C5-6D66920A8E3C}"/>
    <dgm:cxn modelId="{A020298D-DF3C-4DAA-B3A8-5C7A77169885}" type="presOf" srcId="{905799C6-74C2-4189-A692-0E115CE5DC79}" destId="{23F79F9E-B146-48B1-8E94-14C03EA3ED6A}" srcOrd="1" destOrd="0" presId="urn:microsoft.com/office/officeart/2005/8/layout/list1"/>
    <dgm:cxn modelId="{7AE8D592-4D7D-43B0-8D99-4C0036018030}" type="presOf" srcId="{C42BF014-BE24-4050-BE8B-4A6AFBBFB8AB}" destId="{42563690-2F87-48EC-A560-20AC48D234AD}" srcOrd="0" destOrd="0" presId="urn:microsoft.com/office/officeart/2005/8/layout/list1"/>
    <dgm:cxn modelId="{4409AB95-6C34-4CA8-A1D3-6EDB94899B6B}" srcId="{905799C6-74C2-4189-A692-0E115CE5DC79}" destId="{C030B3C7-5FB0-46EC-A96B-1B29E75A3EB9}" srcOrd="1" destOrd="0" parTransId="{E5ED8F3B-D4E0-4297-8788-74655278482F}" sibTransId="{228A194B-5997-425F-9F8B-04996EAAB3E5}"/>
    <dgm:cxn modelId="{595780AD-45D0-4C0C-98BF-91127841F404}" type="presOf" srcId="{62C3C4E4-A41F-4D74-9E92-CA56602638D5}" destId="{86F628C5-C968-4B82-90F0-858A72347D86}" srcOrd="0" destOrd="0" presId="urn:microsoft.com/office/officeart/2005/8/layout/list1"/>
    <dgm:cxn modelId="{742E89B7-A226-48F1-8E38-4C0CB45820CC}" srcId="{905799C6-74C2-4189-A692-0E115CE5DC79}" destId="{C42BF014-BE24-4050-BE8B-4A6AFBBFB8AB}" srcOrd="0" destOrd="0" parTransId="{FB0764BE-6617-42D0-A21E-35E348EB83FD}" sibTransId="{3162AAD5-41CB-4041-919D-9E8BDADD2B80}"/>
    <dgm:cxn modelId="{9C08CEB7-C9C6-44B5-A6B8-CD2CDC7F85BE}" srcId="{C8D77AAA-E3E7-46F4-B095-D5AFF7713273}" destId="{905799C6-74C2-4189-A692-0E115CE5DC79}" srcOrd="0" destOrd="0" parTransId="{0AEE6EBF-B9A4-4987-AB11-89D63D6F13F6}" sibTransId="{7AF0EF32-0766-4385-9EF7-24B6187AA373}"/>
    <dgm:cxn modelId="{A8DCC5B9-6A39-49E6-B3D0-61EC042F8742}" type="presOf" srcId="{F22920C1-4F8C-4B0E-98CF-5D03F988219F}" destId="{991B8859-E680-4603-A651-EB9DB879C3A0}" srcOrd="1" destOrd="0" presId="urn:microsoft.com/office/officeart/2005/8/layout/list1"/>
    <dgm:cxn modelId="{AE95C7BB-7B16-4E2C-8032-E1B2FF3420A1}" type="presOf" srcId="{905799C6-74C2-4189-A692-0E115CE5DC79}" destId="{BFD4BF94-3C82-41EF-89B3-4A8B40944DB1}" srcOrd="0" destOrd="0" presId="urn:microsoft.com/office/officeart/2005/8/layout/list1"/>
    <dgm:cxn modelId="{8BFB28D1-3567-4D20-9C2A-17E9620E71C2}" type="presOf" srcId="{23D8C497-C62E-447B-8D43-9B282F6771BB}" destId="{03BEDFD7-A55C-4ED8-8BE1-14504C4C9CE9}" srcOrd="0" destOrd="0" presId="urn:microsoft.com/office/officeart/2005/8/layout/list1"/>
    <dgm:cxn modelId="{5560B3D4-FD9E-445B-9CA5-067D6B321043}" type="presOf" srcId="{62C3C4E4-A41F-4D74-9E92-CA56602638D5}" destId="{80B871F0-0106-47B4-BA04-7EF5FD9C7AF5}" srcOrd="1" destOrd="0" presId="urn:microsoft.com/office/officeart/2005/8/layout/list1"/>
    <dgm:cxn modelId="{BDF1F0E2-23D1-4ACD-A41C-5183CB23E88D}" type="presOf" srcId="{F22920C1-4F8C-4B0E-98CF-5D03F988219F}" destId="{2F2C308A-4816-4088-9C7C-0B3DE7B342CF}" srcOrd="0" destOrd="0" presId="urn:microsoft.com/office/officeart/2005/8/layout/list1"/>
    <dgm:cxn modelId="{79F1A9E5-9C78-4A23-B704-F1775E150FB0}" srcId="{F22920C1-4F8C-4B0E-98CF-5D03F988219F}" destId="{2FEA164B-72BA-4105-9E2B-71E7F589E330}" srcOrd="1" destOrd="0" parTransId="{428F1A9E-4BA3-41DE-83C3-D0B3010123B4}" sibTransId="{69E7B28A-B861-4406-8F74-6713C3980F29}"/>
    <dgm:cxn modelId="{F871EF3F-780E-45BB-94C1-72159C54EE41}" type="presParOf" srcId="{009C81F0-7D13-4FD3-8367-8FE1BCC7B34B}" destId="{1B3EEB0A-8008-44AF-9372-987DB616C938}" srcOrd="0" destOrd="0" presId="urn:microsoft.com/office/officeart/2005/8/layout/list1"/>
    <dgm:cxn modelId="{617BEACB-22B6-4963-9AB0-099DA357D81D}" type="presParOf" srcId="{1B3EEB0A-8008-44AF-9372-987DB616C938}" destId="{BFD4BF94-3C82-41EF-89B3-4A8B40944DB1}" srcOrd="0" destOrd="0" presId="urn:microsoft.com/office/officeart/2005/8/layout/list1"/>
    <dgm:cxn modelId="{B2B17832-76C2-4378-A5C5-4E77B4D65B82}" type="presParOf" srcId="{1B3EEB0A-8008-44AF-9372-987DB616C938}" destId="{23F79F9E-B146-48B1-8E94-14C03EA3ED6A}" srcOrd="1" destOrd="0" presId="urn:microsoft.com/office/officeart/2005/8/layout/list1"/>
    <dgm:cxn modelId="{9A4AE36C-1BDD-43FC-9289-D3138B5005DF}" type="presParOf" srcId="{009C81F0-7D13-4FD3-8367-8FE1BCC7B34B}" destId="{67ED627C-AE2F-4A8A-A7AA-38E4E300D97A}" srcOrd="1" destOrd="0" presId="urn:microsoft.com/office/officeart/2005/8/layout/list1"/>
    <dgm:cxn modelId="{94A4C478-E265-4E72-835E-BFA1582771F5}" type="presParOf" srcId="{009C81F0-7D13-4FD3-8367-8FE1BCC7B34B}" destId="{42563690-2F87-48EC-A560-20AC48D234AD}" srcOrd="2" destOrd="0" presId="urn:microsoft.com/office/officeart/2005/8/layout/list1"/>
    <dgm:cxn modelId="{5A9F9C7B-194E-4777-B106-2627D03529AC}" type="presParOf" srcId="{009C81F0-7D13-4FD3-8367-8FE1BCC7B34B}" destId="{2569BA97-28ED-40D1-ABDA-C0B40A4BA466}" srcOrd="3" destOrd="0" presId="urn:microsoft.com/office/officeart/2005/8/layout/list1"/>
    <dgm:cxn modelId="{DA80E7C3-61BF-4981-8465-F2ADD1FD9B50}" type="presParOf" srcId="{009C81F0-7D13-4FD3-8367-8FE1BCC7B34B}" destId="{EAC83CA0-AFE1-46B4-B4E2-60BDDF73519C}" srcOrd="4" destOrd="0" presId="urn:microsoft.com/office/officeart/2005/8/layout/list1"/>
    <dgm:cxn modelId="{242BC02A-1244-4249-80AB-25FB7CE81FCA}" type="presParOf" srcId="{EAC83CA0-AFE1-46B4-B4E2-60BDDF73519C}" destId="{86F628C5-C968-4B82-90F0-858A72347D86}" srcOrd="0" destOrd="0" presId="urn:microsoft.com/office/officeart/2005/8/layout/list1"/>
    <dgm:cxn modelId="{CBF38EDA-E9BB-473C-ADE3-C11715F82303}" type="presParOf" srcId="{EAC83CA0-AFE1-46B4-B4E2-60BDDF73519C}" destId="{80B871F0-0106-47B4-BA04-7EF5FD9C7AF5}" srcOrd="1" destOrd="0" presId="urn:microsoft.com/office/officeart/2005/8/layout/list1"/>
    <dgm:cxn modelId="{ABB9806C-4369-47B8-9F56-E3453BC50B83}" type="presParOf" srcId="{009C81F0-7D13-4FD3-8367-8FE1BCC7B34B}" destId="{F5C3830D-1739-41D0-85D9-59A6E665C069}" srcOrd="5" destOrd="0" presId="urn:microsoft.com/office/officeart/2005/8/layout/list1"/>
    <dgm:cxn modelId="{4F0FF7EF-03E1-4AA1-A38B-955C06B51675}" type="presParOf" srcId="{009C81F0-7D13-4FD3-8367-8FE1BCC7B34B}" destId="{470FDCE0-9D20-4C7B-A43D-ED1795FAF3AD}" srcOrd="6" destOrd="0" presId="urn:microsoft.com/office/officeart/2005/8/layout/list1"/>
    <dgm:cxn modelId="{C42FD682-27A1-4035-9E99-1B23119904FE}" type="presParOf" srcId="{009C81F0-7D13-4FD3-8367-8FE1BCC7B34B}" destId="{827411B4-A5AB-4431-8131-D595C3719833}" srcOrd="7" destOrd="0" presId="urn:microsoft.com/office/officeart/2005/8/layout/list1"/>
    <dgm:cxn modelId="{F36A882F-0A92-4FB0-8CD8-D515A24CE18D}" type="presParOf" srcId="{009C81F0-7D13-4FD3-8367-8FE1BCC7B34B}" destId="{884AEA19-700E-4767-8B26-C314D2B56DD0}" srcOrd="8" destOrd="0" presId="urn:microsoft.com/office/officeart/2005/8/layout/list1"/>
    <dgm:cxn modelId="{2DDB9801-F879-4782-982B-979B67F70FC9}" type="presParOf" srcId="{884AEA19-700E-4767-8B26-C314D2B56DD0}" destId="{2F2C308A-4816-4088-9C7C-0B3DE7B342CF}" srcOrd="0" destOrd="0" presId="urn:microsoft.com/office/officeart/2005/8/layout/list1"/>
    <dgm:cxn modelId="{5B5DB753-ACFF-49DD-A9A6-B8EE98B718E9}" type="presParOf" srcId="{884AEA19-700E-4767-8B26-C314D2B56DD0}" destId="{991B8859-E680-4603-A651-EB9DB879C3A0}" srcOrd="1" destOrd="0" presId="urn:microsoft.com/office/officeart/2005/8/layout/list1"/>
    <dgm:cxn modelId="{8F8FB747-3B31-4E23-BBFB-114EDC4E80E5}" type="presParOf" srcId="{009C81F0-7D13-4FD3-8367-8FE1BCC7B34B}" destId="{D3FE9758-C059-4D78-BC66-5AD2A1AC44E7}" srcOrd="9" destOrd="0" presId="urn:microsoft.com/office/officeart/2005/8/layout/list1"/>
    <dgm:cxn modelId="{AE1A410E-3E4C-4563-A1E8-42FDC9ABEDD0}" type="presParOf" srcId="{009C81F0-7D13-4FD3-8367-8FE1BCC7B34B}" destId="{03BEDFD7-A55C-4ED8-8BE1-14504C4C9C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9A99E6-CEE6-4FB3-A5B8-845CD1A77540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380E9B1-EC95-4A6F-8744-8C53C8FC6FA2}">
      <dgm:prSet/>
      <dgm:spPr/>
      <dgm:t>
        <a:bodyPr/>
        <a:lstStyle/>
        <a:p>
          <a:r>
            <a:rPr lang="ko-KR"/>
            <a:t>텍스트 생성</a:t>
          </a:r>
          <a:endParaRPr lang="en-US"/>
        </a:p>
      </dgm:t>
    </dgm:pt>
    <dgm:pt modelId="{9B1AE574-CD62-4CA9-BD1E-13747D670812}" type="parTrans" cxnId="{F927C047-671D-4FEF-9251-37AA20C993C6}">
      <dgm:prSet/>
      <dgm:spPr/>
      <dgm:t>
        <a:bodyPr/>
        <a:lstStyle/>
        <a:p>
          <a:endParaRPr lang="en-US"/>
        </a:p>
      </dgm:t>
    </dgm:pt>
    <dgm:pt modelId="{527E0BD9-9169-4E25-B46B-61EF45B46050}" type="sibTrans" cxnId="{F927C047-671D-4FEF-9251-37AA20C993C6}">
      <dgm:prSet/>
      <dgm:spPr/>
      <dgm:t>
        <a:bodyPr/>
        <a:lstStyle/>
        <a:p>
          <a:endParaRPr lang="en-US"/>
        </a:p>
      </dgm:t>
    </dgm:pt>
    <dgm:pt modelId="{A3922154-0377-4AEA-AAB3-6413EF192FB9}">
      <dgm:prSet/>
      <dgm:spPr/>
      <dgm:t>
        <a:bodyPr/>
        <a:lstStyle/>
        <a:p>
          <a:r>
            <a:rPr lang="en-US" dirty="0"/>
            <a:t>ChatGPT, Gemini</a:t>
          </a:r>
        </a:p>
      </dgm:t>
    </dgm:pt>
    <dgm:pt modelId="{EE26C5F0-F11A-4A1F-B5B7-BBA945AEAF2B}" type="parTrans" cxnId="{259D4376-FB72-4C1B-9278-D58C9873E8ED}">
      <dgm:prSet/>
      <dgm:spPr/>
      <dgm:t>
        <a:bodyPr/>
        <a:lstStyle/>
        <a:p>
          <a:endParaRPr lang="en-US"/>
        </a:p>
      </dgm:t>
    </dgm:pt>
    <dgm:pt modelId="{B2EEA5F5-50B4-4F1C-84A0-B3A1564368EE}" type="sibTrans" cxnId="{259D4376-FB72-4C1B-9278-D58C9873E8ED}">
      <dgm:prSet/>
      <dgm:spPr/>
      <dgm:t>
        <a:bodyPr/>
        <a:lstStyle/>
        <a:p>
          <a:endParaRPr lang="en-US"/>
        </a:p>
      </dgm:t>
    </dgm:pt>
    <dgm:pt modelId="{24BCC87C-F3C5-4AE3-944D-A33FF7D87076}">
      <dgm:prSet/>
      <dgm:spPr/>
      <dgm:t>
        <a:bodyPr/>
        <a:lstStyle/>
        <a:p>
          <a:r>
            <a:rPr lang="ko-KR"/>
            <a:t>이미지 생성</a:t>
          </a:r>
          <a:endParaRPr lang="en-US"/>
        </a:p>
      </dgm:t>
    </dgm:pt>
    <dgm:pt modelId="{718B2191-61D3-4C8A-ABFA-45276B0F666E}" type="parTrans" cxnId="{BF0F6CF9-ACA5-4855-BA28-657D4D90EFDB}">
      <dgm:prSet/>
      <dgm:spPr/>
      <dgm:t>
        <a:bodyPr/>
        <a:lstStyle/>
        <a:p>
          <a:endParaRPr lang="en-US"/>
        </a:p>
      </dgm:t>
    </dgm:pt>
    <dgm:pt modelId="{CB740AB0-636B-46D2-812A-D5EA1557F725}" type="sibTrans" cxnId="{BF0F6CF9-ACA5-4855-BA28-657D4D90EFDB}">
      <dgm:prSet/>
      <dgm:spPr/>
      <dgm:t>
        <a:bodyPr/>
        <a:lstStyle/>
        <a:p>
          <a:endParaRPr lang="en-US"/>
        </a:p>
      </dgm:t>
    </dgm:pt>
    <dgm:pt modelId="{B4E08505-DD34-4F6A-B15D-9504286A71C5}">
      <dgm:prSet/>
      <dgm:spPr/>
      <dgm:t>
        <a:bodyPr/>
        <a:lstStyle/>
        <a:p>
          <a:r>
            <a:rPr lang="en-US"/>
            <a:t>DALL·E, Stable Diffusion</a:t>
          </a:r>
        </a:p>
      </dgm:t>
    </dgm:pt>
    <dgm:pt modelId="{0FBE9CBD-7217-4319-A3B8-BBBDE72DBA9B}" type="parTrans" cxnId="{7D58C0A7-460E-40B3-90BA-A0BE5CD54F0D}">
      <dgm:prSet/>
      <dgm:spPr/>
      <dgm:t>
        <a:bodyPr/>
        <a:lstStyle/>
        <a:p>
          <a:endParaRPr lang="en-US"/>
        </a:p>
      </dgm:t>
    </dgm:pt>
    <dgm:pt modelId="{7E045FF7-081B-4B07-ACD6-FC3C934DD993}" type="sibTrans" cxnId="{7D58C0A7-460E-40B3-90BA-A0BE5CD54F0D}">
      <dgm:prSet/>
      <dgm:spPr/>
      <dgm:t>
        <a:bodyPr/>
        <a:lstStyle/>
        <a:p>
          <a:endParaRPr lang="en-US"/>
        </a:p>
      </dgm:t>
    </dgm:pt>
    <dgm:pt modelId="{6821972B-FB8E-40CB-AA64-E7308BC749C6}">
      <dgm:prSet/>
      <dgm:spPr/>
      <dgm:t>
        <a:bodyPr/>
        <a:lstStyle/>
        <a:p>
          <a:r>
            <a:rPr lang="ko-KR"/>
            <a:t>영상 생성</a:t>
          </a:r>
          <a:endParaRPr lang="en-US"/>
        </a:p>
      </dgm:t>
    </dgm:pt>
    <dgm:pt modelId="{46006B46-13CD-4767-A63B-339BAA5AFACA}" type="parTrans" cxnId="{06B736FC-1D04-48E8-AD0A-7C6B7E0F6DBC}">
      <dgm:prSet/>
      <dgm:spPr/>
      <dgm:t>
        <a:bodyPr/>
        <a:lstStyle/>
        <a:p>
          <a:endParaRPr lang="en-US"/>
        </a:p>
      </dgm:t>
    </dgm:pt>
    <dgm:pt modelId="{B439977C-A8A6-4FFC-B85B-77F8A672582F}" type="sibTrans" cxnId="{06B736FC-1D04-48E8-AD0A-7C6B7E0F6DBC}">
      <dgm:prSet/>
      <dgm:spPr/>
      <dgm:t>
        <a:bodyPr/>
        <a:lstStyle/>
        <a:p>
          <a:endParaRPr lang="en-US"/>
        </a:p>
      </dgm:t>
    </dgm:pt>
    <dgm:pt modelId="{DC808596-34D5-4779-B95D-FFED0B19C190}">
      <dgm:prSet/>
      <dgm:spPr/>
      <dgm:t>
        <a:bodyPr/>
        <a:lstStyle/>
        <a:p>
          <a:r>
            <a:rPr lang="en-US"/>
            <a:t>Runway, Pika</a:t>
          </a:r>
        </a:p>
      </dgm:t>
    </dgm:pt>
    <dgm:pt modelId="{19AFEB2C-52EC-474A-A80E-FAA8E6FCBC38}" type="parTrans" cxnId="{2C2AAEE3-C2FE-4FC2-8862-F1EEB209DF75}">
      <dgm:prSet/>
      <dgm:spPr/>
      <dgm:t>
        <a:bodyPr/>
        <a:lstStyle/>
        <a:p>
          <a:endParaRPr lang="en-US"/>
        </a:p>
      </dgm:t>
    </dgm:pt>
    <dgm:pt modelId="{E13D4E5F-EBE7-4CDF-9916-1F4F0AD86EDD}" type="sibTrans" cxnId="{2C2AAEE3-C2FE-4FC2-8862-F1EEB209DF75}">
      <dgm:prSet/>
      <dgm:spPr/>
      <dgm:t>
        <a:bodyPr/>
        <a:lstStyle/>
        <a:p>
          <a:endParaRPr lang="en-US"/>
        </a:p>
      </dgm:t>
    </dgm:pt>
    <dgm:pt modelId="{3AF45E19-4A41-4D25-8656-5FA077C58740}">
      <dgm:prSet/>
      <dgm:spPr/>
      <dgm:t>
        <a:bodyPr/>
        <a:lstStyle/>
        <a:p>
          <a:r>
            <a:rPr lang="ko-KR"/>
            <a:t>음악 생성</a:t>
          </a:r>
          <a:endParaRPr lang="en-US"/>
        </a:p>
      </dgm:t>
    </dgm:pt>
    <dgm:pt modelId="{B540ED53-3E2E-4EB8-A7DE-BA51C0D6E089}" type="parTrans" cxnId="{30FEFAF4-F3FE-4ACF-ACFF-5F4CBDB6809D}">
      <dgm:prSet/>
      <dgm:spPr/>
      <dgm:t>
        <a:bodyPr/>
        <a:lstStyle/>
        <a:p>
          <a:endParaRPr lang="en-US"/>
        </a:p>
      </dgm:t>
    </dgm:pt>
    <dgm:pt modelId="{36875026-786E-42E4-992E-F04D23C6D022}" type="sibTrans" cxnId="{30FEFAF4-F3FE-4ACF-ACFF-5F4CBDB6809D}">
      <dgm:prSet/>
      <dgm:spPr/>
      <dgm:t>
        <a:bodyPr/>
        <a:lstStyle/>
        <a:p>
          <a:endParaRPr lang="en-US"/>
        </a:p>
      </dgm:t>
    </dgm:pt>
    <dgm:pt modelId="{D964765F-0A5F-4574-A114-280912BCFA4A}">
      <dgm:prSet/>
      <dgm:spPr/>
      <dgm:t>
        <a:bodyPr/>
        <a:lstStyle/>
        <a:p>
          <a:r>
            <a:rPr lang="en-US"/>
            <a:t>Suno, Udio</a:t>
          </a:r>
        </a:p>
      </dgm:t>
    </dgm:pt>
    <dgm:pt modelId="{8F378649-B392-4E05-BC64-50E2E9F0E249}" type="parTrans" cxnId="{D4C86AE2-F8A5-41EB-B44B-EF49E0BECC3A}">
      <dgm:prSet/>
      <dgm:spPr/>
      <dgm:t>
        <a:bodyPr/>
        <a:lstStyle/>
        <a:p>
          <a:endParaRPr lang="en-US"/>
        </a:p>
      </dgm:t>
    </dgm:pt>
    <dgm:pt modelId="{B0EDD652-00F1-469F-8852-69A0D86051BE}" type="sibTrans" cxnId="{D4C86AE2-F8A5-41EB-B44B-EF49E0BECC3A}">
      <dgm:prSet/>
      <dgm:spPr/>
      <dgm:t>
        <a:bodyPr/>
        <a:lstStyle/>
        <a:p>
          <a:endParaRPr lang="en-US"/>
        </a:p>
      </dgm:t>
    </dgm:pt>
    <dgm:pt modelId="{5E44E7D4-B90F-4BCB-A3E8-1A510E1BD30B}">
      <dgm:prSet/>
      <dgm:spPr/>
      <dgm:t>
        <a:bodyPr/>
        <a:lstStyle/>
        <a:p>
          <a:r>
            <a:rPr lang="ko-KR"/>
            <a:t>음성 생성</a:t>
          </a:r>
          <a:endParaRPr lang="en-US"/>
        </a:p>
      </dgm:t>
    </dgm:pt>
    <dgm:pt modelId="{EC550D33-76FE-4336-986C-695211583216}" type="parTrans" cxnId="{4862224B-66F1-4E0B-8467-CC22808630F2}">
      <dgm:prSet/>
      <dgm:spPr/>
      <dgm:t>
        <a:bodyPr/>
        <a:lstStyle/>
        <a:p>
          <a:endParaRPr lang="en-US"/>
        </a:p>
      </dgm:t>
    </dgm:pt>
    <dgm:pt modelId="{EBFFE713-0F32-4F82-8DFB-3BB0FB4C4A96}" type="sibTrans" cxnId="{4862224B-66F1-4E0B-8467-CC22808630F2}">
      <dgm:prSet/>
      <dgm:spPr/>
      <dgm:t>
        <a:bodyPr/>
        <a:lstStyle/>
        <a:p>
          <a:endParaRPr lang="en-US"/>
        </a:p>
      </dgm:t>
    </dgm:pt>
    <dgm:pt modelId="{99E17AF7-7A16-43B2-AB38-ABD39F8B615D}">
      <dgm:prSet/>
      <dgm:spPr/>
      <dgm:t>
        <a:bodyPr/>
        <a:lstStyle/>
        <a:p>
          <a:r>
            <a:rPr lang="ko-KR" dirty="0"/>
            <a:t>음성 합성 </a:t>
          </a:r>
          <a:r>
            <a:rPr lang="en-US" dirty="0"/>
            <a:t>AI (TTS)</a:t>
          </a:r>
        </a:p>
      </dgm:t>
    </dgm:pt>
    <dgm:pt modelId="{3EF468C9-3D1D-4096-ABCF-190E2C695FBA}" type="parTrans" cxnId="{179CA295-3570-4380-AFA5-AEF6598F8B7B}">
      <dgm:prSet/>
      <dgm:spPr/>
      <dgm:t>
        <a:bodyPr/>
        <a:lstStyle/>
        <a:p>
          <a:endParaRPr lang="en-US"/>
        </a:p>
      </dgm:t>
    </dgm:pt>
    <dgm:pt modelId="{7C85D623-266D-454D-A6D3-D33FCC3E81CD}" type="sibTrans" cxnId="{179CA295-3570-4380-AFA5-AEF6598F8B7B}">
      <dgm:prSet/>
      <dgm:spPr/>
      <dgm:t>
        <a:bodyPr/>
        <a:lstStyle/>
        <a:p>
          <a:endParaRPr lang="en-US"/>
        </a:p>
      </dgm:t>
    </dgm:pt>
    <dgm:pt modelId="{A3AC6C2B-D182-46A5-B7D6-40497D2581C7}" type="pres">
      <dgm:prSet presAssocID="{539A99E6-CEE6-4FB3-A5B8-845CD1A77540}" presName="Name0" presStyleCnt="0">
        <dgm:presLayoutVars>
          <dgm:dir/>
          <dgm:animLvl val="lvl"/>
          <dgm:resizeHandles val="exact"/>
        </dgm:presLayoutVars>
      </dgm:prSet>
      <dgm:spPr/>
    </dgm:pt>
    <dgm:pt modelId="{13F168B6-9618-4F67-AE74-34519A4DD5D8}" type="pres">
      <dgm:prSet presAssocID="{D380E9B1-EC95-4A6F-8744-8C53C8FC6FA2}" presName="composite" presStyleCnt="0"/>
      <dgm:spPr/>
    </dgm:pt>
    <dgm:pt modelId="{3BCB8E44-E284-455E-93AB-F3EB0C3672E3}" type="pres">
      <dgm:prSet presAssocID="{D380E9B1-EC95-4A6F-8744-8C53C8FC6FA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F316310B-617C-4EDA-9450-80235C89640A}" type="pres">
      <dgm:prSet presAssocID="{D380E9B1-EC95-4A6F-8744-8C53C8FC6FA2}" presName="desTx" presStyleLbl="alignAccFollowNode1" presStyleIdx="0" presStyleCnt="5">
        <dgm:presLayoutVars>
          <dgm:bulletEnabled val="1"/>
        </dgm:presLayoutVars>
      </dgm:prSet>
      <dgm:spPr/>
    </dgm:pt>
    <dgm:pt modelId="{B92AEF00-60F9-4B48-9FA2-255DC5B05BD2}" type="pres">
      <dgm:prSet presAssocID="{527E0BD9-9169-4E25-B46B-61EF45B46050}" presName="space" presStyleCnt="0"/>
      <dgm:spPr/>
    </dgm:pt>
    <dgm:pt modelId="{40D7FC23-4B98-4A96-B9B9-185B0E7781BA}" type="pres">
      <dgm:prSet presAssocID="{24BCC87C-F3C5-4AE3-944D-A33FF7D87076}" presName="composite" presStyleCnt="0"/>
      <dgm:spPr/>
    </dgm:pt>
    <dgm:pt modelId="{B3DB8C76-BD7A-4BFF-B78C-4B347A2788F3}" type="pres">
      <dgm:prSet presAssocID="{24BCC87C-F3C5-4AE3-944D-A33FF7D8707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1BB3FB2B-7BE1-47C4-9C50-49BD487F1B14}" type="pres">
      <dgm:prSet presAssocID="{24BCC87C-F3C5-4AE3-944D-A33FF7D87076}" presName="desTx" presStyleLbl="alignAccFollowNode1" presStyleIdx="1" presStyleCnt="5">
        <dgm:presLayoutVars>
          <dgm:bulletEnabled val="1"/>
        </dgm:presLayoutVars>
      </dgm:prSet>
      <dgm:spPr/>
    </dgm:pt>
    <dgm:pt modelId="{1D393AAE-C115-4DB8-98D5-AF5CD63B7DD2}" type="pres">
      <dgm:prSet presAssocID="{CB740AB0-636B-46D2-812A-D5EA1557F725}" presName="space" presStyleCnt="0"/>
      <dgm:spPr/>
    </dgm:pt>
    <dgm:pt modelId="{0D89A8D0-8809-49CA-B35D-B8451FE9EFA5}" type="pres">
      <dgm:prSet presAssocID="{6821972B-FB8E-40CB-AA64-E7308BC749C6}" presName="composite" presStyleCnt="0"/>
      <dgm:spPr/>
    </dgm:pt>
    <dgm:pt modelId="{51559F9C-EF8C-499C-BBF4-04F3FC801CC4}" type="pres">
      <dgm:prSet presAssocID="{6821972B-FB8E-40CB-AA64-E7308BC749C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DA181AA-27AB-4311-B55A-230C257092EA}" type="pres">
      <dgm:prSet presAssocID="{6821972B-FB8E-40CB-AA64-E7308BC749C6}" presName="desTx" presStyleLbl="alignAccFollowNode1" presStyleIdx="2" presStyleCnt="5">
        <dgm:presLayoutVars>
          <dgm:bulletEnabled val="1"/>
        </dgm:presLayoutVars>
      </dgm:prSet>
      <dgm:spPr/>
    </dgm:pt>
    <dgm:pt modelId="{43CCFD60-E35E-4109-BB32-2AC7EB5F2ADA}" type="pres">
      <dgm:prSet presAssocID="{B439977C-A8A6-4FFC-B85B-77F8A672582F}" presName="space" presStyleCnt="0"/>
      <dgm:spPr/>
    </dgm:pt>
    <dgm:pt modelId="{D8FA77D4-016C-40AF-BE3F-B4A5F905502D}" type="pres">
      <dgm:prSet presAssocID="{3AF45E19-4A41-4D25-8656-5FA077C58740}" presName="composite" presStyleCnt="0"/>
      <dgm:spPr/>
    </dgm:pt>
    <dgm:pt modelId="{44C2D80E-0067-4AC8-8730-319A92662BA5}" type="pres">
      <dgm:prSet presAssocID="{3AF45E19-4A41-4D25-8656-5FA077C58740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8C40627-3AFA-41EF-841E-DBE0282D73B5}" type="pres">
      <dgm:prSet presAssocID="{3AF45E19-4A41-4D25-8656-5FA077C58740}" presName="desTx" presStyleLbl="alignAccFollowNode1" presStyleIdx="3" presStyleCnt="5">
        <dgm:presLayoutVars>
          <dgm:bulletEnabled val="1"/>
        </dgm:presLayoutVars>
      </dgm:prSet>
      <dgm:spPr/>
    </dgm:pt>
    <dgm:pt modelId="{BEB09337-3A83-46E4-AD35-8765E574F47D}" type="pres">
      <dgm:prSet presAssocID="{36875026-786E-42E4-992E-F04D23C6D022}" presName="space" presStyleCnt="0"/>
      <dgm:spPr/>
    </dgm:pt>
    <dgm:pt modelId="{1DD73615-4DD5-489A-A1BF-FF005027B350}" type="pres">
      <dgm:prSet presAssocID="{5E44E7D4-B90F-4BCB-A3E8-1A510E1BD30B}" presName="composite" presStyleCnt="0"/>
      <dgm:spPr/>
    </dgm:pt>
    <dgm:pt modelId="{1C3F827C-8313-432D-BE24-EF6C7862770B}" type="pres">
      <dgm:prSet presAssocID="{5E44E7D4-B90F-4BCB-A3E8-1A510E1BD30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D34EBF7B-5824-48DD-A199-84F147397B51}" type="pres">
      <dgm:prSet presAssocID="{5E44E7D4-B90F-4BCB-A3E8-1A510E1BD30B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910CB800-0684-44E4-BEFC-1648432DAD3B}" type="presOf" srcId="{DC808596-34D5-4779-B95D-FFED0B19C190}" destId="{9DA181AA-27AB-4311-B55A-230C257092EA}" srcOrd="0" destOrd="0" presId="urn:microsoft.com/office/officeart/2005/8/layout/hList1"/>
    <dgm:cxn modelId="{F927C047-671D-4FEF-9251-37AA20C993C6}" srcId="{539A99E6-CEE6-4FB3-A5B8-845CD1A77540}" destId="{D380E9B1-EC95-4A6F-8744-8C53C8FC6FA2}" srcOrd="0" destOrd="0" parTransId="{9B1AE574-CD62-4CA9-BD1E-13747D670812}" sibTransId="{527E0BD9-9169-4E25-B46B-61EF45B46050}"/>
    <dgm:cxn modelId="{4862224B-66F1-4E0B-8467-CC22808630F2}" srcId="{539A99E6-CEE6-4FB3-A5B8-845CD1A77540}" destId="{5E44E7D4-B90F-4BCB-A3E8-1A510E1BD30B}" srcOrd="4" destOrd="0" parTransId="{EC550D33-76FE-4336-986C-695211583216}" sibTransId="{EBFFE713-0F32-4F82-8DFB-3BB0FB4C4A96}"/>
    <dgm:cxn modelId="{D4302651-93B6-4B73-B68B-F1ADE0061424}" type="presOf" srcId="{24BCC87C-F3C5-4AE3-944D-A33FF7D87076}" destId="{B3DB8C76-BD7A-4BFF-B78C-4B347A2788F3}" srcOrd="0" destOrd="0" presId="urn:microsoft.com/office/officeart/2005/8/layout/hList1"/>
    <dgm:cxn modelId="{96C99673-07A9-4493-B1E1-E4194CE2A565}" type="presOf" srcId="{539A99E6-CEE6-4FB3-A5B8-845CD1A77540}" destId="{A3AC6C2B-D182-46A5-B7D6-40497D2581C7}" srcOrd="0" destOrd="0" presId="urn:microsoft.com/office/officeart/2005/8/layout/hList1"/>
    <dgm:cxn modelId="{259D4376-FB72-4C1B-9278-D58C9873E8ED}" srcId="{D380E9B1-EC95-4A6F-8744-8C53C8FC6FA2}" destId="{A3922154-0377-4AEA-AAB3-6413EF192FB9}" srcOrd="0" destOrd="0" parTransId="{EE26C5F0-F11A-4A1F-B5B7-BBA945AEAF2B}" sibTransId="{B2EEA5F5-50B4-4F1C-84A0-B3A1564368EE}"/>
    <dgm:cxn modelId="{D9003478-5C41-472E-B7EC-15FD71994560}" type="presOf" srcId="{D380E9B1-EC95-4A6F-8744-8C53C8FC6FA2}" destId="{3BCB8E44-E284-455E-93AB-F3EB0C3672E3}" srcOrd="0" destOrd="0" presId="urn:microsoft.com/office/officeart/2005/8/layout/hList1"/>
    <dgm:cxn modelId="{9111F182-1753-458A-9DA8-2AE7A41BC192}" type="presOf" srcId="{5E44E7D4-B90F-4BCB-A3E8-1A510E1BD30B}" destId="{1C3F827C-8313-432D-BE24-EF6C7862770B}" srcOrd="0" destOrd="0" presId="urn:microsoft.com/office/officeart/2005/8/layout/hList1"/>
    <dgm:cxn modelId="{6E0F1483-7AEE-4DCF-93A5-D70F876814AC}" type="presOf" srcId="{A3922154-0377-4AEA-AAB3-6413EF192FB9}" destId="{F316310B-617C-4EDA-9450-80235C89640A}" srcOrd="0" destOrd="0" presId="urn:microsoft.com/office/officeart/2005/8/layout/hList1"/>
    <dgm:cxn modelId="{179CA295-3570-4380-AFA5-AEF6598F8B7B}" srcId="{5E44E7D4-B90F-4BCB-A3E8-1A510E1BD30B}" destId="{99E17AF7-7A16-43B2-AB38-ABD39F8B615D}" srcOrd="0" destOrd="0" parTransId="{3EF468C9-3D1D-4096-ABCF-190E2C695FBA}" sibTransId="{7C85D623-266D-454D-A6D3-D33FCC3E81CD}"/>
    <dgm:cxn modelId="{5B915096-4670-4F3A-8204-47F7C2401BE4}" type="presOf" srcId="{D964765F-0A5F-4574-A114-280912BCFA4A}" destId="{E8C40627-3AFA-41EF-841E-DBE0282D73B5}" srcOrd="0" destOrd="0" presId="urn:microsoft.com/office/officeart/2005/8/layout/hList1"/>
    <dgm:cxn modelId="{7D58C0A7-460E-40B3-90BA-A0BE5CD54F0D}" srcId="{24BCC87C-F3C5-4AE3-944D-A33FF7D87076}" destId="{B4E08505-DD34-4F6A-B15D-9504286A71C5}" srcOrd="0" destOrd="0" parTransId="{0FBE9CBD-7217-4319-A3B8-BBBDE72DBA9B}" sibTransId="{7E045FF7-081B-4B07-ACD6-FC3C934DD993}"/>
    <dgm:cxn modelId="{ECB51DB3-4092-439D-8BC0-D73F8CD52003}" type="presOf" srcId="{3AF45E19-4A41-4D25-8656-5FA077C58740}" destId="{44C2D80E-0067-4AC8-8730-319A92662BA5}" srcOrd="0" destOrd="0" presId="urn:microsoft.com/office/officeart/2005/8/layout/hList1"/>
    <dgm:cxn modelId="{38C685CC-D474-4DBB-8D64-C651AD2B7B87}" type="presOf" srcId="{6821972B-FB8E-40CB-AA64-E7308BC749C6}" destId="{51559F9C-EF8C-499C-BBF4-04F3FC801CC4}" srcOrd="0" destOrd="0" presId="urn:microsoft.com/office/officeart/2005/8/layout/hList1"/>
    <dgm:cxn modelId="{F96294CE-F740-4ED3-9B71-8E9CED88DA50}" type="presOf" srcId="{99E17AF7-7A16-43B2-AB38-ABD39F8B615D}" destId="{D34EBF7B-5824-48DD-A199-84F147397B51}" srcOrd="0" destOrd="0" presId="urn:microsoft.com/office/officeart/2005/8/layout/hList1"/>
    <dgm:cxn modelId="{D4C86AE2-F8A5-41EB-B44B-EF49E0BECC3A}" srcId="{3AF45E19-4A41-4D25-8656-5FA077C58740}" destId="{D964765F-0A5F-4574-A114-280912BCFA4A}" srcOrd="0" destOrd="0" parTransId="{8F378649-B392-4E05-BC64-50E2E9F0E249}" sibTransId="{B0EDD652-00F1-469F-8852-69A0D86051BE}"/>
    <dgm:cxn modelId="{2C2AAEE3-C2FE-4FC2-8862-F1EEB209DF75}" srcId="{6821972B-FB8E-40CB-AA64-E7308BC749C6}" destId="{DC808596-34D5-4779-B95D-FFED0B19C190}" srcOrd="0" destOrd="0" parTransId="{19AFEB2C-52EC-474A-A80E-FAA8E6FCBC38}" sibTransId="{E13D4E5F-EBE7-4CDF-9916-1F4F0AD86EDD}"/>
    <dgm:cxn modelId="{526240EA-FE12-4253-BB93-275A5825F552}" type="presOf" srcId="{B4E08505-DD34-4F6A-B15D-9504286A71C5}" destId="{1BB3FB2B-7BE1-47C4-9C50-49BD487F1B14}" srcOrd="0" destOrd="0" presId="urn:microsoft.com/office/officeart/2005/8/layout/hList1"/>
    <dgm:cxn modelId="{30FEFAF4-F3FE-4ACF-ACFF-5F4CBDB6809D}" srcId="{539A99E6-CEE6-4FB3-A5B8-845CD1A77540}" destId="{3AF45E19-4A41-4D25-8656-5FA077C58740}" srcOrd="3" destOrd="0" parTransId="{B540ED53-3E2E-4EB8-A7DE-BA51C0D6E089}" sibTransId="{36875026-786E-42E4-992E-F04D23C6D022}"/>
    <dgm:cxn modelId="{BF0F6CF9-ACA5-4855-BA28-657D4D90EFDB}" srcId="{539A99E6-CEE6-4FB3-A5B8-845CD1A77540}" destId="{24BCC87C-F3C5-4AE3-944D-A33FF7D87076}" srcOrd="1" destOrd="0" parTransId="{718B2191-61D3-4C8A-ABFA-45276B0F666E}" sibTransId="{CB740AB0-636B-46D2-812A-D5EA1557F725}"/>
    <dgm:cxn modelId="{06B736FC-1D04-48E8-AD0A-7C6B7E0F6DBC}" srcId="{539A99E6-CEE6-4FB3-A5B8-845CD1A77540}" destId="{6821972B-FB8E-40CB-AA64-E7308BC749C6}" srcOrd="2" destOrd="0" parTransId="{46006B46-13CD-4767-A63B-339BAA5AFACA}" sibTransId="{B439977C-A8A6-4FFC-B85B-77F8A672582F}"/>
    <dgm:cxn modelId="{E15E5326-FE8C-408B-8375-E9AE70AABE46}" type="presParOf" srcId="{A3AC6C2B-D182-46A5-B7D6-40497D2581C7}" destId="{13F168B6-9618-4F67-AE74-34519A4DD5D8}" srcOrd="0" destOrd="0" presId="urn:microsoft.com/office/officeart/2005/8/layout/hList1"/>
    <dgm:cxn modelId="{64946ADD-F070-400D-B5C1-BDD9D2FFEE7B}" type="presParOf" srcId="{13F168B6-9618-4F67-AE74-34519A4DD5D8}" destId="{3BCB8E44-E284-455E-93AB-F3EB0C3672E3}" srcOrd="0" destOrd="0" presId="urn:microsoft.com/office/officeart/2005/8/layout/hList1"/>
    <dgm:cxn modelId="{5A335362-2326-497F-BD12-30D75D62DF8E}" type="presParOf" srcId="{13F168B6-9618-4F67-AE74-34519A4DD5D8}" destId="{F316310B-617C-4EDA-9450-80235C89640A}" srcOrd="1" destOrd="0" presId="urn:microsoft.com/office/officeart/2005/8/layout/hList1"/>
    <dgm:cxn modelId="{34086C8E-E566-4745-949C-A26599FE097E}" type="presParOf" srcId="{A3AC6C2B-D182-46A5-B7D6-40497D2581C7}" destId="{B92AEF00-60F9-4B48-9FA2-255DC5B05BD2}" srcOrd="1" destOrd="0" presId="urn:microsoft.com/office/officeart/2005/8/layout/hList1"/>
    <dgm:cxn modelId="{369C53EA-1325-4D43-AAE7-6D55F0FB2DBB}" type="presParOf" srcId="{A3AC6C2B-D182-46A5-B7D6-40497D2581C7}" destId="{40D7FC23-4B98-4A96-B9B9-185B0E7781BA}" srcOrd="2" destOrd="0" presId="urn:microsoft.com/office/officeart/2005/8/layout/hList1"/>
    <dgm:cxn modelId="{A88CADD1-9F5A-4ACF-AB34-29FF3D816FF7}" type="presParOf" srcId="{40D7FC23-4B98-4A96-B9B9-185B0E7781BA}" destId="{B3DB8C76-BD7A-4BFF-B78C-4B347A2788F3}" srcOrd="0" destOrd="0" presId="urn:microsoft.com/office/officeart/2005/8/layout/hList1"/>
    <dgm:cxn modelId="{FB11D120-CACE-4F99-B956-0CE0A91BA0B6}" type="presParOf" srcId="{40D7FC23-4B98-4A96-B9B9-185B0E7781BA}" destId="{1BB3FB2B-7BE1-47C4-9C50-49BD487F1B14}" srcOrd="1" destOrd="0" presId="urn:microsoft.com/office/officeart/2005/8/layout/hList1"/>
    <dgm:cxn modelId="{C83D5CB3-CB57-4D25-BEE6-7BB15364EA76}" type="presParOf" srcId="{A3AC6C2B-D182-46A5-B7D6-40497D2581C7}" destId="{1D393AAE-C115-4DB8-98D5-AF5CD63B7DD2}" srcOrd="3" destOrd="0" presId="urn:microsoft.com/office/officeart/2005/8/layout/hList1"/>
    <dgm:cxn modelId="{3532300B-7D11-45E7-83BF-F2BBAB469FA4}" type="presParOf" srcId="{A3AC6C2B-D182-46A5-B7D6-40497D2581C7}" destId="{0D89A8D0-8809-49CA-B35D-B8451FE9EFA5}" srcOrd="4" destOrd="0" presId="urn:microsoft.com/office/officeart/2005/8/layout/hList1"/>
    <dgm:cxn modelId="{9E037493-59A2-42C2-A6E3-B2F62D164EC0}" type="presParOf" srcId="{0D89A8D0-8809-49CA-B35D-B8451FE9EFA5}" destId="{51559F9C-EF8C-499C-BBF4-04F3FC801CC4}" srcOrd="0" destOrd="0" presId="urn:microsoft.com/office/officeart/2005/8/layout/hList1"/>
    <dgm:cxn modelId="{9F91FE6E-5A76-4395-B15A-1D93408A8AFD}" type="presParOf" srcId="{0D89A8D0-8809-49CA-B35D-B8451FE9EFA5}" destId="{9DA181AA-27AB-4311-B55A-230C257092EA}" srcOrd="1" destOrd="0" presId="urn:microsoft.com/office/officeart/2005/8/layout/hList1"/>
    <dgm:cxn modelId="{79843DD8-03F7-4649-AE75-393349370F6C}" type="presParOf" srcId="{A3AC6C2B-D182-46A5-B7D6-40497D2581C7}" destId="{43CCFD60-E35E-4109-BB32-2AC7EB5F2ADA}" srcOrd="5" destOrd="0" presId="urn:microsoft.com/office/officeart/2005/8/layout/hList1"/>
    <dgm:cxn modelId="{BB85CE85-8AC2-4B43-A0A2-4A8003800D8D}" type="presParOf" srcId="{A3AC6C2B-D182-46A5-B7D6-40497D2581C7}" destId="{D8FA77D4-016C-40AF-BE3F-B4A5F905502D}" srcOrd="6" destOrd="0" presId="urn:microsoft.com/office/officeart/2005/8/layout/hList1"/>
    <dgm:cxn modelId="{0C6B8859-E33D-4BB7-9AE6-645B3F3B4EB1}" type="presParOf" srcId="{D8FA77D4-016C-40AF-BE3F-B4A5F905502D}" destId="{44C2D80E-0067-4AC8-8730-319A92662BA5}" srcOrd="0" destOrd="0" presId="urn:microsoft.com/office/officeart/2005/8/layout/hList1"/>
    <dgm:cxn modelId="{33450A22-3017-4AEF-B401-F40CAE9A296A}" type="presParOf" srcId="{D8FA77D4-016C-40AF-BE3F-B4A5F905502D}" destId="{E8C40627-3AFA-41EF-841E-DBE0282D73B5}" srcOrd="1" destOrd="0" presId="urn:microsoft.com/office/officeart/2005/8/layout/hList1"/>
    <dgm:cxn modelId="{7EAE80AD-003C-41AA-B1D4-05FBC1A2DA4C}" type="presParOf" srcId="{A3AC6C2B-D182-46A5-B7D6-40497D2581C7}" destId="{BEB09337-3A83-46E4-AD35-8765E574F47D}" srcOrd="7" destOrd="0" presId="urn:microsoft.com/office/officeart/2005/8/layout/hList1"/>
    <dgm:cxn modelId="{D55794A0-C7EC-4B59-AD01-6C1E0125B4D9}" type="presParOf" srcId="{A3AC6C2B-D182-46A5-B7D6-40497D2581C7}" destId="{1DD73615-4DD5-489A-A1BF-FF005027B350}" srcOrd="8" destOrd="0" presId="urn:microsoft.com/office/officeart/2005/8/layout/hList1"/>
    <dgm:cxn modelId="{358305D6-6178-466C-AB64-13BB1EE11698}" type="presParOf" srcId="{1DD73615-4DD5-489A-A1BF-FF005027B350}" destId="{1C3F827C-8313-432D-BE24-EF6C7862770B}" srcOrd="0" destOrd="0" presId="urn:microsoft.com/office/officeart/2005/8/layout/hList1"/>
    <dgm:cxn modelId="{2B2F0CBC-3B4C-4990-8670-FFB0F8B2F31F}" type="presParOf" srcId="{1DD73615-4DD5-489A-A1BF-FF005027B350}" destId="{D34EBF7B-5824-48DD-A199-84F147397B5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8D1A5A-4248-40E9-85E8-04230CB5D12C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65D94E2-134F-430B-A043-7B336CC42BDA}">
      <dgm:prSet/>
      <dgm:spPr/>
      <dgm:t>
        <a:bodyPr/>
        <a:lstStyle/>
        <a:p>
          <a:r>
            <a:rPr lang="ko-KR" dirty="0"/>
            <a:t>대량의 텍스트 데이터를 학습하여 문맥을 이해하고</a:t>
          </a:r>
          <a:r>
            <a:rPr lang="en-US" dirty="0"/>
            <a:t>, </a:t>
          </a:r>
          <a:r>
            <a:rPr lang="ko-KR" dirty="0"/>
            <a:t>새로운 문장을 생성할 수 있는 모델</a:t>
          </a:r>
          <a:endParaRPr lang="en-US" dirty="0"/>
        </a:p>
      </dgm:t>
    </dgm:pt>
    <dgm:pt modelId="{5EFEC9AA-5F65-4C6C-858D-02C5D30E3D5D}" type="parTrans" cxnId="{E7BB6545-7732-42D1-973A-F2EB05E47414}">
      <dgm:prSet/>
      <dgm:spPr/>
      <dgm:t>
        <a:bodyPr/>
        <a:lstStyle/>
        <a:p>
          <a:endParaRPr lang="en-US"/>
        </a:p>
      </dgm:t>
    </dgm:pt>
    <dgm:pt modelId="{BC4D3C53-2E1E-4F04-8F8D-CDB119683F8B}" type="sibTrans" cxnId="{E7BB6545-7732-42D1-973A-F2EB05E47414}">
      <dgm:prSet/>
      <dgm:spPr/>
      <dgm:t>
        <a:bodyPr/>
        <a:lstStyle/>
        <a:p>
          <a:endParaRPr lang="en-US"/>
        </a:p>
      </dgm:t>
    </dgm:pt>
    <dgm:pt modelId="{1CE47AE0-733F-456F-990B-F05F2194587B}">
      <dgm:prSet/>
      <dgm:spPr/>
      <dgm:t>
        <a:bodyPr/>
        <a:lstStyle/>
        <a:p>
          <a:r>
            <a:rPr lang="ko-KR" dirty="0"/>
            <a:t>대표 모델</a:t>
          </a:r>
          <a:endParaRPr lang="en-US" dirty="0"/>
        </a:p>
      </dgm:t>
    </dgm:pt>
    <dgm:pt modelId="{F498D80D-2097-48C7-A803-3A2EF84ED701}" type="parTrans" cxnId="{384CA040-C788-4B86-A0E4-3A99FEFC2DAD}">
      <dgm:prSet/>
      <dgm:spPr/>
      <dgm:t>
        <a:bodyPr/>
        <a:lstStyle/>
        <a:p>
          <a:endParaRPr lang="en-US"/>
        </a:p>
      </dgm:t>
    </dgm:pt>
    <dgm:pt modelId="{7DCD79B0-8CC0-451F-BA17-CA831EBEAC34}" type="sibTrans" cxnId="{384CA040-C788-4B86-A0E4-3A99FEFC2DAD}">
      <dgm:prSet/>
      <dgm:spPr/>
      <dgm:t>
        <a:bodyPr/>
        <a:lstStyle/>
        <a:p>
          <a:endParaRPr lang="en-US"/>
        </a:p>
      </dgm:t>
    </dgm:pt>
    <dgm:pt modelId="{BE58FA7F-8D58-4A11-9C5D-7C56ED074648}">
      <dgm:prSet/>
      <dgm:spPr/>
      <dgm:t>
        <a:bodyPr/>
        <a:lstStyle/>
        <a:p>
          <a:r>
            <a:rPr lang="en-US" dirty="0"/>
            <a:t>ChatGPT (OpenAI)</a:t>
          </a:r>
        </a:p>
      </dgm:t>
    </dgm:pt>
    <dgm:pt modelId="{1E41E8B3-96B4-4000-B0F0-C6E1C00121EB}" type="parTrans" cxnId="{1D976E06-B2C0-4D33-BAAA-A10AF70EED07}">
      <dgm:prSet/>
      <dgm:spPr/>
      <dgm:t>
        <a:bodyPr/>
        <a:lstStyle/>
        <a:p>
          <a:endParaRPr lang="en-US"/>
        </a:p>
      </dgm:t>
    </dgm:pt>
    <dgm:pt modelId="{EA4430F0-BFD1-40B3-BDFF-58D353172345}" type="sibTrans" cxnId="{1D976E06-B2C0-4D33-BAAA-A10AF70EED07}">
      <dgm:prSet/>
      <dgm:spPr/>
      <dgm:t>
        <a:bodyPr/>
        <a:lstStyle/>
        <a:p>
          <a:endParaRPr lang="en-US"/>
        </a:p>
      </dgm:t>
    </dgm:pt>
    <dgm:pt modelId="{6C364759-4EDB-4196-915A-3485A80F99CE}">
      <dgm:prSet/>
      <dgm:spPr/>
      <dgm:t>
        <a:bodyPr/>
        <a:lstStyle/>
        <a:p>
          <a:r>
            <a:rPr lang="en-US"/>
            <a:t>Claude (Anthropic)</a:t>
          </a:r>
        </a:p>
      </dgm:t>
    </dgm:pt>
    <dgm:pt modelId="{950624B6-1ABB-4245-A01D-42907C88689A}" type="parTrans" cxnId="{1E0FBA3A-E577-4581-B056-6420790E133E}">
      <dgm:prSet/>
      <dgm:spPr/>
      <dgm:t>
        <a:bodyPr/>
        <a:lstStyle/>
        <a:p>
          <a:endParaRPr lang="en-US"/>
        </a:p>
      </dgm:t>
    </dgm:pt>
    <dgm:pt modelId="{0A27F3B3-DE6C-4F33-A0A9-C065FEC31450}" type="sibTrans" cxnId="{1E0FBA3A-E577-4581-B056-6420790E133E}">
      <dgm:prSet/>
      <dgm:spPr/>
      <dgm:t>
        <a:bodyPr/>
        <a:lstStyle/>
        <a:p>
          <a:endParaRPr lang="en-US"/>
        </a:p>
      </dgm:t>
    </dgm:pt>
    <dgm:pt modelId="{1D70350D-EC0C-4E9B-A8DE-6E60BDFDFE91}">
      <dgm:prSet/>
      <dgm:spPr/>
      <dgm:t>
        <a:bodyPr/>
        <a:lstStyle/>
        <a:p>
          <a:r>
            <a:rPr lang="en-US" dirty="0"/>
            <a:t>Gemini (Google)</a:t>
          </a:r>
        </a:p>
      </dgm:t>
    </dgm:pt>
    <dgm:pt modelId="{A2085F00-7619-4684-9873-E1BEC2687FEB}" type="parTrans" cxnId="{44693BF5-4AEE-4EE2-92B5-9370EB06DE40}">
      <dgm:prSet/>
      <dgm:spPr/>
      <dgm:t>
        <a:bodyPr/>
        <a:lstStyle/>
        <a:p>
          <a:endParaRPr lang="en-US"/>
        </a:p>
      </dgm:t>
    </dgm:pt>
    <dgm:pt modelId="{C3829E68-5E76-4A87-8098-1F01056CCE48}" type="sibTrans" cxnId="{44693BF5-4AEE-4EE2-92B5-9370EB06DE40}">
      <dgm:prSet/>
      <dgm:spPr/>
      <dgm:t>
        <a:bodyPr/>
        <a:lstStyle/>
        <a:p>
          <a:endParaRPr lang="en-US"/>
        </a:p>
      </dgm:t>
    </dgm:pt>
    <dgm:pt modelId="{BCC53520-8C9D-4906-B897-F044AC0A762D}" type="pres">
      <dgm:prSet presAssocID="{7F8D1A5A-4248-40E9-85E8-04230CB5D12C}" presName="Name0" presStyleCnt="0">
        <dgm:presLayoutVars>
          <dgm:dir/>
          <dgm:animLvl val="lvl"/>
          <dgm:resizeHandles val="exact"/>
        </dgm:presLayoutVars>
      </dgm:prSet>
      <dgm:spPr/>
    </dgm:pt>
    <dgm:pt modelId="{83013FEC-1DD6-4C3A-9B1C-AB76098A7141}" type="pres">
      <dgm:prSet presAssocID="{1CE47AE0-733F-456F-990B-F05F2194587B}" presName="boxAndChildren" presStyleCnt="0"/>
      <dgm:spPr/>
    </dgm:pt>
    <dgm:pt modelId="{F22260DC-D709-4C93-B937-28885A6945EC}" type="pres">
      <dgm:prSet presAssocID="{1CE47AE0-733F-456F-990B-F05F2194587B}" presName="parentTextBox" presStyleLbl="node1" presStyleIdx="0" presStyleCnt="2"/>
      <dgm:spPr/>
    </dgm:pt>
    <dgm:pt modelId="{D68E0245-0807-4382-A592-640CD295628B}" type="pres">
      <dgm:prSet presAssocID="{1CE47AE0-733F-456F-990B-F05F2194587B}" presName="entireBox" presStyleLbl="node1" presStyleIdx="0" presStyleCnt="2"/>
      <dgm:spPr/>
    </dgm:pt>
    <dgm:pt modelId="{17BFE785-8365-4B44-A5BD-490750DF80C0}" type="pres">
      <dgm:prSet presAssocID="{1CE47AE0-733F-456F-990B-F05F2194587B}" presName="descendantBox" presStyleCnt="0"/>
      <dgm:spPr/>
    </dgm:pt>
    <dgm:pt modelId="{14BED8DC-7B19-47C3-B1A3-F0A5C40B52AA}" type="pres">
      <dgm:prSet presAssocID="{BE58FA7F-8D58-4A11-9C5D-7C56ED074648}" presName="childTextBox" presStyleLbl="fgAccFollowNode1" presStyleIdx="0" presStyleCnt="3">
        <dgm:presLayoutVars>
          <dgm:bulletEnabled val="1"/>
        </dgm:presLayoutVars>
      </dgm:prSet>
      <dgm:spPr/>
    </dgm:pt>
    <dgm:pt modelId="{19F3AB06-84DF-4F05-80E1-8BAFCC7958B1}" type="pres">
      <dgm:prSet presAssocID="{6C364759-4EDB-4196-915A-3485A80F99CE}" presName="childTextBox" presStyleLbl="fgAccFollowNode1" presStyleIdx="1" presStyleCnt="3">
        <dgm:presLayoutVars>
          <dgm:bulletEnabled val="1"/>
        </dgm:presLayoutVars>
      </dgm:prSet>
      <dgm:spPr/>
    </dgm:pt>
    <dgm:pt modelId="{11C45E2C-1270-4577-AB55-6BD44BBEEEBB}" type="pres">
      <dgm:prSet presAssocID="{1D70350D-EC0C-4E9B-A8DE-6E60BDFDFE91}" presName="childTextBox" presStyleLbl="fgAccFollowNode1" presStyleIdx="2" presStyleCnt="3">
        <dgm:presLayoutVars>
          <dgm:bulletEnabled val="1"/>
        </dgm:presLayoutVars>
      </dgm:prSet>
      <dgm:spPr/>
    </dgm:pt>
    <dgm:pt modelId="{7DD7D1C2-9F4D-4011-8D86-6061D221D240}" type="pres">
      <dgm:prSet presAssocID="{BC4D3C53-2E1E-4F04-8F8D-CDB119683F8B}" presName="sp" presStyleCnt="0"/>
      <dgm:spPr/>
    </dgm:pt>
    <dgm:pt modelId="{FC146DE1-EA91-4449-83F3-63BC93E488FD}" type="pres">
      <dgm:prSet presAssocID="{165D94E2-134F-430B-A043-7B336CC42BDA}" presName="arrowAndChildren" presStyleCnt="0"/>
      <dgm:spPr/>
    </dgm:pt>
    <dgm:pt modelId="{75E5CAE0-09E0-45D3-A492-6E8F32F11931}" type="pres">
      <dgm:prSet presAssocID="{165D94E2-134F-430B-A043-7B336CC42BDA}" presName="parentTextArrow" presStyleLbl="node1" presStyleIdx="1" presStyleCnt="2"/>
      <dgm:spPr/>
    </dgm:pt>
  </dgm:ptLst>
  <dgm:cxnLst>
    <dgm:cxn modelId="{1D976E06-B2C0-4D33-BAAA-A10AF70EED07}" srcId="{1CE47AE0-733F-456F-990B-F05F2194587B}" destId="{BE58FA7F-8D58-4A11-9C5D-7C56ED074648}" srcOrd="0" destOrd="0" parTransId="{1E41E8B3-96B4-4000-B0F0-C6E1C00121EB}" sibTransId="{EA4430F0-BFD1-40B3-BDFF-58D353172345}"/>
    <dgm:cxn modelId="{BE1D6C20-09BF-44F3-AE64-43E909166509}" type="presOf" srcId="{7F8D1A5A-4248-40E9-85E8-04230CB5D12C}" destId="{BCC53520-8C9D-4906-B897-F044AC0A762D}" srcOrd="0" destOrd="0" presId="urn:microsoft.com/office/officeart/2005/8/layout/process4"/>
    <dgm:cxn modelId="{92418F25-5325-456C-9AFF-9B38D70D534D}" type="presOf" srcId="{1CE47AE0-733F-456F-990B-F05F2194587B}" destId="{F22260DC-D709-4C93-B937-28885A6945EC}" srcOrd="0" destOrd="0" presId="urn:microsoft.com/office/officeart/2005/8/layout/process4"/>
    <dgm:cxn modelId="{573EDB30-37D1-4C9F-903B-2B496CCD8532}" type="presOf" srcId="{165D94E2-134F-430B-A043-7B336CC42BDA}" destId="{75E5CAE0-09E0-45D3-A492-6E8F32F11931}" srcOrd="0" destOrd="0" presId="urn:microsoft.com/office/officeart/2005/8/layout/process4"/>
    <dgm:cxn modelId="{1E0FBA3A-E577-4581-B056-6420790E133E}" srcId="{1CE47AE0-733F-456F-990B-F05F2194587B}" destId="{6C364759-4EDB-4196-915A-3485A80F99CE}" srcOrd="1" destOrd="0" parTransId="{950624B6-1ABB-4245-A01D-42907C88689A}" sibTransId="{0A27F3B3-DE6C-4F33-A0A9-C065FEC31450}"/>
    <dgm:cxn modelId="{384CA040-C788-4B86-A0E4-3A99FEFC2DAD}" srcId="{7F8D1A5A-4248-40E9-85E8-04230CB5D12C}" destId="{1CE47AE0-733F-456F-990B-F05F2194587B}" srcOrd="1" destOrd="0" parTransId="{F498D80D-2097-48C7-A803-3A2EF84ED701}" sibTransId="{7DCD79B0-8CC0-451F-BA17-CA831EBEAC34}"/>
    <dgm:cxn modelId="{A23D5C45-6D66-46CA-BC10-FFAE3E13478F}" type="presOf" srcId="{BE58FA7F-8D58-4A11-9C5D-7C56ED074648}" destId="{14BED8DC-7B19-47C3-B1A3-F0A5C40B52AA}" srcOrd="0" destOrd="0" presId="urn:microsoft.com/office/officeart/2005/8/layout/process4"/>
    <dgm:cxn modelId="{E7BB6545-7732-42D1-973A-F2EB05E47414}" srcId="{7F8D1A5A-4248-40E9-85E8-04230CB5D12C}" destId="{165D94E2-134F-430B-A043-7B336CC42BDA}" srcOrd="0" destOrd="0" parTransId="{5EFEC9AA-5F65-4C6C-858D-02C5D30E3D5D}" sibTransId="{BC4D3C53-2E1E-4F04-8F8D-CDB119683F8B}"/>
    <dgm:cxn modelId="{344B7C71-E142-484E-A9BE-F54B4210E1DF}" type="presOf" srcId="{6C364759-4EDB-4196-915A-3485A80F99CE}" destId="{19F3AB06-84DF-4F05-80E1-8BAFCC7958B1}" srcOrd="0" destOrd="0" presId="urn:microsoft.com/office/officeart/2005/8/layout/process4"/>
    <dgm:cxn modelId="{35C9FACA-6E60-4670-B978-EE5D786304E8}" type="presOf" srcId="{1CE47AE0-733F-456F-990B-F05F2194587B}" destId="{D68E0245-0807-4382-A592-640CD295628B}" srcOrd="1" destOrd="0" presId="urn:microsoft.com/office/officeart/2005/8/layout/process4"/>
    <dgm:cxn modelId="{44693BF5-4AEE-4EE2-92B5-9370EB06DE40}" srcId="{1CE47AE0-733F-456F-990B-F05F2194587B}" destId="{1D70350D-EC0C-4E9B-A8DE-6E60BDFDFE91}" srcOrd="2" destOrd="0" parTransId="{A2085F00-7619-4684-9873-E1BEC2687FEB}" sibTransId="{C3829E68-5E76-4A87-8098-1F01056CCE48}"/>
    <dgm:cxn modelId="{4E6025FB-7242-44F6-8086-F7CA78BA5F9B}" type="presOf" srcId="{1D70350D-EC0C-4E9B-A8DE-6E60BDFDFE91}" destId="{11C45E2C-1270-4577-AB55-6BD44BBEEEBB}" srcOrd="0" destOrd="0" presId="urn:microsoft.com/office/officeart/2005/8/layout/process4"/>
    <dgm:cxn modelId="{755813D8-71A7-4BA9-BAB8-92A13CA68A4B}" type="presParOf" srcId="{BCC53520-8C9D-4906-B897-F044AC0A762D}" destId="{83013FEC-1DD6-4C3A-9B1C-AB76098A7141}" srcOrd="0" destOrd="0" presId="urn:microsoft.com/office/officeart/2005/8/layout/process4"/>
    <dgm:cxn modelId="{681E2745-E789-499D-A64D-C341A5B0D422}" type="presParOf" srcId="{83013FEC-1DD6-4C3A-9B1C-AB76098A7141}" destId="{F22260DC-D709-4C93-B937-28885A6945EC}" srcOrd="0" destOrd="0" presId="urn:microsoft.com/office/officeart/2005/8/layout/process4"/>
    <dgm:cxn modelId="{0923D923-F42D-40EE-B66D-F35B92D143E8}" type="presParOf" srcId="{83013FEC-1DD6-4C3A-9B1C-AB76098A7141}" destId="{D68E0245-0807-4382-A592-640CD295628B}" srcOrd="1" destOrd="0" presId="urn:microsoft.com/office/officeart/2005/8/layout/process4"/>
    <dgm:cxn modelId="{5B630A10-C7A9-4040-ABB9-4D3BF3CFC0E2}" type="presParOf" srcId="{83013FEC-1DD6-4C3A-9B1C-AB76098A7141}" destId="{17BFE785-8365-4B44-A5BD-490750DF80C0}" srcOrd="2" destOrd="0" presId="urn:microsoft.com/office/officeart/2005/8/layout/process4"/>
    <dgm:cxn modelId="{5B8C19D6-529A-4A34-A5B3-AC215519AE1C}" type="presParOf" srcId="{17BFE785-8365-4B44-A5BD-490750DF80C0}" destId="{14BED8DC-7B19-47C3-B1A3-F0A5C40B52AA}" srcOrd="0" destOrd="0" presId="urn:microsoft.com/office/officeart/2005/8/layout/process4"/>
    <dgm:cxn modelId="{D8F37A69-FFE6-4AD3-970C-B46EC4516CEB}" type="presParOf" srcId="{17BFE785-8365-4B44-A5BD-490750DF80C0}" destId="{19F3AB06-84DF-4F05-80E1-8BAFCC7958B1}" srcOrd="1" destOrd="0" presId="urn:microsoft.com/office/officeart/2005/8/layout/process4"/>
    <dgm:cxn modelId="{21125962-1710-4A1E-B21E-8AC9EC860F9F}" type="presParOf" srcId="{17BFE785-8365-4B44-A5BD-490750DF80C0}" destId="{11C45E2C-1270-4577-AB55-6BD44BBEEEBB}" srcOrd="2" destOrd="0" presId="urn:microsoft.com/office/officeart/2005/8/layout/process4"/>
    <dgm:cxn modelId="{1ABAD514-6AE3-433E-A866-B5E2B9318739}" type="presParOf" srcId="{BCC53520-8C9D-4906-B897-F044AC0A762D}" destId="{7DD7D1C2-9F4D-4011-8D86-6061D221D240}" srcOrd="1" destOrd="0" presId="urn:microsoft.com/office/officeart/2005/8/layout/process4"/>
    <dgm:cxn modelId="{F48E7D74-DDEA-4A4E-9943-0E68A5271B1C}" type="presParOf" srcId="{BCC53520-8C9D-4906-B897-F044AC0A762D}" destId="{FC146DE1-EA91-4449-83F3-63BC93E488FD}" srcOrd="2" destOrd="0" presId="urn:microsoft.com/office/officeart/2005/8/layout/process4"/>
    <dgm:cxn modelId="{8B41213A-A762-40D6-9A2D-16A1A5862DF8}" type="presParOf" srcId="{FC146DE1-EA91-4449-83F3-63BC93E488FD}" destId="{75E5CAE0-09E0-45D3-A492-6E8F32F1193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BA13D3-4CAD-464C-AD00-17FBFC3F1F9C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EC1723-956A-481B-8FB0-5B413EC8701C}">
      <dgm:prSet/>
      <dgm:spPr/>
      <dgm:t>
        <a:bodyPr/>
        <a:lstStyle/>
        <a:p>
          <a:r>
            <a:rPr lang="ko-KR" dirty="0"/>
            <a:t>입력 텍스트</a:t>
          </a:r>
          <a:endParaRPr lang="en-US" dirty="0"/>
        </a:p>
      </dgm:t>
    </dgm:pt>
    <dgm:pt modelId="{2B1CAF4E-7548-4512-9D91-16217A035785}" type="parTrans" cxnId="{11FDF707-7063-444B-B5F2-C962CDF67ECA}">
      <dgm:prSet/>
      <dgm:spPr/>
      <dgm:t>
        <a:bodyPr/>
        <a:lstStyle/>
        <a:p>
          <a:endParaRPr lang="en-US"/>
        </a:p>
      </dgm:t>
    </dgm:pt>
    <dgm:pt modelId="{94AB0B0C-54BA-4AD1-BABD-089F1B88171C}" type="sibTrans" cxnId="{11FDF707-7063-444B-B5F2-C962CDF67ECA}">
      <dgm:prSet/>
      <dgm:spPr/>
      <dgm:t>
        <a:bodyPr/>
        <a:lstStyle/>
        <a:p>
          <a:endParaRPr lang="en-US"/>
        </a:p>
      </dgm:t>
    </dgm:pt>
    <dgm:pt modelId="{4D1AE944-D726-4C9B-A819-4783744365F6}">
      <dgm:prSet/>
      <dgm:spPr/>
      <dgm:t>
        <a:bodyPr/>
        <a:lstStyle/>
        <a:p>
          <a:r>
            <a:rPr lang="ko-KR"/>
            <a:t>토큰화</a:t>
          </a:r>
          <a:endParaRPr lang="en-US"/>
        </a:p>
      </dgm:t>
    </dgm:pt>
    <dgm:pt modelId="{2379DADB-92FD-4F3F-9D04-F8595C6AC5B1}" type="parTrans" cxnId="{D4A86FC3-BBCC-4535-B5B1-7B2739FA391C}">
      <dgm:prSet/>
      <dgm:spPr/>
      <dgm:t>
        <a:bodyPr/>
        <a:lstStyle/>
        <a:p>
          <a:endParaRPr lang="en-US"/>
        </a:p>
      </dgm:t>
    </dgm:pt>
    <dgm:pt modelId="{5A64690D-EF21-4D44-81BF-EB350367FC06}" type="sibTrans" cxnId="{D4A86FC3-BBCC-4535-B5B1-7B2739FA391C}">
      <dgm:prSet/>
      <dgm:spPr/>
      <dgm:t>
        <a:bodyPr/>
        <a:lstStyle/>
        <a:p>
          <a:endParaRPr lang="en-US"/>
        </a:p>
      </dgm:t>
    </dgm:pt>
    <dgm:pt modelId="{269DA1A1-75A9-4FFA-A90D-597926775F57}">
      <dgm:prSet/>
      <dgm:spPr/>
      <dgm:t>
        <a:bodyPr/>
        <a:lstStyle/>
        <a:p>
          <a:r>
            <a:rPr lang="ko-KR" dirty="0"/>
            <a:t>컨텍스트 분석</a:t>
          </a:r>
          <a:endParaRPr lang="en-US" dirty="0"/>
        </a:p>
      </dgm:t>
    </dgm:pt>
    <dgm:pt modelId="{4F380BFD-9224-4C6A-8C45-8A37693576BA}" type="parTrans" cxnId="{D3820800-2A5C-4D36-BFAE-E67704BF38EF}">
      <dgm:prSet/>
      <dgm:spPr/>
      <dgm:t>
        <a:bodyPr/>
        <a:lstStyle/>
        <a:p>
          <a:endParaRPr lang="en-US"/>
        </a:p>
      </dgm:t>
    </dgm:pt>
    <dgm:pt modelId="{9AA8EF2B-50AF-4BD8-8E4D-07ACA5871C45}" type="sibTrans" cxnId="{D3820800-2A5C-4D36-BFAE-E67704BF38EF}">
      <dgm:prSet/>
      <dgm:spPr/>
      <dgm:t>
        <a:bodyPr/>
        <a:lstStyle/>
        <a:p>
          <a:endParaRPr lang="en-US"/>
        </a:p>
      </dgm:t>
    </dgm:pt>
    <dgm:pt modelId="{8B455C21-7C1D-4EE7-9BC7-30E041BA31B4}">
      <dgm:prSet/>
      <dgm:spPr/>
      <dgm:t>
        <a:bodyPr/>
        <a:lstStyle/>
        <a:p>
          <a:r>
            <a:rPr lang="ko-KR"/>
            <a:t>다음 단어 예측 반복</a:t>
          </a:r>
          <a:endParaRPr lang="en-US"/>
        </a:p>
      </dgm:t>
    </dgm:pt>
    <dgm:pt modelId="{5B1DC367-9C12-4D38-8456-F286CBCA2B01}" type="parTrans" cxnId="{4CCF9B20-F379-48D1-8C75-E6BC4A608814}">
      <dgm:prSet/>
      <dgm:spPr/>
      <dgm:t>
        <a:bodyPr/>
        <a:lstStyle/>
        <a:p>
          <a:endParaRPr lang="en-US"/>
        </a:p>
      </dgm:t>
    </dgm:pt>
    <dgm:pt modelId="{CF980B11-F065-4C57-A09F-4FFC7B62785A}" type="sibTrans" cxnId="{4CCF9B20-F379-48D1-8C75-E6BC4A608814}">
      <dgm:prSet/>
      <dgm:spPr/>
      <dgm:t>
        <a:bodyPr/>
        <a:lstStyle/>
        <a:p>
          <a:endParaRPr lang="en-US"/>
        </a:p>
      </dgm:t>
    </dgm:pt>
    <dgm:pt modelId="{630C2573-B627-41FC-8BA3-A62B84F9090A}">
      <dgm:prSet/>
      <dgm:spPr/>
      <dgm:t>
        <a:bodyPr/>
        <a:lstStyle/>
        <a:p>
          <a:r>
            <a:rPr lang="ko-KR"/>
            <a:t>출력 생성</a:t>
          </a:r>
          <a:endParaRPr lang="en-US"/>
        </a:p>
      </dgm:t>
    </dgm:pt>
    <dgm:pt modelId="{B6C566AD-4BFA-4298-8FE8-68BA946217F0}" type="parTrans" cxnId="{265C6CD7-5629-463A-A393-51EE0A5C69EA}">
      <dgm:prSet/>
      <dgm:spPr/>
      <dgm:t>
        <a:bodyPr/>
        <a:lstStyle/>
        <a:p>
          <a:endParaRPr lang="en-US"/>
        </a:p>
      </dgm:t>
    </dgm:pt>
    <dgm:pt modelId="{68105CBD-D3C8-4D9D-8F9A-26030E470485}" type="sibTrans" cxnId="{265C6CD7-5629-463A-A393-51EE0A5C69EA}">
      <dgm:prSet/>
      <dgm:spPr/>
      <dgm:t>
        <a:bodyPr/>
        <a:lstStyle/>
        <a:p>
          <a:endParaRPr lang="en-US"/>
        </a:p>
      </dgm:t>
    </dgm:pt>
    <dgm:pt modelId="{2E8A0AF7-B2AF-4F6D-BFC0-9719464F8E7D}" type="pres">
      <dgm:prSet presAssocID="{69BA13D3-4CAD-464C-AD00-17FBFC3F1F9C}" presName="Name0" presStyleCnt="0">
        <dgm:presLayoutVars>
          <dgm:dir/>
          <dgm:resizeHandles val="exact"/>
        </dgm:presLayoutVars>
      </dgm:prSet>
      <dgm:spPr/>
    </dgm:pt>
    <dgm:pt modelId="{5AC2332C-319D-4ACE-97E9-25D7B97DDA20}" type="pres">
      <dgm:prSet presAssocID="{5FEC1723-956A-481B-8FB0-5B413EC8701C}" presName="node" presStyleLbl="node1" presStyleIdx="0" presStyleCnt="5">
        <dgm:presLayoutVars>
          <dgm:bulletEnabled val="1"/>
        </dgm:presLayoutVars>
      </dgm:prSet>
      <dgm:spPr/>
    </dgm:pt>
    <dgm:pt modelId="{8D3C9FDB-922A-4E14-86A3-10F944308611}" type="pres">
      <dgm:prSet presAssocID="{94AB0B0C-54BA-4AD1-BABD-089F1B88171C}" presName="sibTrans" presStyleLbl="sibTrans2D1" presStyleIdx="0" presStyleCnt="4"/>
      <dgm:spPr/>
    </dgm:pt>
    <dgm:pt modelId="{D88AB74C-315E-4CA2-ADE1-BF5A38A9ECC8}" type="pres">
      <dgm:prSet presAssocID="{94AB0B0C-54BA-4AD1-BABD-089F1B88171C}" presName="connectorText" presStyleLbl="sibTrans2D1" presStyleIdx="0" presStyleCnt="4"/>
      <dgm:spPr/>
    </dgm:pt>
    <dgm:pt modelId="{F1864560-320C-4745-8BBF-DC4D74EC4865}" type="pres">
      <dgm:prSet presAssocID="{4D1AE944-D726-4C9B-A819-4783744365F6}" presName="node" presStyleLbl="node1" presStyleIdx="1" presStyleCnt="5">
        <dgm:presLayoutVars>
          <dgm:bulletEnabled val="1"/>
        </dgm:presLayoutVars>
      </dgm:prSet>
      <dgm:spPr/>
    </dgm:pt>
    <dgm:pt modelId="{F770EC4B-301F-4F3A-AED4-4DB0C9BD88F5}" type="pres">
      <dgm:prSet presAssocID="{5A64690D-EF21-4D44-81BF-EB350367FC06}" presName="sibTrans" presStyleLbl="sibTrans2D1" presStyleIdx="1" presStyleCnt="4"/>
      <dgm:spPr/>
    </dgm:pt>
    <dgm:pt modelId="{9BCC9841-BC62-43F9-84A3-FC9EDB6806DB}" type="pres">
      <dgm:prSet presAssocID="{5A64690D-EF21-4D44-81BF-EB350367FC06}" presName="connectorText" presStyleLbl="sibTrans2D1" presStyleIdx="1" presStyleCnt="4"/>
      <dgm:spPr/>
    </dgm:pt>
    <dgm:pt modelId="{9F082B46-7C2C-430E-BBFB-DFD1206891E4}" type="pres">
      <dgm:prSet presAssocID="{269DA1A1-75A9-4FFA-A90D-597926775F57}" presName="node" presStyleLbl="node1" presStyleIdx="2" presStyleCnt="5">
        <dgm:presLayoutVars>
          <dgm:bulletEnabled val="1"/>
        </dgm:presLayoutVars>
      </dgm:prSet>
      <dgm:spPr/>
    </dgm:pt>
    <dgm:pt modelId="{3792FDB3-779E-4BF4-8F7F-3AC4FD9C6AF9}" type="pres">
      <dgm:prSet presAssocID="{9AA8EF2B-50AF-4BD8-8E4D-07ACA5871C45}" presName="sibTrans" presStyleLbl="sibTrans2D1" presStyleIdx="2" presStyleCnt="4"/>
      <dgm:spPr/>
    </dgm:pt>
    <dgm:pt modelId="{987FE109-E212-4440-AF25-DDCBD9EAE150}" type="pres">
      <dgm:prSet presAssocID="{9AA8EF2B-50AF-4BD8-8E4D-07ACA5871C45}" presName="connectorText" presStyleLbl="sibTrans2D1" presStyleIdx="2" presStyleCnt="4"/>
      <dgm:spPr/>
    </dgm:pt>
    <dgm:pt modelId="{8C85E207-0136-4D87-8665-86BDD102196D}" type="pres">
      <dgm:prSet presAssocID="{8B455C21-7C1D-4EE7-9BC7-30E041BA31B4}" presName="node" presStyleLbl="node1" presStyleIdx="3" presStyleCnt="5">
        <dgm:presLayoutVars>
          <dgm:bulletEnabled val="1"/>
        </dgm:presLayoutVars>
      </dgm:prSet>
      <dgm:spPr/>
    </dgm:pt>
    <dgm:pt modelId="{2DAF4B18-C0C7-4606-ABB2-FE03574372EF}" type="pres">
      <dgm:prSet presAssocID="{CF980B11-F065-4C57-A09F-4FFC7B62785A}" presName="sibTrans" presStyleLbl="sibTrans2D1" presStyleIdx="3" presStyleCnt="4"/>
      <dgm:spPr/>
    </dgm:pt>
    <dgm:pt modelId="{BE250376-BA3E-4B99-9D83-65B06CDFFE7D}" type="pres">
      <dgm:prSet presAssocID="{CF980B11-F065-4C57-A09F-4FFC7B62785A}" presName="connectorText" presStyleLbl="sibTrans2D1" presStyleIdx="3" presStyleCnt="4"/>
      <dgm:spPr/>
    </dgm:pt>
    <dgm:pt modelId="{7BC62548-5BE8-45E8-BEDF-01AA4708F7F2}" type="pres">
      <dgm:prSet presAssocID="{630C2573-B627-41FC-8BA3-A62B84F9090A}" presName="node" presStyleLbl="node1" presStyleIdx="4" presStyleCnt="5">
        <dgm:presLayoutVars>
          <dgm:bulletEnabled val="1"/>
        </dgm:presLayoutVars>
      </dgm:prSet>
      <dgm:spPr/>
    </dgm:pt>
  </dgm:ptLst>
  <dgm:cxnLst>
    <dgm:cxn modelId="{D3820800-2A5C-4D36-BFAE-E67704BF38EF}" srcId="{69BA13D3-4CAD-464C-AD00-17FBFC3F1F9C}" destId="{269DA1A1-75A9-4FFA-A90D-597926775F57}" srcOrd="2" destOrd="0" parTransId="{4F380BFD-9224-4C6A-8C45-8A37693576BA}" sibTransId="{9AA8EF2B-50AF-4BD8-8E4D-07ACA5871C45}"/>
    <dgm:cxn modelId="{11FDF707-7063-444B-B5F2-C962CDF67ECA}" srcId="{69BA13D3-4CAD-464C-AD00-17FBFC3F1F9C}" destId="{5FEC1723-956A-481B-8FB0-5B413EC8701C}" srcOrd="0" destOrd="0" parTransId="{2B1CAF4E-7548-4512-9D91-16217A035785}" sibTransId="{94AB0B0C-54BA-4AD1-BABD-089F1B88171C}"/>
    <dgm:cxn modelId="{89852810-D052-43FD-A595-2243CF5E86C1}" type="presOf" srcId="{9AA8EF2B-50AF-4BD8-8E4D-07ACA5871C45}" destId="{3792FDB3-779E-4BF4-8F7F-3AC4FD9C6AF9}" srcOrd="0" destOrd="0" presId="urn:microsoft.com/office/officeart/2005/8/layout/process1"/>
    <dgm:cxn modelId="{C66AC810-863D-4422-9CCD-C50169A71D67}" type="presOf" srcId="{CF980B11-F065-4C57-A09F-4FFC7B62785A}" destId="{2DAF4B18-C0C7-4606-ABB2-FE03574372EF}" srcOrd="0" destOrd="0" presId="urn:microsoft.com/office/officeart/2005/8/layout/process1"/>
    <dgm:cxn modelId="{4CCF9B20-F379-48D1-8C75-E6BC4A608814}" srcId="{69BA13D3-4CAD-464C-AD00-17FBFC3F1F9C}" destId="{8B455C21-7C1D-4EE7-9BC7-30E041BA31B4}" srcOrd="3" destOrd="0" parTransId="{5B1DC367-9C12-4D38-8456-F286CBCA2B01}" sibTransId="{CF980B11-F065-4C57-A09F-4FFC7B62785A}"/>
    <dgm:cxn modelId="{4E97D226-CF59-4F98-8AFB-72FD263AC111}" type="presOf" srcId="{8B455C21-7C1D-4EE7-9BC7-30E041BA31B4}" destId="{8C85E207-0136-4D87-8665-86BDD102196D}" srcOrd="0" destOrd="0" presId="urn:microsoft.com/office/officeart/2005/8/layout/process1"/>
    <dgm:cxn modelId="{485D4B31-0A70-4E5E-AB23-85B4A58EFEC0}" type="presOf" srcId="{5A64690D-EF21-4D44-81BF-EB350367FC06}" destId="{F770EC4B-301F-4F3A-AED4-4DB0C9BD88F5}" srcOrd="0" destOrd="0" presId="urn:microsoft.com/office/officeart/2005/8/layout/process1"/>
    <dgm:cxn modelId="{66307936-37BE-4E19-AB47-6C17E6EACF63}" type="presOf" srcId="{94AB0B0C-54BA-4AD1-BABD-089F1B88171C}" destId="{8D3C9FDB-922A-4E14-86A3-10F944308611}" srcOrd="0" destOrd="0" presId="urn:microsoft.com/office/officeart/2005/8/layout/process1"/>
    <dgm:cxn modelId="{00F85447-10B4-45CD-AD1D-5DC443272FBA}" type="presOf" srcId="{69BA13D3-4CAD-464C-AD00-17FBFC3F1F9C}" destId="{2E8A0AF7-B2AF-4F6D-BFC0-9719464F8E7D}" srcOrd="0" destOrd="0" presId="urn:microsoft.com/office/officeart/2005/8/layout/process1"/>
    <dgm:cxn modelId="{1B97BD70-65F9-4D42-9E12-C661EE70B465}" type="presOf" srcId="{5FEC1723-956A-481B-8FB0-5B413EC8701C}" destId="{5AC2332C-319D-4ACE-97E9-25D7B97DDA20}" srcOrd="0" destOrd="0" presId="urn:microsoft.com/office/officeart/2005/8/layout/process1"/>
    <dgm:cxn modelId="{1A16DE7A-AB09-437C-B3F9-9C095DC444EF}" type="presOf" srcId="{630C2573-B627-41FC-8BA3-A62B84F9090A}" destId="{7BC62548-5BE8-45E8-BEDF-01AA4708F7F2}" srcOrd="0" destOrd="0" presId="urn:microsoft.com/office/officeart/2005/8/layout/process1"/>
    <dgm:cxn modelId="{BC8BE98F-414A-4523-ADAC-4BFC0FF3450A}" type="presOf" srcId="{4D1AE944-D726-4C9B-A819-4783744365F6}" destId="{F1864560-320C-4745-8BBF-DC4D74EC4865}" srcOrd="0" destOrd="0" presId="urn:microsoft.com/office/officeart/2005/8/layout/process1"/>
    <dgm:cxn modelId="{127BEE9B-90E6-42EB-ADF9-06C0A0C86799}" type="presOf" srcId="{269DA1A1-75A9-4FFA-A90D-597926775F57}" destId="{9F082B46-7C2C-430E-BBFB-DFD1206891E4}" srcOrd="0" destOrd="0" presId="urn:microsoft.com/office/officeart/2005/8/layout/process1"/>
    <dgm:cxn modelId="{3638CDA5-E056-4BFC-A370-C06284E85152}" type="presOf" srcId="{9AA8EF2B-50AF-4BD8-8E4D-07ACA5871C45}" destId="{987FE109-E212-4440-AF25-DDCBD9EAE150}" srcOrd="1" destOrd="0" presId="urn:microsoft.com/office/officeart/2005/8/layout/process1"/>
    <dgm:cxn modelId="{B7B278B9-8AB7-4AAD-8C0F-B96D5BDE7103}" type="presOf" srcId="{CF980B11-F065-4C57-A09F-4FFC7B62785A}" destId="{BE250376-BA3E-4B99-9D83-65B06CDFFE7D}" srcOrd="1" destOrd="0" presId="urn:microsoft.com/office/officeart/2005/8/layout/process1"/>
    <dgm:cxn modelId="{9402E8BA-8E9E-4197-AFD8-53BA7C14A224}" type="presOf" srcId="{94AB0B0C-54BA-4AD1-BABD-089F1B88171C}" destId="{D88AB74C-315E-4CA2-ADE1-BF5A38A9ECC8}" srcOrd="1" destOrd="0" presId="urn:microsoft.com/office/officeart/2005/8/layout/process1"/>
    <dgm:cxn modelId="{D4A86FC3-BBCC-4535-B5B1-7B2739FA391C}" srcId="{69BA13D3-4CAD-464C-AD00-17FBFC3F1F9C}" destId="{4D1AE944-D726-4C9B-A819-4783744365F6}" srcOrd="1" destOrd="0" parTransId="{2379DADB-92FD-4F3F-9D04-F8595C6AC5B1}" sibTransId="{5A64690D-EF21-4D44-81BF-EB350367FC06}"/>
    <dgm:cxn modelId="{265C6CD7-5629-463A-A393-51EE0A5C69EA}" srcId="{69BA13D3-4CAD-464C-AD00-17FBFC3F1F9C}" destId="{630C2573-B627-41FC-8BA3-A62B84F9090A}" srcOrd="4" destOrd="0" parTransId="{B6C566AD-4BFA-4298-8FE8-68BA946217F0}" sibTransId="{68105CBD-D3C8-4D9D-8F9A-26030E470485}"/>
    <dgm:cxn modelId="{00C926F2-1FAF-4A9E-ADB0-225050E55E55}" type="presOf" srcId="{5A64690D-EF21-4D44-81BF-EB350367FC06}" destId="{9BCC9841-BC62-43F9-84A3-FC9EDB6806DB}" srcOrd="1" destOrd="0" presId="urn:microsoft.com/office/officeart/2005/8/layout/process1"/>
    <dgm:cxn modelId="{5D1CD5D1-921A-4B16-B9AA-08DC0FB45E7C}" type="presParOf" srcId="{2E8A0AF7-B2AF-4F6D-BFC0-9719464F8E7D}" destId="{5AC2332C-319D-4ACE-97E9-25D7B97DDA20}" srcOrd="0" destOrd="0" presId="urn:microsoft.com/office/officeart/2005/8/layout/process1"/>
    <dgm:cxn modelId="{AF5F5921-E7E9-4B7B-85DD-60A26DAADE3B}" type="presParOf" srcId="{2E8A0AF7-B2AF-4F6D-BFC0-9719464F8E7D}" destId="{8D3C9FDB-922A-4E14-86A3-10F944308611}" srcOrd="1" destOrd="0" presId="urn:microsoft.com/office/officeart/2005/8/layout/process1"/>
    <dgm:cxn modelId="{D38AD1BA-0974-4DD2-AF88-3C403E1AD4F4}" type="presParOf" srcId="{8D3C9FDB-922A-4E14-86A3-10F944308611}" destId="{D88AB74C-315E-4CA2-ADE1-BF5A38A9ECC8}" srcOrd="0" destOrd="0" presId="urn:microsoft.com/office/officeart/2005/8/layout/process1"/>
    <dgm:cxn modelId="{20A2B1AF-F8C9-4456-A65E-12705F87C861}" type="presParOf" srcId="{2E8A0AF7-B2AF-4F6D-BFC0-9719464F8E7D}" destId="{F1864560-320C-4745-8BBF-DC4D74EC4865}" srcOrd="2" destOrd="0" presId="urn:microsoft.com/office/officeart/2005/8/layout/process1"/>
    <dgm:cxn modelId="{D4E00648-BE2F-4EB2-B3A3-117B7BD556D0}" type="presParOf" srcId="{2E8A0AF7-B2AF-4F6D-BFC0-9719464F8E7D}" destId="{F770EC4B-301F-4F3A-AED4-4DB0C9BD88F5}" srcOrd="3" destOrd="0" presId="urn:microsoft.com/office/officeart/2005/8/layout/process1"/>
    <dgm:cxn modelId="{7098BDED-FCAB-43FB-905E-6C93507C7E0D}" type="presParOf" srcId="{F770EC4B-301F-4F3A-AED4-4DB0C9BD88F5}" destId="{9BCC9841-BC62-43F9-84A3-FC9EDB6806DB}" srcOrd="0" destOrd="0" presId="urn:microsoft.com/office/officeart/2005/8/layout/process1"/>
    <dgm:cxn modelId="{59463AE8-CE32-4F64-98EC-6ABABD641B1D}" type="presParOf" srcId="{2E8A0AF7-B2AF-4F6D-BFC0-9719464F8E7D}" destId="{9F082B46-7C2C-430E-BBFB-DFD1206891E4}" srcOrd="4" destOrd="0" presId="urn:microsoft.com/office/officeart/2005/8/layout/process1"/>
    <dgm:cxn modelId="{C6204833-333C-413D-A98C-D0C089A648DC}" type="presParOf" srcId="{2E8A0AF7-B2AF-4F6D-BFC0-9719464F8E7D}" destId="{3792FDB3-779E-4BF4-8F7F-3AC4FD9C6AF9}" srcOrd="5" destOrd="0" presId="urn:microsoft.com/office/officeart/2005/8/layout/process1"/>
    <dgm:cxn modelId="{5184093F-01A3-4ADA-828B-84B7D80B0EFF}" type="presParOf" srcId="{3792FDB3-779E-4BF4-8F7F-3AC4FD9C6AF9}" destId="{987FE109-E212-4440-AF25-DDCBD9EAE150}" srcOrd="0" destOrd="0" presId="urn:microsoft.com/office/officeart/2005/8/layout/process1"/>
    <dgm:cxn modelId="{C20315F1-3EAE-46C9-85DA-84F8DE8A82C0}" type="presParOf" srcId="{2E8A0AF7-B2AF-4F6D-BFC0-9719464F8E7D}" destId="{8C85E207-0136-4D87-8665-86BDD102196D}" srcOrd="6" destOrd="0" presId="urn:microsoft.com/office/officeart/2005/8/layout/process1"/>
    <dgm:cxn modelId="{69F60BCE-7554-432D-A44E-04CB7ABC9632}" type="presParOf" srcId="{2E8A0AF7-B2AF-4F6D-BFC0-9719464F8E7D}" destId="{2DAF4B18-C0C7-4606-ABB2-FE03574372EF}" srcOrd="7" destOrd="0" presId="urn:microsoft.com/office/officeart/2005/8/layout/process1"/>
    <dgm:cxn modelId="{F4EBE5F0-111B-420F-8B1A-0F5DD99AE735}" type="presParOf" srcId="{2DAF4B18-C0C7-4606-ABB2-FE03574372EF}" destId="{BE250376-BA3E-4B99-9D83-65B06CDFFE7D}" srcOrd="0" destOrd="0" presId="urn:microsoft.com/office/officeart/2005/8/layout/process1"/>
    <dgm:cxn modelId="{CCC9551D-A1E5-4971-B98C-C669964E286F}" type="presParOf" srcId="{2E8A0AF7-B2AF-4F6D-BFC0-9719464F8E7D}" destId="{7BC62548-5BE8-45E8-BEDF-01AA4708F7F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F96682-89C2-48E6-835F-BA5E8606F0F7}" type="doc">
      <dgm:prSet loTypeId="urn:diagrams.loki3.com/VaryingWidth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E79C4BC8-DA4D-49FA-BB37-4B7A5CD07295}">
      <dgm:prSet/>
      <dgm:spPr/>
      <dgm:t>
        <a:bodyPr/>
        <a:lstStyle/>
        <a:p>
          <a:r>
            <a:rPr lang="en-US" dirty="0"/>
            <a:t>Role Prompting</a:t>
          </a:r>
        </a:p>
      </dgm:t>
    </dgm:pt>
    <dgm:pt modelId="{C1E1269B-2489-41DD-86C4-E7DB95901356}" type="parTrans" cxnId="{710404AE-824D-4375-ADB3-CAC731D6F28C}">
      <dgm:prSet/>
      <dgm:spPr/>
      <dgm:t>
        <a:bodyPr/>
        <a:lstStyle/>
        <a:p>
          <a:endParaRPr lang="en-US"/>
        </a:p>
      </dgm:t>
    </dgm:pt>
    <dgm:pt modelId="{F8D33F82-1F05-4E87-873F-1025D2CFABB4}" type="sibTrans" cxnId="{710404AE-824D-4375-ADB3-CAC731D6F28C}">
      <dgm:prSet/>
      <dgm:spPr/>
      <dgm:t>
        <a:bodyPr/>
        <a:lstStyle/>
        <a:p>
          <a:endParaRPr lang="en-US"/>
        </a:p>
      </dgm:t>
    </dgm:pt>
    <dgm:pt modelId="{DE177CA4-AA22-4037-989C-E0A26B6E0F3F}">
      <dgm:prSet/>
      <dgm:spPr/>
      <dgm:t>
        <a:bodyPr/>
        <a:lstStyle/>
        <a:p>
          <a:r>
            <a:rPr lang="en-US" dirty="0"/>
            <a:t>Chain of Thought (</a:t>
          </a:r>
          <a:r>
            <a:rPr lang="en-US" dirty="0" err="1"/>
            <a:t>CoT</a:t>
          </a:r>
          <a:r>
            <a:rPr lang="en-US" dirty="0"/>
            <a:t>)</a:t>
          </a:r>
        </a:p>
      </dgm:t>
    </dgm:pt>
    <dgm:pt modelId="{D6280C11-FA48-4A01-A341-30EE79499134}" type="parTrans" cxnId="{8147B103-104B-4F7C-B3DB-BB7F16112118}">
      <dgm:prSet/>
      <dgm:spPr/>
      <dgm:t>
        <a:bodyPr/>
        <a:lstStyle/>
        <a:p>
          <a:endParaRPr lang="en-US"/>
        </a:p>
      </dgm:t>
    </dgm:pt>
    <dgm:pt modelId="{A8B37D55-0236-4F3F-B12C-B5873978916A}" type="sibTrans" cxnId="{8147B103-104B-4F7C-B3DB-BB7F16112118}">
      <dgm:prSet/>
      <dgm:spPr/>
      <dgm:t>
        <a:bodyPr/>
        <a:lstStyle/>
        <a:p>
          <a:endParaRPr lang="en-US"/>
        </a:p>
      </dgm:t>
    </dgm:pt>
    <dgm:pt modelId="{5B5F99C6-9F75-479D-92CA-3C16048BAFEA}">
      <dgm:prSet/>
      <dgm:spPr/>
      <dgm:t>
        <a:bodyPr/>
        <a:lstStyle/>
        <a:p>
          <a:r>
            <a:rPr lang="en-US"/>
            <a:t>Few-shot Prompting</a:t>
          </a:r>
        </a:p>
      </dgm:t>
    </dgm:pt>
    <dgm:pt modelId="{E5A070CC-CD2A-433B-B272-10BE8B1E7BE4}" type="parTrans" cxnId="{A739A1F6-DDEC-4843-AD49-4295FDF9AA18}">
      <dgm:prSet/>
      <dgm:spPr/>
      <dgm:t>
        <a:bodyPr/>
        <a:lstStyle/>
        <a:p>
          <a:endParaRPr lang="en-US"/>
        </a:p>
      </dgm:t>
    </dgm:pt>
    <dgm:pt modelId="{B45D293C-36CE-4965-B569-82B631BC0A2A}" type="sibTrans" cxnId="{A739A1F6-DDEC-4843-AD49-4295FDF9AA18}">
      <dgm:prSet/>
      <dgm:spPr/>
      <dgm:t>
        <a:bodyPr/>
        <a:lstStyle/>
        <a:p>
          <a:endParaRPr lang="en-US"/>
        </a:p>
      </dgm:t>
    </dgm:pt>
    <dgm:pt modelId="{884BDAFD-2607-4AB6-9E55-A523B0E85810}">
      <dgm:prSet/>
      <dgm:spPr/>
      <dgm:t>
        <a:bodyPr/>
        <a:lstStyle/>
        <a:p>
          <a:r>
            <a:rPr lang="en-US"/>
            <a:t>Contextual Prompting</a:t>
          </a:r>
        </a:p>
      </dgm:t>
    </dgm:pt>
    <dgm:pt modelId="{A28B022B-EE7F-458F-BF62-BF8A072F542C}" type="parTrans" cxnId="{2DDE61AB-9ACE-4D20-9BBB-9B5884319C03}">
      <dgm:prSet/>
      <dgm:spPr/>
      <dgm:t>
        <a:bodyPr/>
        <a:lstStyle/>
        <a:p>
          <a:endParaRPr lang="en-US"/>
        </a:p>
      </dgm:t>
    </dgm:pt>
    <dgm:pt modelId="{ECDE3725-91B5-45A4-B8C5-7233895D38B7}" type="sibTrans" cxnId="{2DDE61AB-9ACE-4D20-9BBB-9B5884319C03}">
      <dgm:prSet/>
      <dgm:spPr/>
      <dgm:t>
        <a:bodyPr/>
        <a:lstStyle/>
        <a:p>
          <a:endParaRPr lang="en-US"/>
        </a:p>
      </dgm:t>
    </dgm:pt>
    <dgm:pt modelId="{11F8ED4B-4AA1-4927-8E20-DCE4F8FEE2EC}" type="pres">
      <dgm:prSet presAssocID="{8EF96682-89C2-48E6-835F-BA5E8606F0F7}" presName="Name0" presStyleCnt="0">
        <dgm:presLayoutVars>
          <dgm:resizeHandles/>
        </dgm:presLayoutVars>
      </dgm:prSet>
      <dgm:spPr/>
    </dgm:pt>
    <dgm:pt modelId="{5752FBCD-E049-4884-BFDB-7778495D74AC}" type="pres">
      <dgm:prSet presAssocID="{E79C4BC8-DA4D-49FA-BB37-4B7A5CD07295}" presName="text" presStyleLbl="node1" presStyleIdx="0" presStyleCnt="4">
        <dgm:presLayoutVars>
          <dgm:bulletEnabled val="1"/>
        </dgm:presLayoutVars>
      </dgm:prSet>
      <dgm:spPr/>
    </dgm:pt>
    <dgm:pt modelId="{3327D6A4-724D-424D-A977-248559DB3190}" type="pres">
      <dgm:prSet presAssocID="{F8D33F82-1F05-4E87-873F-1025D2CFABB4}" presName="space" presStyleCnt="0"/>
      <dgm:spPr/>
    </dgm:pt>
    <dgm:pt modelId="{68BEA994-34CB-4805-B784-C2E0ED5849AD}" type="pres">
      <dgm:prSet presAssocID="{DE177CA4-AA22-4037-989C-E0A26B6E0F3F}" presName="text" presStyleLbl="node1" presStyleIdx="1" presStyleCnt="4">
        <dgm:presLayoutVars>
          <dgm:bulletEnabled val="1"/>
        </dgm:presLayoutVars>
      </dgm:prSet>
      <dgm:spPr/>
    </dgm:pt>
    <dgm:pt modelId="{05CBD216-AC74-4BB9-BAC0-9F9E8F512E26}" type="pres">
      <dgm:prSet presAssocID="{A8B37D55-0236-4F3F-B12C-B5873978916A}" presName="space" presStyleCnt="0"/>
      <dgm:spPr/>
    </dgm:pt>
    <dgm:pt modelId="{CADAE08A-29BF-4CD3-8630-45311AA4141F}" type="pres">
      <dgm:prSet presAssocID="{5B5F99C6-9F75-479D-92CA-3C16048BAFEA}" presName="text" presStyleLbl="node1" presStyleIdx="2" presStyleCnt="4">
        <dgm:presLayoutVars>
          <dgm:bulletEnabled val="1"/>
        </dgm:presLayoutVars>
      </dgm:prSet>
      <dgm:spPr/>
    </dgm:pt>
    <dgm:pt modelId="{5DDE0A00-AEF1-4DB2-A3E3-F277FF59961D}" type="pres">
      <dgm:prSet presAssocID="{B45D293C-36CE-4965-B569-82B631BC0A2A}" presName="space" presStyleCnt="0"/>
      <dgm:spPr/>
    </dgm:pt>
    <dgm:pt modelId="{08B8D085-B4DB-4800-ACC6-59B38F295637}" type="pres">
      <dgm:prSet presAssocID="{884BDAFD-2607-4AB6-9E55-A523B0E85810}" presName="text" presStyleLbl="node1" presStyleIdx="3" presStyleCnt="4">
        <dgm:presLayoutVars>
          <dgm:bulletEnabled val="1"/>
        </dgm:presLayoutVars>
      </dgm:prSet>
      <dgm:spPr/>
    </dgm:pt>
  </dgm:ptLst>
  <dgm:cxnLst>
    <dgm:cxn modelId="{8147B103-104B-4F7C-B3DB-BB7F16112118}" srcId="{8EF96682-89C2-48E6-835F-BA5E8606F0F7}" destId="{DE177CA4-AA22-4037-989C-E0A26B6E0F3F}" srcOrd="1" destOrd="0" parTransId="{D6280C11-FA48-4A01-A341-30EE79499134}" sibTransId="{A8B37D55-0236-4F3F-B12C-B5873978916A}"/>
    <dgm:cxn modelId="{DF63FB20-0E62-47DD-912F-20AFD4EF448E}" type="presOf" srcId="{5B5F99C6-9F75-479D-92CA-3C16048BAFEA}" destId="{CADAE08A-29BF-4CD3-8630-45311AA4141F}" srcOrd="0" destOrd="0" presId="urn:diagrams.loki3.com/VaryingWidthList"/>
    <dgm:cxn modelId="{7ED11A9E-60E9-451D-A07D-8CD8FD949789}" type="presOf" srcId="{DE177CA4-AA22-4037-989C-E0A26B6E0F3F}" destId="{68BEA994-34CB-4805-B784-C2E0ED5849AD}" srcOrd="0" destOrd="0" presId="urn:diagrams.loki3.com/VaryingWidthList"/>
    <dgm:cxn modelId="{2DDE61AB-9ACE-4D20-9BBB-9B5884319C03}" srcId="{8EF96682-89C2-48E6-835F-BA5E8606F0F7}" destId="{884BDAFD-2607-4AB6-9E55-A523B0E85810}" srcOrd="3" destOrd="0" parTransId="{A28B022B-EE7F-458F-BF62-BF8A072F542C}" sibTransId="{ECDE3725-91B5-45A4-B8C5-7233895D38B7}"/>
    <dgm:cxn modelId="{710404AE-824D-4375-ADB3-CAC731D6F28C}" srcId="{8EF96682-89C2-48E6-835F-BA5E8606F0F7}" destId="{E79C4BC8-DA4D-49FA-BB37-4B7A5CD07295}" srcOrd="0" destOrd="0" parTransId="{C1E1269B-2489-41DD-86C4-E7DB95901356}" sibTransId="{F8D33F82-1F05-4E87-873F-1025D2CFABB4}"/>
    <dgm:cxn modelId="{CD99CBD1-5CCD-4723-9DA5-13117A3A8561}" type="presOf" srcId="{8EF96682-89C2-48E6-835F-BA5E8606F0F7}" destId="{11F8ED4B-4AA1-4927-8E20-DCE4F8FEE2EC}" srcOrd="0" destOrd="0" presId="urn:diagrams.loki3.com/VaryingWidthList"/>
    <dgm:cxn modelId="{F3D2D1E7-0614-46FD-A95B-110DDFD4DBA6}" type="presOf" srcId="{E79C4BC8-DA4D-49FA-BB37-4B7A5CD07295}" destId="{5752FBCD-E049-4884-BFDB-7778495D74AC}" srcOrd="0" destOrd="0" presId="urn:diagrams.loki3.com/VaryingWidthList"/>
    <dgm:cxn modelId="{2C285FE8-80F6-475A-9C83-6213116BD15A}" type="presOf" srcId="{884BDAFD-2607-4AB6-9E55-A523B0E85810}" destId="{08B8D085-B4DB-4800-ACC6-59B38F295637}" srcOrd="0" destOrd="0" presId="urn:diagrams.loki3.com/VaryingWidthList"/>
    <dgm:cxn modelId="{A739A1F6-DDEC-4843-AD49-4295FDF9AA18}" srcId="{8EF96682-89C2-48E6-835F-BA5E8606F0F7}" destId="{5B5F99C6-9F75-479D-92CA-3C16048BAFEA}" srcOrd="2" destOrd="0" parTransId="{E5A070CC-CD2A-433B-B272-10BE8B1E7BE4}" sibTransId="{B45D293C-36CE-4965-B569-82B631BC0A2A}"/>
    <dgm:cxn modelId="{7FBBC0D3-64BA-4704-8C0B-E26F39FFB426}" type="presParOf" srcId="{11F8ED4B-4AA1-4927-8E20-DCE4F8FEE2EC}" destId="{5752FBCD-E049-4884-BFDB-7778495D74AC}" srcOrd="0" destOrd="0" presId="urn:diagrams.loki3.com/VaryingWidthList"/>
    <dgm:cxn modelId="{DBEEE056-EA74-4AAD-8869-6E5504A1B862}" type="presParOf" srcId="{11F8ED4B-4AA1-4927-8E20-DCE4F8FEE2EC}" destId="{3327D6A4-724D-424D-A977-248559DB3190}" srcOrd="1" destOrd="0" presId="urn:diagrams.loki3.com/VaryingWidthList"/>
    <dgm:cxn modelId="{859258A1-151E-4689-9531-9106851D4213}" type="presParOf" srcId="{11F8ED4B-4AA1-4927-8E20-DCE4F8FEE2EC}" destId="{68BEA994-34CB-4805-B784-C2E0ED5849AD}" srcOrd="2" destOrd="0" presId="urn:diagrams.loki3.com/VaryingWidthList"/>
    <dgm:cxn modelId="{CAD56E49-3C4A-42DC-A41E-6BDC8D333E9F}" type="presParOf" srcId="{11F8ED4B-4AA1-4927-8E20-DCE4F8FEE2EC}" destId="{05CBD216-AC74-4BB9-BAC0-9F9E8F512E26}" srcOrd="3" destOrd="0" presId="urn:diagrams.loki3.com/VaryingWidthList"/>
    <dgm:cxn modelId="{9E82196E-94C4-4157-8272-672D9F5D7DBC}" type="presParOf" srcId="{11F8ED4B-4AA1-4927-8E20-DCE4F8FEE2EC}" destId="{CADAE08A-29BF-4CD3-8630-45311AA4141F}" srcOrd="4" destOrd="0" presId="urn:diagrams.loki3.com/VaryingWidthList"/>
    <dgm:cxn modelId="{4FD9A13A-2AFB-4892-A128-3F93DC2C60FB}" type="presParOf" srcId="{11F8ED4B-4AA1-4927-8E20-DCE4F8FEE2EC}" destId="{5DDE0A00-AEF1-4DB2-A3E3-F277FF59961D}" srcOrd="5" destOrd="0" presId="urn:diagrams.loki3.com/VaryingWidthList"/>
    <dgm:cxn modelId="{F1C5CD94-AD03-457E-AA8B-7D38D25C08CF}" type="presParOf" srcId="{11F8ED4B-4AA1-4927-8E20-DCE4F8FEE2EC}" destId="{08B8D085-B4DB-4800-ACC6-59B38F295637}" srcOrd="6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B9B5F6-7ABE-4AC6-82F7-A9AD02990C3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B09F08-24B8-4559-BEDD-D1C4B7C7B9E3}">
      <dgm:prSet/>
      <dgm:spPr/>
      <dgm:t>
        <a:bodyPr/>
        <a:lstStyle/>
        <a:p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제로샷 </a:t>
          </a:r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(Zero-shot)</a:t>
          </a:r>
        </a:p>
      </dgm:t>
    </dgm:pt>
    <dgm:pt modelId="{2AE1152A-F47E-4402-A221-5B1AF182E213}" type="parTrans" cxnId="{8D6041F1-F9C5-408C-BE24-44253C046A2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A9AB83E-5D5E-405A-B4AE-B504D4031028}" type="sibTrans" cxnId="{8D6041F1-F9C5-408C-BE24-44253C046A2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08B6154-847D-4FCC-8AA2-A582C6F670C4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훈련 데이터 없이 새로운 작업을 수행하는 방법 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7A268E5-F8F6-4571-BDEE-662C7C2C86D0}" type="parTrans" cxnId="{8BC5F520-27C4-40C8-A437-F7C4BA49EBF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5092A12-0B8C-4CD1-BC4C-33A0CE993464}" type="sibTrans" cxnId="{8BC5F520-27C4-40C8-A437-F7C4BA49EBF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D209C40-F4F7-4668-A80C-7B3E08F3637A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D10C32A-C17E-4FC6-92FE-9BEC1C97F363}" type="parTrans" cxnId="{F91AD09D-E304-4CD1-9A8F-01030373B8A1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0B71A91-E949-438B-915D-BE47F01492FC}" type="sibTrans" cxnId="{F91AD09D-E304-4CD1-9A8F-01030373B8A1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3C1C303-94D6-4686-A418-B6B948060DE4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다음 문장을 한국어로 번역해줘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Hello, how are you?"</a:t>
          </a:r>
        </a:p>
      </dgm:t>
    </dgm:pt>
    <dgm:pt modelId="{7263F2E3-B1CC-4343-B2F3-3F8FB363F57C}" type="parTrans" cxnId="{B1AC6CC5-F5F9-473F-9E07-60B3CA0D299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AC0B6AA-E92F-433F-9DC4-69AE80AD16EB}" type="sibTrans" cxnId="{B1AC6CC5-F5F9-473F-9E07-60B3CA0D299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EA84884-929C-4E3C-B34C-44A2AB0D2B18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예상 출력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FE71A2A-C059-4F46-8515-EAB80B430532}" type="parTrans" cxnId="{78C5FEC1-1F19-475E-971B-9E95E33506B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FEA0DDD-024E-43FF-909F-55E78AB3F3B2}" type="sibTrans" cxnId="{78C5FEC1-1F19-475E-971B-9E95E33506B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1F506EE-B7F0-458E-B623-59356B770E43}">
      <dgm:prSet/>
      <dgm:spPr/>
      <dgm:t>
        <a:bodyPr/>
        <a:lstStyle/>
        <a:p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안녕하세요</a:t>
          </a:r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어떻게 지내세요</a:t>
          </a:r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?" </a:t>
          </a:r>
        </a:p>
      </dgm:t>
    </dgm:pt>
    <dgm:pt modelId="{E9E12520-33E4-4478-8D06-6AD567F591CF}" type="parTrans" cxnId="{0FEA34B8-A9E6-4565-8D86-D7C488CD0E48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255578A-4B7C-4844-922E-44F2C504E27D}" type="sibTrans" cxnId="{0FEA34B8-A9E6-4565-8D86-D7C488CD0E48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BA4FDC1-1AB7-45A8-9076-FA6D59FF0961}">
      <dgm:prSet/>
      <dgm:spPr/>
      <dgm:t>
        <a:bodyPr/>
        <a:lstStyle/>
        <a:p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원샷 </a:t>
          </a:r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(One-shot) </a:t>
          </a:r>
        </a:p>
      </dgm:t>
    </dgm:pt>
    <dgm:pt modelId="{1B05AFA5-5FA2-4242-B0A4-19310A3E0D72}" type="parTrans" cxnId="{6248A585-A8E9-417F-BC22-E76446AF790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992E36D-48BC-4113-B14B-8770EB7C8FFB}" type="sibTrans" cxnId="{6248A585-A8E9-417F-BC22-E76446AF790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041A605-245B-4E49-AC2A-49A3AB4E0996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 하나의 예시만으로 새로운 작업을 학습하는 방법 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DE1C2B2-10C7-4F7D-BD45-6E8DEEB61CCC}" type="parTrans" cxnId="{22717674-61C0-499A-9C76-8A6D3824FB9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0EA6312-960C-442D-84DF-664A1A43127A}" type="sibTrans" cxnId="{22717674-61C0-499A-9C76-8A6D3824FB9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4859459-759E-4950-A8E3-B3C28D362D47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</a:p>
      </dgm:t>
    </dgm:pt>
    <dgm:pt modelId="{CBADB9BA-6A79-4885-BDEA-BE8EC273B817}" type="parTrans" cxnId="{D01B5662-DCC1-4872-9BD4-17C66F4893D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C63E27F-1D2B-41A9-AB6F-D8BCD12DB647}" type="sibTrans" cxnId="{D01B5662-DCC1-4872-9BD4-17C66F4893D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04761CE-B5DE-4773-A95D-01F9AB329C70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예시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사과 → 과일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402C6E2-223F-4383-B54E-BF2CCEFB7569}" type="parTrans" cxnId="{7BCF2962-4F3D-4447-9BBF-4EC15EA80A0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550581B-442E-45A3-B60A-C5233220EFCE}" type="sibTrans" cxnId="{7BCF2962-4F3D-4447-9BBF-4EC15EA80A0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F5BCF7C-BDBD-4830-8CF3-FB91F6D81CEE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이제 다음을 분류해줘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장미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</a:p>
      </dgm:t>
    </dgm:pt>
    <dgm:pt modelId="{06B2B67A-624D-4B0B-82DD-9C65A42AC540}" type="parTrans" cxnId="{6135CEDC-E847-484E-916C-C1001C7B4E4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64751AB-5F90-4484-9247-1E1E228FE5D3}" type="sibTrans" cxnId="{6135CEDC-E847-484E-916C-C1001C7B4E4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E444A31-C2E9-4690-98AC-0D88A3CE6F85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예상 출력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621A60B-5B6A-49D3-B0A5-837A99E11517}" type="parTrans" cxnId="{E2F5CAAC-3E4F-432B-AAED-17BD9749FFE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63A9F2F-11CD-4382-89E0-9C7BE229F97C}" type="sibTrans" cxnId="{E2F5CAAC-3E4F-432B-AAED-17BD9749FFE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18A7BDB-74E2-4E84-9878-F94BE994B1EB}">
      <dgm:prSet/>
      <dgm:spPr/>
      <dgm:t>
        <a:bodyPr/>
        <a:lstStyle/>
        <a:p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꽃</a:t>
          </a:r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</a:p>
      </dgm:t>
    </dgm:pt>
    <dgm:pt modelId="{2B9ECBC7-B002-496A-92FE-A82201B598A4}" type="parTrans" cxnId="{9EE6B21E-3D79-4D1D-B9D0-25E4451FE0A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F9D60AF-B3D6-4EAF-B6BD-2C71237E97D0}" type="sibTrans" cxnId="{9EE6B21E-3D79-4D1D-B9D0-25E4451FE0A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301687D-F724-420E-89D5-2F2B09B0F083}">
      <dgm:prSet/>
      <dgm:spPr/>
      <dgm:t>
        <a:bodyPr/>
        <a:lstStyle/>
        <a:p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퓨샷 </a:t>
          </a:r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(Few-shot) </a:t>
          </a:r>
        </a:p>
      </dgm:t>
    </dgm:pt>
    <dgm:pt modelId="{5C714EAF-CB25-47EE-AC8D-87789D58868B}" type="parTrans" cxnId="{25A31B3F-183B-43AD-81F8-69FF6B4B6C0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EF2335D-7E85-4DE1-80C4-51916636B330}" type="sibTrans" cxnId="{25A31B3F-183B-43AD-81F8-69FF6B4B6C0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9D1D7F6-42BF-475B-8BB5-AAC8087FE76F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소수의 예시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보통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2-10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개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)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로 새로운 작업을 학습하는 방법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F66E404-0871-432C-8CD3-B7835BEC0373}" type="parTrans" cxnId="{D457CC41-A40C-42EB-800A-4F7FBBA533A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C0FE3A7-9FC8-4041-B4D0-175B5EED4904}" type="sibTrans" cxnId="{D457CC41-A40C-42EB-800A-4F7FBBA533A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9058AF4-B672-4A8C-B74A-4A81F7B7DB0F}">
      <dgm:prSet/>
      <dgm:spPr/>
      <dgm:t>
        <a:bodyPr/>
        <a:lstStyle/>
        <a:p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592B28E-BECF-4E51-AD39-053233812381}" type="parTrans" cxnId="{27B7ED28-159C-41A5-B549-6CFFC1A8DF1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722ACD6-9EE4-4329-B50B-F62B513A86BF}" type="sibTrans" cxnId="{27B7ED28-159C-41A5-B549-6CFFC1A8DF1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466E21C-A666-42CE-AA14-B733C5937EE7}">
      <dgm:prSet/>
      <dgm:spPr/>
      <dgm:t>
        <a:bodyPr/>
        <a:lstStyle/>
        <a:p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DBDA376-E916-403D-A5D2-8C08E2137D49}" type="parTrans" cxnId="{7B747BD3-0E74-4F13-B2BA-34DDF83EE6D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EA1E643-6334-40F9-BB33-DE851F28BF9F}" type="sibTrans" cxnId="{7B747BD3-0E74-4F13-B2BA-34DDF83EE6D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9F023F1-7241-4352-877A-4F7FA147F989}" type="pres">
      <dgm:prSet presAssocID="{C0B9B5F6-7ABE-4AC6-82F7-A9AD02990C3B}" presName="Name0" presStyleCnt="0">
        <dgm:presLayoutVars>
          <dgm:dir/>
          <dgm:animLvl val="lvl"/>
          <dgm:resizeHandles val="exact"/>
        </dgm:presLayoutVars>
      </dgm:prSet>
      <dgm:spPr/>
    </dgm:pt>
    <dgm:pt modelId="{99C2BA31-1AF6-4B11-86D1-33DE6A3035C8}" type="pres">
      <dgm:prSet presAssocID="{E8B09F08-24B8-4559-BEDD-D1C4B7C7B9E3}" presName="composite" presStyleCnt="0"/>
      <dgm:spPr/>
    </dgm:pt>
    <dgm:pt modelId="{CA8D0B14-8E42-4043-8404-27C34C063D60}" type="pres">
      <dgm:prSet presAssocID="{E8B09F08-24B8-4559-BEDD-D1C4B7C7B9E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4584278-22FB-42F9-9CED-63E7094F2292}" type="pres">
      <dgm:prSet presAssocID="{E8B09F08-24B8-4559-BEDD-D1C4B7C7B9E3}" presName="desTx" presStyleLbl="alignAccFollowNode1" presStyleIdx="0" presStyleCnt="3">
        <dgm:presLayoutVars>
          <dgm:bulletEnabled val="1"/>
        </dgm:presLayoutVars>
      </dgm:prSet>
      <dgm:spPr/>
    </dgm:pt>
    <dgm:pt modelId="{B66C378F-1576-4C82-90DB-BA9813E22913}" type="pres">
      <dgm:prSet presAssocID="{DA9AB83E-5D5E-405A-B4AE-B504D4031028}" presName="space" presStyleCnt="0"/>
      <dgm:spPr/>
    </dgm:pt>
    <dgm:pt modelId="{B729BC5E-D711-4F79-AFBF-848C7E12B772}" type="pres">
      <dgm:prSet presAssocID="{4BA4FDC1-1AB7-45A8-9076-FA6D59FF0961}" presName="composite" presStyleCnt="0"/>
      <dgm:spPr/>
    </dgm:pt>
    <dgm:pt modelId="{B13CC4E4-A202-4229-855B-C3B983F34C0A}" type="pres">
      <dgm:prSet presAssocID="{4BA4FDC1-1AB7-45A8-9076-FA6D59FF096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E7B2527-57A7-48E5-8EC9-E532B3178F1C}" type="pres">
      <dgm:prSet presAssocID="{4BA4FDC1-1AB7-45A8-9076-FA6D59FF0961}" presName="desTx" presStyleLbl="alignAccFollowNode1" presStyleIdx="1" presStyleCnt="3">
        <dgm:presLayoutVars>
          <dgm:bulletEnabled val="1"/>
        </dgm:presLayoutVars>
      </dgm:prSet>
      <dgm:spPr/>
    </dgm:pt>
    <dgm:pt modelId="{D0916C4B-E300-4361-B72F-4A77585FFB54}" type="pres">
      <dgm:prSet presAssocID="{0992E36D-48BC-4113-B14B-8770EB7C8FFB}" presName="space" presStyleCnt="0"/>
      <dgm:spPr/>
    </dgm:pt>
    <dgm:pt modelId="{C494600F-BB99-4CD3-8CA0-77845A411C3F}" type="pres">
      <dgm:prSet presAssocID="{2301687D-F724-420E-89D5-2F2B09B0F083}" presName="composite" presStyleCnt="0"/>
      <dgm:spPr/>
    </dgm:pt>
    <dgm:pt modelId="{7F4EE465-9ECE-419E-9713-F4C0B3261A61}" type="pres">
      <dgm:prSet presAssocID="{2301687D-F724-420E-89D5-2F2B09B0F08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5F1ABC7-123D-4D9F-92E3-DBAB4921D6C8}" type="pres">
      <dgm:prSet presAssocID="{2301687D-F724-420E-89D5-2F2B09B0F083}" presName="desTx" presStyleLbl="alignAccFollowNode1" presStyleIdx="2" presStyleCnt="3" custLinFactNeighborX="103" custLinFactNeighborY="-240">
        <dgm:presLayoutVars>
          <dgm:bulletEnabled val="1"/>
        </dgm:presLayoutVars>
      </dgm:prSet>
      <dgm:spPr/>
    </dgm:pt>
  </dgm:ptLst>
  <dgm:cxnLst>
    <dgm:cxn modelId="{F34CEB05-0CB2-4E02-8B99-3E0E417B1EF4}" type="presOf" srcId="{2301687D-F724-420E-89D5-2F2B09B0F083}" destId="{7F4EE465-9ECE-419E-9713-F4C0B3261A61}" srcOrd="0" destOrd="0" presId="urn:microsoft.com/office/officeart/2005/8/layout/hList1"/>
    <dgm:cxn modelId="{9EE6B21E-3D79-4D1D-B9D0-25E4451FE0A2}" srcId="{DE444A31-C2E9-4690-98AC-0D88A3CE6F85}" destId="{118A7BDB-74E2-4E84-9878-F94BE994B1EB}" srcOrd="0" destOrd="0" parTransId="{2B9ECBC7-B002-496A-92FE-A82201B598A4}" sibTransId="{EF9D60AF-B3D6-4EAF-B6BD-2C71237E97D0}"/>
    <dgm:cxn modelId="{8BC5F520-27C4-40C8-A437-F7C4BA49EBFC}" srcId="{E8B09F08-24B8-4559-BEDD-D1C4B7C7B9E3}" destId="{708B6154-847D-4FCC-8AA2-A582C6F670C4}" srcOrd="0" destOrd="0" parTransId="{F7A268E5-F8F6-4571-BDEE-662C7C2C86D0}" sibTransId="{45092A12-0B8C-4CD1-BC4C-33A0CE993464}"/>
    <dgm:cxn modelId="{27B7ED28-159C-41A5-B549-6CFFC1A8DF12}" srcId="{E8B09F08-24B8-4559-BEDD-D1C4B7C7B9E3}" destId="{09058AF4-B672-4A8C-B74A-4A81F7B7DB0F}" srcOrd="1" destOrd="0" parTransId="{8592B28E-BECF-4E51-AD39-053233812381}" sibTransId="{1722ACD6-9EE4-4329-B50B-F62B513A86BF}"/>
    <dgm:cxn modelId="{543ACA2C-1BDC-4259-A147-70A85A010393}" type="presOf" srcId="{118A7BDB-74E2-4E84-9878-F94BE994B1EB}" destId="{CE7B2527-57A7-48E5-8EC9-E532B3178F1C}" srcOrd="0" destOrd="6" presId="urn:microsoft.com/office/officeart/2005/8/layout/hList1"/>
    <dgm:cxn modelId="{4AB8532F-602D-467F-9084-32466A776625}" type="presOf" srcId="{EF5BCF7C-BDBD-4830-8CF3-FB91F6D81CEE}" destId="{CE7B2527-57A7-48E5-8EC9-E532B3178F1C}" srcOrd="0" destOrd="4" presId="urn:microsoft.com/office/officeart/2005/8/layout/hList1"/>
    <dgm:cxn modelId="{3D140932-EB19-4151-A5EE-77048132FACA}" type="presOf" srcId="{504761CE-B5DE-4773-A95D-01F9AB329C70}" destId="{CE7B2527-57A7-48E5-8EC9-E532B3178F1C}" srcOrd="0" destOrd="3" presId="urn:microsoft.com/office/officeart/2005/8/layout/hList1"/>
    <dgm:cxn modelId="{25A31B3F-183B-43AD-81F8-69FF6B4B6C05}" srcId="{C0B9B5F6-7ABE-4AC6-82F7-A9AD02990C3B}" destId="{2301687D-F724-420E-89D5-2F2B09B0F083}" srcOrd="2" destOrd="0" parTransId="{5C714EAF-CB25-47EE-AC8D-87789D58868B}" sibTransId="{0EF2335D-7E85-4DE1-80C4-51916636B330}"/>
    <dgm:cxn modelId="{5292205F-6873-40B0-99C7-98C67F4B4741}" type="presOf" srcId="{09058AF4-B672-4A8C-B74A-4A81F7B7DB0F}" destId="{04584278-22FB-42F9-9CED-63E7094F2292}" srcOrd="0" destOrd="1" presId="urn:microsoft.com/office/officeart/2005/8/layout/hList1"/>
    <dgm:cxn modelId="{D457CC41-A40C-42EB-800A-4F7FBBA533A7}" srcId="{2301687D-F724-420E-89D5-2F2B09B0F083}" destId="{B9D1D7F6-42BF-475B-8BB5-AAC8087FE76F}" srcOrd="0" destOrd="0" parTransId="{BF66E404-0871-432C-8CD3-B7835BEC0373}" sibTransId="{6C0FE3A7-9FC8-4041-B4D0-175B5EED4904}"/>
    <dgm:cxn modelId="{6E7C0B42-47E9-4D85-B90F-22328951A824}" type="presOf" srcId="{7041A605-245B-4E49-AC2A-49A3AB4E0996}" destId="{CE7B2527-57A7-48E5-8EC9-E532B3178F1C}" srcOrd="0" destOrd="0" presId="urn:microsoft.com/office/officeart/2005/8/layout/hList1"/>
    <dgm:cxn modelId="{7BCF2962-4F3D-4447-9BBF-4EC15EA80A0C}" srcId="{44859459-759E-4950-A8E3-B3C28D362D47}" destId="{504761CE-B5DE-4773-A95D-01F9AB329C70}" srcOrd="0" destOrd="0" parTransId="{0402C6E2-223F-4383-B54E-BF2CCEFB7569}" sibTransId="{B550581B-442E-45A3-B60A-C5233220EFCE}"/>
    <dgm:cxn modelId="{D01B5662-DCC1-4872-9BD4-17C66F4893D9}" srcId="{4BA4FDC1-1AB7-45A8-9076-FA6D59FF0961}" destId="{44859459-759E-4950-A8E3-B3C28D362D47}" srcOrd="2" destOrd="0" parTransId="{CBADB9BA-6A79-4885-BDEA-BE8EC273B817}" sibTransId="{BC63E27F-1D2B-41A9-AB6F-D8BCD12DB647}"/>
    <dgm:cxn modelId="{67CB5C68-D823-48E7-ABC2-50EA01EE34BC}" type="presOf" srcId="{DE444A31-C2E9-4690-98AC-0D88A3CE6F85}" destId="{CE7B2527-57A7-48E5-8EC9-E532B3178F1C}" srcOrd="0" destOrd="5" presId="urn:microsoft.com/office/officeart/2005/8/layout/hList1"/>
    <dgm:cxn modelId="{9D057850-7C56-4A15-9833-6038B004300A}" type="presOf" srcId="{0EA84884-929C-4E3C-B34C-44A2AB0D2B18}" destId="{04584278-22FB-42F9-9CED-63E7094F2292}" srcOrd="0" destOrd="4" presId="urn:microsoft.com/office/officeart/2005/8/layout/hList1"/>
    <dgm:cxn modelId="{7F55E570-BA23-4EB9-A445-46F95DCE1C20}" type="presOf" srcId="{2D209C40-F4F7-4668-A80C-7B3E08F3637A}" destId="{04584278-22FB-42F9-9CED-63E7094F2292}" srcOrd="0" destOrd="2" presId="urn:microsoft.com/office/officeart/2005/8/layout/hList1"/>
    <dgm:cxn modelId="{22717674-61C0-499A-9C76-8A6D3824FB9C}" srcId="{4BA4FDC1-1AB7-45A8-9076-FA6D59FF0961}" destId="{7041A605-245B-4E49-AC2A-49A3AB4E0996}" srcOrd="0" destOrd="0" parTransId="{2DE1C2B2-10C7-4F7D-BD45-6E8DEEB61CCC}" sibTransId="{10EA6312-960C-442D-84DF-664A1A43127A}"/>
    <dgm:cxn modelId="{8C48D481-5070-4C8C-B592-40124AB8FE35}" type="presOf" srcId="{91F506EE-B7F0-458E-B623-59356B770E43}" destId="{04584278-22FB-42F9-9CED-63E7094F2292}" srcOrd="0" destOrd="5" presId="urn:microsoft.com/office/officeart/2005/8/layout/hList1"/>
    <dgm:cxn modelId="{7CDA8785-F3B7-4321-A4B3-BD4CB06556FC}" type="presOf" srcId="{44859459-759E-4950-A8E3-B3C28D362D47}" destId="{CE7B2527-57A7-48E5-8EC9-E532B3178F1C}" srcOrd="0" destOrd="2" presId="urn:microsoft.com/office/officeart/2005/8/layout/hList1"/>
    <dgm:cxn modelId="{6248A585-A8E9-417F-BC22-E76446AF7904}" srcId="{C0B9B5F6-7ABE-4AC6-82F7-A9AD02990C3B}" destId="{4BA4FDC1-1AB7-45A8-9076-FA6D59FF0961}" srcOrd="1" destOrd="0" parTransId="{1B05AFA5-5FA2-4242-B0A4-19310A3E0D72}" sibTransId="{0992E36D-48BC-4113-B14B-8770EB7C8FFB}"/>
    <dgm:cxn modelId="{A30D588C-3F38-447F-8FFC-43D455AFF999}" type="presOf" srcId="{1466E21C-A666-42CE-AA14-B733C5937EE7}" destId="{CE7B2527-57A7-48E5-8EC9-E532B3178F1C}" srcOrd="0" destOrd="1" presId="urn:microsoft.com/office/officeart/2005/8/layout/hList1"/>
    <dgm:cxn modelId="{2EC5A490-D5C8-494C-B543-06A66017F2DE}" type="presOf" srcId="{4BA4FDC1-1AB7-45A8-9076-FA6D59FF0961}" destId="{B13CC4E4-A202-4229-855B-C3B983F34C0A}" srcOrd="0" destOrd="0" presId="urn:microsoft.com/office/officeart/2005/8/layout/hList1"/>
    <dgm:cxn modelId="{CA0D7993-DBBF-4AE8-81BA-062D22BCBB9B}" type="presOf" srcId="{B9D1D7F6-42BF-475B-8BB5-AAC8087FE76F}" destId="{E5F1ABC7-123D-4D9F-92E3-DBAB4921D6C8}" srcOrd="0" destOrd="0" presId="urn:microsoft.com/office/officeart/2005/8/layout/hList1"/>
    <dgm:cxn modelId="{691D7D9A-282D-4407-872B-3E2581D1C3EA}" type="presOf" srcId="{E8B09F08-24B8-4559-BEDD-D1C4B7C7B9E3}" destId="{CA8D0B14-8E42-4043-8404-27C34C063D60}" srcOrd="0" destOrd="0" presId="urn:microsoft.com/office/officeart/2005/8/layout/hList1"/>
    <dgm:cxn modelId="{F91AD09D-E304-4CD1-9A8F-01030373B8A1}" srcId="{E8B09F08-24B8-4559-BEDD-D1C4B7C7B9E3}" destId="{2D209C40-F4F7-4668-A80C-7B3E08F3637A}" srcOrd="2" destOrd="0" parTransId="{1D10C32A-C17E-4FC6-92FE-9BEC1C97F363}" sibTransId="{70B71A91-E949-438B-915D-BE47F01492FC}"/>
    <dgm:cxn modelId="{1EE513A5-05FD-4C7D-9ADC-7C31CB535F28}" type="presOf" srcId="{43C1C303-94D6-4686-A418-B6B948060DE4}" destId="{04584278-22FB-42F9-9CED-63E7094F2292}" srcOrd="0" destOrd="3" presId="urn:microsoft.com/office/officeart/2005/8/layout/hList1"/>
    <dgm:cxn modelId="{E2F5CAAC-3E4F-432B-AAED-17BD9749FFE6}" srcId="{4BA4FDC1-1AB7-45A8-9076-FA6D59FF0961}" destId="{DE444A31-C2E9-4690-98AC-0D88A3CE6F85}" srcOrd="3" destOrd="0" parTransId="{5621A60B-5B6A-49D3-B0A5-837A99E11517}" sibTransId="{E63A9F2F-11CD-4382-89E0-9C7BE229F97C}"/>
    <dgm:cxn modelId="{0FEA34B8-A9E6-4565-8D86-D7C488CD0E48}" srcId="{0EA84884-929C-4E3C-B34C-44A2AB0D2B18}" destId="{91F506EE-B7F0-458E-B623-59356B770E43}" srcOrd="0" destOrd="0" parTransId="{E9E12520-33E4-4478-8D06-6AD567F591CF}" sibTransId="{5255578A-4B7C-4844-922E-44F2C504E27D}"/>
    <dgm:cxn modelId="{78C5FEC1-1F19-475E-971B-9E95E33506B4}" srcId="{E8B09F08-24B8-4559-BEDD-D1C4B7C7B9E3}" destId="{0EA84884-929C-4E3C-B34C-44A2AB0D2B18}" srcOrd="3" destOrd="0" parTransId="{DFE71A2A-C059-4F46-8515-EAB80B430532}" sibTransId="{0FEA0DDD-024E-43FF-909F-55E78AB3F3B2}"/>
    <dgm:cxn modelId="{B1AC6CC5-F5F9-473F-9E07-60B3CA0D2999}" srcId="{2D209C40-F4F7-4668-A80C-7B3E08F3637A}" destId="{43C1C303-94D6-4686-A418-B6B948060DE4}" srcOrd="0" destOrd="0" parTransId="{7263F2E3-B1CC-4343-B2F3-3F8FB363F57C}" sibTransId="{DAC0B6AA-E92F-433F-9DC4-69AE80AD16EB}"/>
    <dgm:cxn modelId="{7B747BD3-0E74-4F13-B2BA-34DDF83EE6D5}" srcId="{4BA4FDC1-1AB7-45A8-9076-FA6D59FF0961}" destId="{1466E21C-A666-42CE-AA14-B733C5937EE7}" srcOrd="1" destOrd="0" parTransId="{8DBDA376-E916-403D-A5D2-8C08E2137D49}" sibTransId="{DEA1E643-6334-40F9-BB33-DE851F28BF9F}"/>
    <dgm:cxn modelId="{6135CEDC-E847-484E-916C-C1001C7B4E47}" srcId="{44859459-759E-4950-A8E3-B3C28D362D47}" destId="{EF5BCF7C-BDBD-4830-8CF3-FB91F6D81CEE}" srcOrd="1" destOrd="0" parTransId="{06B2B67A-624D-4B0B-82DD-9C65A42AC540}" sibTransId="{364751AB-5F90-4484-9247-1E1E228FE5D3}"/>
    <dgm:cxn modelId="{726203E9-3EF8-4D4A-96CE-903E22812B4F}" type="presOf" srcId="{708B6154-847D-4FCC-8AA2-A582C6F670C4}" destId="{04584278-22FB-42F9-9CED-63E7094F2292}" srcOrd="0" destOrd="0" presId="urn:microsoft.com/office/officeart/2005/8/layout/hList1"/>
    <dgm:cxn modelId="{8D6041F1-F9C5-408C-BE24-44253C046A29}" srcId="{C0B9B5F6-7ABE-4AC6-82F7-A9AD02990C3B}" destId="{E8B09F08-24B8-4559-BEDD-D1C4B7C7B9E3}" srcOrd="0" destOrd="0" parTransId="{2AE1152A-F47E-4402-A221-5B1AF182E213}" sibTransId="{DA9AB83E-5D5E-405A-B4AE-B504D4031028}"/>
    <dgm:cxn modelId="{3C893DF7-C48E-423A-91EF-151EA8C40B31}" type="presOf" srcId="{C0B9B5F6-7ABE-4AC6-82F7-A9AD02990C3B}" destId="{B9F023F1-7241-4352-877A-4F7FA147F989}" srcOrd="0" destOrd="0" presId="urn:microsoft.com/office/officeart/2005/8/layout/hList1"/>
    <dgm:cxn modelId="{E1D045AB-D8EE-49DE-BDF6-FC068DAEE97F}" type="presParOf" srcId="{B9F023F1-7241-4352-877A-4F7FA147F989}" destId="{99C2BA31-1AF6-4B11-86D1-33DE6A3035C8}" srcOrd="0" destOrd="0" presId="urn:microsoft.com/office/officeart/2005/8/layout/hList1"/>
    <dgm:cxn modelId="{DFE5EE85-0734-4A15-8295-B33F29F437A2}" type="presParOf" srcId="{99C2BA31-1AF6-4B11-86D1-33DE6A3035C8}" destId="{CA8D0B14-8E42-4043-8404-27C34C063D60}" srcOrd="0" destOrd="0" presId="urn:microsoft.com/office/officeart/2005/8/layout/hList1"/>
    <dgm:cxn modelId="{8D3FE563-EA58-4E43-B9E5-DA8653AD6AFE}" type="presParOf" srcId="{99C2BA31-1AF6-4B11-86D1-33DE6A3035C8}" destId="{04584278-22FB-42F9-9CED-63E7094F2292}" srcOrd="1" destOrd="0" presId="urn:microsoft.com/office/officeart/2005/8/layout/hList1"/>
    <dgm:cxn modelId="{ED01F7FB-FBF7-4EE7-B951-981124AD20D3}" type="presParOf" srcId="{B9F023F1-7241-4352-877A-4F7FA147F989}" destId="{B66C378F-1576-4C82-90DB-BA9813E22913}" srcOrd="1" destOrd="0" presId="urn:microsoft.com/office/officeart/2005/8/layout/hList1"/>
    <dgm:cxn modelId="{C673D532-B90D-4D9E-8960-3A7AF3838D52}" type="presParOf" srcId="{B9F023F1-7241-4352-877A-4F7FA147F989}" destId="{B729BC5E-D711-4F79-AFBF-848C7E12B772}" srcOrd="2" destOrd="0" presId="urn:microsoft.com/office/officeart/2005/8/layout/hList1"/>
    <dgm:cxn modelId="{06843A81-9ECD-476D-BD8D-064468FC3428}" type="presParOf" srcId="{B729BC5E-D711-4F79-AFBF-848C7E12B772}" destId="{B13CC4E4-A202-4229-855B-C3B983F34C0A}" srcOrd="0" destOrd="0" presId="urn:microsoft.com/office/officeart/2005/8/layout/hList1"/>
    <dgm:cxn modelId="{A49FE5AC-3A06-4EDC-BF8C-264336D91ED4}" type="presParOf" srcId="{B729BC5E-D711-4F79-AFBF-848C7E12B772}" destId="{CE7B2527-57A7-48E5-8EC9-E532B3178F1C}" srcOrd="1" destOrd="0" presId="urn:microsoft.com/office/officeart/2005/8/layout/hList1"/>
    <dgm:cxn modelId="{0B2ABB54-24B0-48F6-9E4A-C341BAED5B79}" type="presParOf" srcId="{B9F023F1-7241-4352-877A-4F7FA147F989}" destId="{D0916C4B-E300-4361-B72F-4A77585FFB54}" srcOrd="3" destOrd="0" presId="urn:microsoft.com/office/officeart/2005/8/layout/hList1"/>
    <dgm:cxn modelId="{D4452684-F724-462E-AAF5-9D92076DA110}" type="presParOf" srcId="{B9F023F1-7241-4352-877A-4F7FA147F989}" destId="{C494600F-BB99-4CD3-8CA0-77845A411C3F}" srcOrd="4" destOrd="0" presId="urn:microsoft.com/office/officeart/2005/8/layout/hList1"/>
    <dgm:cxn modelId="{1720791A-2909-4E45-84A4-148A4D4ADDE6}" type="presParOf" srcId="{C494600F-BB99-4CD3-8CA0-77845A411C3F}" destId="{7F4EE465-9ECE-419E-9713-F4C0B3261A61}" srcOrd="0" destOrd="0" presId="urn:microsoft.com/office/officeart/2005/8/layout/hList1"/>
    <dgm:cxn modelId="{FB2DB868-FDA4-4C3E-B207-9B462637116F}" type="presParOf" srcId="{C494600F-BB99-4CD3-8CA0-77845A411C3F}" destId="{E5F1ABC7-123D-4D9F-92E3-DBAB4921D6C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63690-2F87-48EC-A560-20AC48D234AD}">
      <dsp:nvSpPr>
        <dsp:cNvPr id="0" name=""/>
        <dsp:cNvSpPr/>
      </dsp:nvSpPr>
      <dsp:spPr>
        <a:xfrm>
          <a:off x="0" y="373891"/>
          <a:ext cx="10515600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기초</a:t>
          </a:r>
          <a:r>
            <a:rPr 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LLM</a:t>
          </a:r>
          <a:r>
            <a:rPr lang="ko-KR" alt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원리</a:t>
          </a:r>
          <a:r>
            <a:rPr 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실습</a:t>
          </a:r>
          <a:endParaRPr lang="en-US" sz="1800" kern="1200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</a:t>
          </a:r>
          <a:r>
            <a:rPr 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8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</a:t>
          </a:r>
          <a:r>
            <a:rPr 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8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r>
            <a:rPr 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및 </a:t>
          </a:r>
          <a:r>
            <a:rPr lang="en-US" sz="18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</a:t>
          </a:r>
          <a:r>
            <a:rPr 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sz="18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sz="1800" kern="1200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373891"/>
        <a:ext cx="10515600" cy="1190700"/>
      </dsp:txXfrm>
    </dsp:sp>
    <dsp:sp modelId="{23F79F9E-B146-48B1-8E94-14C03EA3ED6A}">
      <dsp:nvSpPr>
        <dsp:cNvPr id="0" name=""/>
        <dsp:cNvSpPr/>
      </dsp:nvSpPr>
      <dsp:spPr>
        <a:xfrm>
          <a:off x="525780" y="108211"/>
          <a:ext cx="7360920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1: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기초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1719" y="134150"/>
        <a:ext cx="7309042" cy="479482"/>
      </dsp:txXfrm>
    </dsp:sp>
    <dsp:sp modelId="{470FDCE0-9D20-4C7B-A43D-ED1795FAF3AD}">
      <dsp:nvSpPr>
        <dsp:cNvPr id="0" name=""/>
        <dsp:cNvSpPr/>
      </dsp:nvSpPr>
      <dsp:spPr>
        <a:xfrm>
          <a:off x="0" y="1927471"/>
          <a:ext cx="10515600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Pandas, Matplotlib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홍보영상 콘텐츠 설계 실습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1927471"/>
        <a:ext cx="10515600" cy="1190700"/>
      </dsp:txXfrm>
    </dsp:sp>
    <dsp:sp modelId="{80B871F0-0106-47B4-BA04-7EF5FD9C7AF5}">
      <dsp:nvSpPr>
        <dsp:cNvPr id="0" name=""/>
        <dsp:cNvSpPr/>
      </dsp:nvSpPr>
      <dsp:spPr>
        <a:xfrm>
          <a:off x="525780" y="1661791"/>
          <a:ext cx="7360920" cy="5313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2: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기반 데이터 분석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1719" y="1687730"/>
        <a:ext cx="7309042" cy="479482"/>
      </dsp:txXfrm>
    </dsp:sp>
    <dsp:sp modelId="{03BEDFD7-A55C-4ED8-8BE1-14504C4C9CE9}">
      <dsp:nvSpPr>
        <dsp:cNvPr id="0" name=""/>
        <dsp:cNvSpPr/>
      </dsp:nvSpPr>
      <dsp:spPr>
        <a:xfrm>
          <a:off x="0" y="3481051"/>
          <a:ext cx="10515600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도구 소개 및 활용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템플릿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직무별 활용 실습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회의록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사업계획서 작성 실습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3481051"/>
        <a:ext cx="10515600" cy="1190700"/>
      </dsp:txXfrm>
    </dsp:sp>
    <dsp:sp modelId="{991B8859-E680-4603-A651-EB9DB879C3A0}">
      <dsp:nvSpPr>
        <dsp:cNvPr id="0" name=""/>
        <dsp:cNvSpPr/>
      </dsp:nvSpPr>
      <dsp:spPr>
        <a:xfrm>
          <a:off x="525780" y="3215371"/>
          <a:ext cx="7360920" cy="5313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3: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활용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1719" y="3241310"/>
        <a:ext cx="7309042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B8E44-E284-455E-93AB-F3EB0C3672E3}">
      <dsp:nvSpPr>
        <dsp:cNvPr id="0" name=""/>
        <dsp:cNvSpPr/>
      </dsp:nvSpPr>
      <dsp:spPr>
        <a:xfrm>
          <a:off x="4782" y="624301"/>
          <a:ext cx="1833118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텍스트 생성</a:t>
          </a:r>
          <a:endParaRPr lang="en-US" sz="2200" kern="1200"/>
        </a:p>
      </dsp:txBody>
      <dsp:txXfrm>
        <a:off x="4782" y="624301"/>
        <a:ext cx="1833118" cy="633600"/>
      </dsp:txXfrm>
    </dsp:sp>
    <dsp:sp modelId="{F316310B-617C-4EDA-9450-80235C89640A}">
      <dsp:nvSpPr>
        <dsp:cNvPr id="0" name=""/>
        <dsp:cNvSpPr/>
      </dsp:nvSpPr>
      <dsp:spPr>
        <a:xfrm>
          <a:off x="4782" y="1257901"/>
          <a:ext cx="1833118" cy="123799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ChatGPT, Gemini</a:t>
          </a:r>
        </a:p>
      </dsp:txBody>
      <dsp:txXfrm>
        <a:off x="4782" y="1257901"/>
        <a:ext cx="1833118" cy="1237994"/>
      </dsp:txXfrm>
    </dsp:sp>
    <dsp:sp modelId="{B3DB8C76-BD7A-4BFF-B78C-4B347A2788F3}">
      <dsp:nvSpPr>
        <dsp:cNvPr id="0" name=""/>
        <dsp:cNvSpPr/>
      </dsp:nvSpPr>
      <dsp:spPr>
        <a:xfrm>
          <a:off x="2094536" y="624301"/>
          <a:ext cx="1833118" cy="633600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이미지 생성</a:t>
          </a:r>
          <a:endParaRPr lang="en-US" sz="2200" kern="1200"/>
        </a:p>
      </dsp:txBody>
      <dsp:txXfrm>
        <a:off x="2094536" y="624301"/>
        <a:ext cx="1833118" cy="633600"/>
      </dsp:txXfrm>
    </dsp:sp>
    <dsp:sp modelId="{1BB3FB2B-7BE1-47C4-9C50-49BD487F1B14}">
      <dsp:nvSpPr>
        <dsp:cNvPr id="0" name=""/>
        <dsp:cNvSpPr/>
      </dsp:nvSpPr>
      <dsp:spPr>
        <a:xfrm>
          <a:off x="2094536" y="1257901"/>
          <a:ext cx="1833118" cy="123799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DALL·E, Stable Diffusion</a:t>
          </a:r>
        </a:p>
      </dsp:txBody>
      <dsp:txXfrm>
        <a:off x="2094536" y="1257901"/>
        <a:ext cx="1833118" cy="1237994"/>
      </dsp:txXfrm>
    </dsp:sp>
    <dsp:sp modelId="{51559F9C-EF8C-499C-BBF4-04F3FC801CC4}">
      <dsp:nvSpPr>
        <dsp:cNvPr id="0" name=""/>
        <dsp:cNvSpPr/>
      </dsp:nvSpPr>
      <dsp:spPr>
        <a:xfrm>
          <a:off x="4184291" y="624301"/>
          <a:ext cx="1833118" cy="63360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영상 생성</a:t>
          </a:r>
          <a:endParaRPr lang="en-US" sz="2200" kern="1200"/>
        </a:p>
      </dsp:txBody>
      <dsp:txXfrm>
        <a:off x="4184291" y="624301"/>
        <a:ext cx="1833118" cy="633600"/>
      </dsp:txXfrm>
    </dsp:sp>
    <dsp:sp modelId="{9DA181AA-27AB-4311-B55A-230C257092EA}">
      <dsp:nvSpPr>
        <dsp:cNvPr id="0" name=""/>
        <dsp:cNvSpPr/>
      </dsp:nvSpPr>
      <dsp:spPr>
        <a:xfrm>
          <a:off x="4184291" y="1257901"/>
          <a:ext cx="1833118" cy="123799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Runway, Pika</a:t>
          </a:r>
        </a:p>
      </dsp:txBody>
      <dsp:txXfrm>
        <a:off x="4184291" y="1257901"/>
        <a:ext cx="1833118" cy="1237994"/>
      </dsp:txXfrm>
    </dsp:sp>
    <dsp:sp modelId="{44C2D80E-0067-4AC8-8730-319A92662BA5}">
      <dsp:nvSpPr>
        <dsp:cNvPr id="0" name=""/>
        <dsp:cNvSpPr/>
      </dsp:nvSpPr>
      <dsp:spPr>
        <a:xfrm>
          <a:off x="6274046" y="624301"/>
          <a:ext cx="1833118" cy="633600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음악 생성</a:t>
          </a:r>
          <a:endParaRPr lang="en-US" sz="2200" kern="1200"/>
        </a:p>
      </dsp:txBody>
      <dsp:txXfrm>
        <a:off x="6274046" y="624301"/>
        <a:ext cx="1833118" cy="633600"/>
      </dsp:txXfrm>
    </dsp:sp>
    <dsp:sp modelId="{E8C40627-3AFA-41EF-841E-DBE0282D73B5}">
      <dsp:nvSpPr>
        <dsp:cNvPr id="0" name=""/>
        <dsp:cNvSpPr/>
      </dsp:nvSpPr>
      <dsp:spPr>
        <a:xfrm>
          <a:off x="6274046" y="1257901"/>
          <a:ext cx="1833118" cy="123799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Suno, Udio</a:t>
          </a:r>
        </a:p>
      </dsp:txBody>
      <dsp:txXfrm>
        <a:off x="6274046" y="1257901"/>
        <a:ext cx="1833118" cy="1237994"/>
      </dsp:txXfrm>
    </dsp:sp>
    <dsp:sp modelId="{1C3F827C-8313-432D-BE24-EF6C7862770B}">
      <dsp:nvSpPr>
        <dsp:cNvPr id="0" name=""/>
        <dsp:cNvSpPr/>
      </dsp:nvSpPr>
      <dsp:spPr>
        <a:xfrm>
          <a:off x="8363800" y="624301"/>
          <a:ext cx="1833118" cy="6336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음성 생성</a:t>
          </a:r>
          <a:endParaRPr lang="en-US" sz="2200" kern="1200"/>
        </a:p>
      </dsp:txBody>
      <dsp:txXfrm>
        <a:off x="8363800" y="624301"/>
        <a:ext cx="1833118" cy="633600"/>
      </dsp:txXfrm>
    </dsp:sp>
    <dsp:sp modelId="{D34EBF7B-5824-48DD-A199-84F147397B51}">
      <dsp:nvSpPr>
        <dsp:cNvPr id="0" name=""/>
        <dsp:cNvSpPr/>
      </dsp:nvSpPr>
      <dsp:spPr>
        <a:xfrm>
          <a:off x="8363800" y="1257901"/>
          <a:ext cx="1833118" cy="123799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2200" kern="1200" dirty="0"/>
            <a:t>음성 합성 </a:t>
          </a:r>
          <a:r>
            <a:rPr lang="en-US" sz="2200" kern="1200" dirty="0"/>
            <a:t>AI (TTS)</a:t>
          </a:r>
        </a:p>
      </dsp:txBody>
      <dsp:txXfrm>
        <a:off x="8363800" y="1257901"/>
        <a:ext cx="1833118" cy="12379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E0245-0807-4382-A592-640CD295628B}">
      <dsp:nvSpPr>
        <dsp:cNvPr id="0" name=""/>
        <dsp:cNvSpPr/>
      </dsp:nvSpPr>
      <dsp:spPr>
        <a:xfrm>
          <a:off x="0" y="2626263"/>
          <a:ext cx="10515600" cy="17231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 dirty="0"/>
            <a:t>대표 모델</a:t>
          </a:r>
          <a:endParaRPr lang="en-US" sz="2600" kern="1200" dirty="0"/>
        </a:p>
      </dsp:txBody>
      <dsp:txXfrm>
        <a:off x="0" y="2626263"/>
        <a:ext cx="10515600" cy="930480"/>
      </dsp:txXfrm>
    </dsp:sp>
    <dsp:sp modelId="{14BED8DC-7B19-47C3-B1A3-F0A5C40B52AA}">
      <dsp:nvSpPr>
        <dsp:cNvPr id="0" name=""/>
        <dsp:cNvSpPr/>
      </dsp:nvSpPr>
      <dsp:spPr>
        <a:xfrm>
          <a:off x="5134" y="3522281"/>
          <a:ext cx="3501776" cy="79263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36830" rIns="206248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ChatGPT (OpenAI)</a:t>
          </a:r>
        </a:p>
      </dsp:txBody>
      <dsp:txXfrm>
        <a:off x="5134" y="3522281"/>
        <a:ext cx="3501776" cy="792631"/>
      </dsp:txXfrm>
    </dsp:sp>
    <dsp:sp modelId="{19F3AB06-84DF-4F05-80E1-8BAFCC7958B1}">
      <dsp:nvSpPr>
        <dsp:cNvPr id="0" name=""/>
        <dsp:cNvSpPr/>
      </dsp:nvSpPr>
      <dsp:spPr>
        <a:xfrm>
          <a:off x="3506911" y="3522281"/>
          <a:ext cx="3501776" cy="792631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36830" rIns="206248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Claude (Anthropic)</a:t>
          </a:r>
        </a:p>
      </dsp:txBody>
      <dsp:txXfrm>
        <a:off x="3506911" y="3522281"/>
        <a:ext cx="3501776" cy="792631"/>
      </dsp:txXfrm>
    </dsp:sp>
    <dsp:sp modelId="{11C45E2C-1270-4577-AB55-6BD44BBEEEBB}">
      <dsp:nvSpPr>
        <dsp:cNvPr id="0" name=""/>
        <dsp:cNvSpPr/>
      </dsp:nvSpPr>
      <dsp:spPr>
        <a:xfrm>
          <a:off x="7008688" y="3522281"/>
          <a:ext cx="3501776" cy="792631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36830" rIns="206248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Gemini (Google)</a:t>
          </a:r>
        </a:p>
      </dsp:txBody>
      <dsp:txXfrm>
        <a:off x="7008688" y="3522281"/>
        <a:ext cx="3501776" cy="792631"/>
      </dsp:txXfrm>
    </dsp:sp>
    <dsp:sp modelId="{75E5CAE0-09E0-45D3-A492-6E8F32F11931}">
      <dsp:nvSpPr>
        <dsp:cNvPr id="0" name=""/>
        <dsp:cNvSpPr/>
      </dsp:nvSpPr>
      <dsp:spPr>
        <a:xfrm rot="10800000">
          <a:off x="0" y="1962"/>
          <a:ext cx="10515600" cy="2650147"/>
        </a:xfrm>
        <a:prstGeom prst="upArrowCallou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 dirty="0"/>
            <a:t>대량의 텍스트 데이터를 학습하여 문맥을 이해하고</a:t>
          </a:r>
          <a:r>
            <a:rPr lang="en-US" sz="2600" kern="1200" dirty="0"/>
            <a:t>, </a:t>
          </a:r>
          <a:r>
            <a:rPr lang="ko-KR" sz="2600" kern="1200" dirty="0"/>
            <a:t>새로운 문장을 생성할 수 있는 모델</a:t>
          </a:r>
          <a:endParaRPr lang="en-US" sz="2600" kern="1200" dirty="0"/>
        </a:p>
      </dsp:txBody>
      <dsp:txXfrm rot="10800000">
        <a:off x="0" y="1962"/>
        <a:ext cx="10515600" cy="17219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2332C-319D-4ACE-97E9-25D7B97DDA20}">
      <dsp:nvSpPr>
        <dsp:cNvPr id="0" name=""/>
        <dsp:cNvSpPr/>
      </dsp:nvSpPr>
      <dsp:spPr>
        <a:xfrm>
          <a:off x="5536" y="282646"/>
          <a:ext cx="1716197" cy="1029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kern="1200" dirty="0"/>
            <a:t>입력 텍스트</a:t>
          </a:r>
          <a:endParaRPr lang="en-US" sz="2000" kern="1200" dirty="0"/>
        </a:p>
      </dsp:txBody>
      <dsp:txXfrm>
        <a:off x="35695" y="312805"/>
        <a:ext cx="1655879" cy="969400"/>
      </dsp:txXfrm>
    </dsp:sp>
    <dsp:sp modelId="{8D3C9FDB-922A-4E14-86A3-10F944308611}">
      <dsp:nvSpPr>
        <dsp:cNvPr id="0" name=""/>
        <dsp:cNvSpPr/>
      </dsp:nvSpPr>
      <dsp:spPr>
        <a:xfrm>
          <a:off x="1893352" y="584697"/>
          <a:ext cx="363833" cy="425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893352" y="669820"/>
        <a:ext cx="254683" cy="255370"/>
      </dsp:txXfrm>
    </dsp:sp>
    <dsp:sp modelId="{F1864560-320C-4745-8BBF-DC4D74EC4865}">
      <dsp:nvSpPr>
        <dsp:cNvPr id="0" name=""/>
        <dsp:cNvSpPr/>
      </dsp:nvSpPr>
      <dsp:spPr>
        <a:xfrm>
          <a:off x="2408212" y="282646"/>
          <a:ext cx="1716197" cy="1029718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kern="1200"/>
            <a:t>토큰화</a:t>
          </a:r>
          <a:endParaRPr lang="en-US" sz="2000" kern="1200"/>
        </a:p>
      </dsp:txBody>
      <dsp:txXfrm>
        <a:off x="2438371" y="312805"/>
        <a:ext cx="1655879" cy="969400"/>
      </dsp:txXfrm>
    </dsp:sp>
    <dsp:sp modelId="{F770EC4B-301F-4F3A-AED4-4DB0C9BD88F5}">
      <dsp:nvSpPr>
        <dsp:cNvPr id="0" name=""/>
        <dsp:cNvSpPr/>
      </dsp:nvSpPr>
      <dsp:spPr>
        <a:xfrm>
          <a:off x="4296028" y="584697"/>
          <a:ext cx="363833" cy="425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296028" y="669820"/>
        <a:ext cx="254683" cy="255370"/>
      </dsp:txXfrm>
    </dsp:sp>
    <dsp:sp modelId="{9F082B46-7C2C-430E-BBFB-DFD1206891E4}">
      <dsp:nvSpPr>
        <dsp:cNvPr id="0" name=""/>
        <dsp:cNvSpPr/>
      </dsp:nvSpPr>
      <dsp:spPr>
        <a:xfrm>
          <a:off x="4810887" y="282646"/>
          <a:ext cx="1716197" cy="1029718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kern="1200" dirty="0"/>
            <a:t>컨텍스트 분석</a:t>
          </a:r>
          <a:endParaRPr lang="en-US" sz="2000" kern="1200" dirty="0"/>
        </a:p>
      </dsp:txBody>
      <dsp:txXfrm>
        <a:off x="4841046" y="312805"/>
        <a:ext cx="1655879" cy="969400"/>
      </dsp:txXfrm>
    </dsp:sp>
    <dsp:sp modelId="{3792FDB3-779E-4BF4-8F7F-3AC4FD9C6AF9}">
      <dsp:nvSpPr>
        <dsp:cNvPr id="0" name=""/>
        <dsp:cNvSpPr/>
      </dsp:nvSpPr>
      <dsp:spPr>
        <a:xfrm>
          <a:off x="6698704" y="584697"/>
          <a:ext cx="363833" cy="425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698704" y="669820"/>
        <a:ext cx="254683" cy="255370"/>
      </dsp:txXfrm>
    </dsp:sp>
    <dsp:sp modelId="{8C85E207-0136-4D87-8665-86BDD102196D}">
      <dsp:nvSpPr>
        <dsp:cNvPr id="0" name=""/>
        <dsp:cNvSpPr/>
      </dsp:nvSpPr>
      <dsp:spPr>
        <a:xfrm>
          <a:off x="7213563" y="282646"/>
          <a:ext cx="1716197" cy="1029718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kern="1200"/>
            <a:t>다음 단어 예측 반복</a:t>
          </a:r>
          <a:endParaRPr lang="en-US" sz="2000" kern="1200"/>
        </a:p>
      </dsp:txBody>
      <dsp:txXfrm>
        <a:off x="7243722" y="312805"/>
        <a:ext cx="1655879" cy="969400"/>
      </dsp:txXfrm>
    </dsp:sp>
    <dsp:sp modelId="{2DAF4B18-C0C7-4606-ABB2-FE03574372EF}">
      <dsp:nvSpPr>
        <dsp:cNvPr id="0" name=""/>
        <dsp:cNvSpPr/>
      </dsp:nvSpPr>
      <dsp:spPr>
        <a:xfrm>
          <a:off x="9101380" y="584697"/>
          <a:ext cx="363833" cy="425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101380" y="669820"/>
        <a:ext cx="254683" cy="255370"/>
      </dsp:txXfrm>
    </dsp:sp>
    <dsp:sp modelId="{7BC62548-5BE8-45E8-BEDF-01AA4708F7F2}">
      <dsp:nvSpPr>
        <dsp:cNvPr id="0" name=""/>
        <dsp:cNvSpPr/>
      </dsp:nvSpPr>
      <dsp:spPr>
        <a:xfrm>
          <a:off x="9616239" y="282646"/>
          <a:ext cx="1716197" cy="1029718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kern="1200"/>
            <a:t>출력 생성</a:t>
          </a:r>
          <a:endParaRPr lang="en-US" sz="2000" kern="1200"/>
        </a:p>
      </dsp:txBody>
      <dsp:txXfrm>
        <a:off x="9646398" y="312805"/>
        <a:ext cx="1655879" cy="969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52FBCD-E049-4884-BFDB-7778495D74AC}">
      <dsp:nvSpPr>
        <dsp:cNvPr id="0" name=""/>
        <dsp:cNvSpPr/>
      </dsp:nvSpPr>
      <dsp:spPr>
        <a:xfrm>
          <a:off x="2827800" y="2177"/>
          <a:ext cx="4860000" cy="104746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Role Prompting</a:t>
          </a:r>
        </a:p>
      </dsp:txBody>
      <dsp:txXfrm>
        <a:off x="2827800" y="2177"/>
        <a:ext cx="4860000" cy="1047465"/>
      </dsp:txXfrm>
    </dsp:sp>
    <dsp:sp modelId="{68BEA994-34CB-4805-B784-C2E0ED5849AD}">
      <dsp:nvSpPr>
        <dsp:cNvPr id="0" name=""/>
        <dsp:cNvSpPr/>
      </dsp:nvSpPr>
      <dsp:spPr>
        <a:xfrm>
          <a:off x="1747800" y="1102016"/>
          <a:ext cx="7020000" cy="1047465"/>
        </a:xfrm>
        <a:prstGeom prst="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Chain of Thought (</a:t>
          </a:r>
          <a:r>
            <a:rPr lang="en-US" sz="5400" kern="1200" dirty="0" err="1"/>
            <a:t>CoT</a:t>
          </a:r>
          <a:r>
            <a:rPr lang="en-US" sz="5400" kern="1200" dirty="0"/>
            <a:t>)</a:t>
          </a:r>
        </a:p>
      </dsp:txBody>
      <dsp:txXfrm>
        <a:off x="1747800" y="1102016"/>
        <a:ext cx="7020000" cy="1047465"/>
      </dsp:txXfrm>
    </dsp:sp>
    <dsp:sp modelId="{CADAE08A-29BF-4CD3-8630-45311AA4141F}">
      <dsp:nvSpPr>
        <dsp:cNvPr id="0" name=""/>
        <dsp:cNvSpPr/>
      </dsp:nvSpPr>
      <dsp:spPr>
        <a:xfrm>
          <a:off x="2121524" y="2201855"/>
          <a:ext cx="6272550" cy="1047465"/>
        </a:xfrm>
        <a:prstGeom prst="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Few-shot Prompting</a:t>
          </a:r>
        </a:p>
      </dsp:txBody>
      <dsp:txXfrm>
        <a:off x="2121524" y="2201855"/>
        <a:ext cx="6272550" cy="1047465"/>
      </dsp:txXfrm>
    </dsp:sp>
    <dsp:sp modelId="{08B8D085-B4DB-4800-ACC6-59B38F295637}">
      <dsp:nvSpPr>
        <dsp:cNvPr id="0" name=""/>
        <dsp:cNvSpPr/>
      </dsp:nvSpPr>
      <dsp:spPr>
        <a:xfrm>
          <a:off x="1839318" y="3301694"/>
          <a:ext cx="6836962" cy="1047465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Contextual Prompting</a:t>
          </a:r>
        </a:p>
      </dsp:txBody>
      <dsp:txXfrm>
        <a:off x="1839318" y="3301694"/>
        <a:ext cx="6836962" cy="10474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D0B14-8E42-4043-8404-27C34C063D60}">
      <dsp:nvSpPr>
        <dsp:cNvPr id="0" name=""/>
        <dsp:cNvSpPr/>
      </dsp:nvSpPr>
      <dsp:spPr>
        <a:xfrm>
          <a:off x="3286" y="88299"/>
          <a:ext cx="3203971" cy="518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제로샷 </a:t>
          </a: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(Zero-shot)</a:t>
          </a:r>
        </a:p>
      </dsp:txBody>
      <dsp:txXfrm>
        <a:off x="3286" y="88299"/>
        <a:ext cx="3203971" cy="518400"/>
      </dsp:txXfrm>
    </dsp:sp>
    <dsp:sp modelId="{04584278-22FB-42F9-9CED-63E7094F2292}">
      <dsp:nvSpPr>
        <dsp:cNvPr id="0" name=""/>
        <dsp:cNvSpPr/>
      </dsp:nvSpPr>
      <dsp:spPr>
        <a:xfrm>
          <a:off x="3286" y="606699"/>
          <a:ext cx="3203971" cy="365633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훈련 데이터 없이 새로운 작업을 수행하는 방법 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다음 문장을 한국어로 번역해줘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Hello, how are you?"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예상 출력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안녕하세요</a:t>
          </a: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어떻게 지내세요</a:t>
          </a: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?" </a:t>
          </a:r>
        </a:p>
      </dsp:txBody>
      <dsp:txXfrm>
        <a:off x="3286" y="606699"/>
        <a:ext cx="3203971" cy="3656339"/>
      </dsp:txXfrm>
    </dsp:sp>
    <dsp:sp modelId="{B13CC4E4-A202-4229-855B-C3B983F34C0A}">
      <dsp:nvSpPr>
        <dsp:cNvPr id="0" name=""/>
        <dsp:cNvSpPr/>
      </dsp:nvSpPr>
      <dsp:spPr>
        <a:xfrm>
          <a:off x="3655814" y="88299"/>
          <a:ext cx="3203971" cy="51840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원샷 </a:t>
          </a: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(One-shot) </a:t>
          </a:r>
        </a:p>
      </dsp:txBody>
      <dsp:txXfrm>
        <a:off x="3655814" y="88299"/>
        <a:ext cx="3203971" cy="518400"/>
      </dsp:txXfrm>
    </dsp:sp>
    <dsp:sp modelId="{CE7B2527-57A7-48E5-8EC9-E532B3178F1C}">
      <dsp:nvSpPr>
        <dsp:cNvPr id="0" name=""/>
        <dsp:cNvSpPr/>
      </dsp:nvSpPr>
      <dsp:spPr>
        <a:xfrm>
          <a:off x="3655814" y="606699"/>
          <a:ext cx="3203971" cy="3656339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 하나의 예시만으로 새로운 작업을 학습하는 방법 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예시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사과 → 과일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이제 다음을 분류해줘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장미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예상 출력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  <a:r>
            <a:rPr lang="ko-KR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꽃</a:t>
          </a: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"</a:t>
          </a:r>
        </a:p>
      </dsp:txBody>
      <dsp:txXfrm>
        <a:off x="3655814" y="606699"/>
        <a:ext cx="3203971" cy="3656339"/>
      </dsp:txXfrm>
    </dsp:sp>
    <dsp:sp modelId="{7F4EE465-9ECE-419E-9713-F4C0B3261A61}">
      <dsp:nvSpPr>
        <dsp:cNvPr id="0" name=""/>
        <dsp:cNvSpPr/>
      </dsp:nvSpPr>
      <dsp:spPr>
        <a:xfrm>
          <a:off x="7308342" y="88299"/>
          <a:ext cx="3203971" cy="5184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퓨샷 </a:t>
          </a:r>
          <a:r>
            <a:rPr lang="en-US" sz="18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(Few-shot) </a:t>
          </a:r>
        </a:p>
      </dsp:txBody>
      <dsp:txXfrm>
        <a:off x="7308342" y="88299"/>
        <a:ext cx="3203971" cy="518400"/>
      </dsp:txXfrm>
    </dsp:sp>
    <dsp:sp modelId="{E5F1ABC7-123D-4D9F-92E3-DBAB4921D6C8}">
      <dsp:nvSpPr>
        <dsp:cNvPr id="0" name=""/>
        <dsp:cNvSpPr/>
      </dsp:nvSpPr>
      <dsp:spPr>
        <a:xfrm>
          <a:off x="7311628" y="597923"/>
          <a:ext cx="3203971" cy="365633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소수의 예시</a:t>
          </a:r>
          <a:r>
            <a:rPr lang="en-US" alt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보통 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2-10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개</a:t>
          </a:r>
          <a:r>
            <a:rPr lang="en-US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)</a:t>
          </a:r>
          <a:r>
            <a:rPr lang="ko-KR" sz="18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로 새로운 작업을 학습하는 방법</a:t>
          </a:r>
          <a:endParaRPr lang="en-US" sz="18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7311628" y="597923"/>
        <a:ext cx="3203971" cy="3656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7895AC-283E-0AC0-2427-7E7D463EE0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17A75-8CAF-08F0-2BF6-B84FF43851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CD1A3-7324-4EAF-AA62-1886360CE1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918E4-62F8-971E-221B-A429D8FB72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10B5C-31DA-FFB8-96BF-4643744676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10CE8-203C-4F3C-9B01-4B12EED6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440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C9257-8587-44C9-8E60-55DF048BAC2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068A2-42FE-4F8A-946F-EC43CCFCA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2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ispersondoesnotexist.com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https://seoultech.zoom.us/j/6223954498 (</a:t>
            </a:r>
            <a:r>
              <a:rPr lang="fr-FR" dirty="0" err="1"/>
              <a:t>Passcode</a:t>
            </a:r>
            <a:r>
              <a:rPr lang="fr-FR" dirty="0"/>
              <a:t>: 1234)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5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https://github.com/denverkim/ppfk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74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AI </a:t>
            </a:r>
            <a:r>
              <a:rPr lang="ko-KR" altLang="en-US" dirty="0"/>
              <a:t>기반 기획안 작성</a:t>
            </a:r>
            <a:r>
              <a:rPr lang="en-US" altLang="ko-KR" dirty="0"/>
              <a:t>, </a:t>
            </a:r>
            <a:r>
              <a:rPr lang="ko-KR" altLang="en-US" dirty="0"/>
              <a:t>분석 자동화</a:t>
            </a:r>
            <a:r>
              <a:rPr lang="en-US" altLang="ko-KR" dirty="0"/>
              <a:t>, </a:t>
            </a:r>
            <a:r>
              <a:rPr lang="ko-KR" altLang="en-US" dirty="0"/>
              <a:t>보고서 자동화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92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9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9320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9FD3B-103C-45E4-8F1A-1498E58978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52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CycleGAN</a:t>
            </a:r>
            <a:r>
              <a:rPr lang="en-US" dirty="0"/>
              <a:t>: </a:t>
            </a:r>
            <a:r>
              <a:rPr lang="ko-KR" altLang="en-US" dirty="0"/>
              <a:t>말 ↔ 얼룩말</a:t>
            </a:r>
            <a:r>
              <a:rPr lang="en-US" altLang="ko-KR" dirty="0"/>
              <a:t>, </a:t>
            </a:r>
            <a:r>
              <a:rPr lang="ko-KR" altLang="en-US" dirty="0"/>
              <a:t>여름 풍경 ↔ 겨울 풍경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StarGAN</a:t>
            </a:r>
            <a:r>
              <a:rPr lang="en-US" dirty="0"/>
              <a:t>: </a:t>
            </a:r>
            <a:r>
              <a:rPr lang="ko-KR" altLang="en-US" dirty="0"/>
              <a:t>얼굴 사진에서 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표정 등을 한 모델로 변경 가능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FusionGAN</a:t>
            </a:r>
            <a:r>
              <a:rPr lang="en-US" dirty="0"/>
              <a:t>: </a:t>
            </a:r>
            <a:r>
              <a:rPr lang="ko-KR" altLang="en-US" dirty="0"/>
              <a:t>스타일 혼합</a:t>
            </a:r>
            <a:r>
              <a:rPr lang="en-US" altLang="ko-KR" dirty="0"/>
              <a:t>. </a:t>
            </a:r>
            <a:r>
              <a:rPr lang="ko-KR" altLang="en-US" dirty="0"/>
              <a:t>예술 스타일 여러 개를 합쳐 새로운 예술 이미지 생성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StyleGAN: </a:t>
            </a:r>
            <a:r>
              <a:rPr lang="ko-KR" altLang="en-US" dirty="0"/>
              <a:t>세밀한 스타일 조절</a:t>
            </a:r>
            <a:r>
              <a:rPr lang="en-US" altLang="ko-KR" dirty="0"/>
              <a:t>. </a:t>
            </a:r>
            <a:r>
              <a:rPr lang="ko-KR" altLang="en-US" dirty="0"/>
              <a:t>가상 인물 사진 생성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BigGAN</a:t>
            </a:r>
            <a:r>
              <a:rPr lang="en-US" dirty="0"/>
              <a:t>: </a:t>
            </a:r>
            <a:r>
              <a:rPr lang="ko-KR" altLang="en-US" dirty="0"/>
              <a:t>고품질</a:t>
            </a:r>
            <a:r>
              <a:rPr lang="en-US" altLang="ko-KR" dirty="0"/>
              <a:t>, </a:t>
            </a:r>
            <a:r>
              <a:rPr lang="ko-KR" altLang="en-US" dirty="0"/>
              <a:t>다수 클래스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thispersondoesnotexist.com (1024×1024)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22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84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78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8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47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21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B54A5-8AFA-F527-C38F-695A9359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95CB3-CAC7-FFF5-FDC2-DC733FF12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35639-81AE-E239-B3F1-947A92F86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44B61-2123-EAB5-174E-B04001E72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958B1-70F9-484D-B578-78534419A12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772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12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94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Perplexity AI</a:t>
            </a:r>
            <a:r>
              <a:rPr lang="ko-KR" altLang="en-US" dirty="0"/>
              <a:t>에서 개발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20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95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34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45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04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8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23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094B2-A81F-2283-DCD7-9C7CA7DB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64853-2E70-90AD-93BE-A744B8582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A24ED-4849-57D5-7EED-C32B65A67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4BCBF-1012-AE99-9850-DECE8CC6C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5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Classify the text into neutral, negative, or positive</a:t>
            </a:r>
          </a:p>
          <a:p>
            <a:endParaRPr lang="en-US" dirty="0"/>
          </a:p>
          <a:p>
            <a:r>
              <a:rPr lang="en-US" dirty="0"/>
              <a:t>Text: I think the food was okay.</a:t>
            </a:r>
          </a:p>
          <a:p>
            <a:endParaRPr lang="en-US" dirty="0"/>
          </a:p>
          <a:p>
            <a:r>
              <a:rPr lang="en-US" dirty="0"/>
              <a:t>Sentiment: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78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958B1-70F9-484D-B578-78534419A120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423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22F87-55D7-6091-9A56-65118BFA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C3506-A5F7-981D-8B32-BDBA64D6F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D0124-2E5E-65DA-C0F9-38A450D38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Wingdings" panose="05000000000000000000" pitchFamily="2" charset="2"/>
              <a:buChar char="§"/>
            </a:pPr>
            <a:r>
              <a:rPr lang="en-US" dirty="0" err="1"/>
              <a:t>경력과</a:t>
            </a:r>
            <a:r>
              <a:rPr lang="en-US" dirty="0"/>
              <a:t> </a:t>
            </a:r>
            <a:r>
              <a:rPr lang="en-US" dirty="0" err="1"/>
              <a:t>역량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  <a:p>
            <a:pPr marL="228600" lvl="0" indent="-228600">
              <a:buFont typeface="Wingdings" panose="05000000000000000000" pitchFamily="2" charset="2"/>
              <a:buChar char="§"/>
            </a:pPr>
            <a:r>
              <a:rPr lang="en-US" dirty="0" err="1"/>
              <a:t>직무</a:t>
            </a:r>
            <a:r>
              <a:rPr lang="en-US" dirty="0"/>
              <a:t> </a:t>
            </a:r>
            <a:r>
              <a:rPr lang="en-US" dirty="0" err="1"/>
              <a:t>맞춤형</a:t>
            </a:r>
            <a:r>
              <a:rPr lang="en-US" dirty="0"/>
              <a:t> </a:t>
            </a:r>
            <a:r>
              <a:rPr lang="en-US" dirty="0" err="1"/>
              <a:t>문장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7FA3C-112A-1BF7-CA60-E35E29E4D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490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ECD1-FC90-EEFA-60D5-B8C9DF6A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887D-3477-1810-E77B-AC553E305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DA74D-57A1-26B8-97A6-1D94D4C82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Wingdings" panose="05000000000000000000" pitchFamily="2" charset="2"/>
              <a:buChar char="§"/>
            </a:pPr>
            <a:r>
              <a:rPr lang="en-US" dirty="0" err="1"/>
              <a:t>경력과</a:t>
            </a:r>
            <a:r>
              <a:rPr lang="en-US" dirty="0"/>
              <a:t> </a:t>
            </a:r>
            <a:r>
              <a:rPr lang="en-US" dirty="0" err="1"/>
              <a:t>역량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  <a:p>
            <a:pPr marL="228600" lvl="0" indent="-228600">
              <a:buFont typeface="Wingdings" panose="05000000000000000000" pitchFamily="2" charset="2"/>
              <a:buChar char="§"/>
            </a:pPr>
            <a:r>
              <a:rPr lang="en-US" dirty="0" err="1"/>
              <a:t>직무</a:t>
            </a:r>
            <a:r>
              <a:rPr lang="en-US" dirty="0"/>
              <a:t> </a:t>
            </a:r>
            <a:r>
              <a:rPr lang="en-US" dirty="0" err="1"/>
              <a:t>맞춤형</a:t>
            </a:r>
            <a:r>
              <a:rPr lang="en-US" dirty="0"/>
              <a:t> </a:t>
            </a:r>
            <a:r>
              <a:rPr lang="en-US" dirty="0" err="1"/>
              <a:t>문장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err="1"/>
              <a:t>제약조건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분량</a:t>
            </a:r>
            <a:r>
              <a:rPr lang="en-US" dirty="0"/>
              <a:t>, </a:t>
            </a:r>
            <a:r>
              <a:rPr lang="en-US" dirty="0" err="1"/>
              <a:t>문체</a:t>
            </a:r>
            <a:r>
              <a:rPr lang="en-US" dirty="0"/>
              <a:t>, </a:t>
            </a:r>
            <a:r>
              <a:rPr lang="en-US" dirty="0" err="1"/>
              <a:t>포함할</a:t>
            </a:r>
            <a:r>
              <a:rPr lang="en-US" dirty="0"/>
              <a:t> </a:t>
            </a:r>
            <a:r>
              <a:rPr lang="en-US" dirty="0" err="1"/>
              <a:t>내용과</a:t>
            </a:r>
            <a:r>
              <a:rPr lang="en-US" dirty="0"/>
              <a:t> </a:t>
            </a:r>
            <a:r>
              <a:rPr lang="en-US" dirty="0" err="1"/>
              <a:t>제외할</a:t>
            </a:r>
            <a:r>
              <a:rPr lang="en-US" dirty="0"/>
              <a:t> </a:t>
            </a:r>
            <a:r>
              <a:rPr lang="en-US" dirty="0" err="1"/>
              <a:t>내용</a:t>
            </a:r>
            <a:r>
              <a:rPr lang="en-US" dirty="0"/>
              <a:t> </a:t>
            </a:r>
            <a:r>
              <a:rPr lang="en-US" dirty="0" err="1"/>
              <a:t>지정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06B7E-43EC-B958-E08D-39D0EB9D2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03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040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보고서 제목</a:t>
            </a:r>
            <a:r>
              <a:rPr lang="en-US" altLang="ko-KR" dirty="0"/>
              <a:t>: 2026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분기 매출 실적 분석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3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502920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5029200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04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61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764DE79-268F-4C1A-8933-263129D2AF90}" type="datetimeFigureOut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40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23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05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039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75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61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2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50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290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54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1F6D-45D4-E601-7C2F-E062159D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15B99-FC10-1D79-0B7C-CC368C008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50694"/>
            <a:ext cx="5181600" cy="403153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1BB50-E98F-AA22-2E73-4D8EBE33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50694"/>
            <a:ext cx="5181600" cy="403153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3D4E75-10C5-EEFC-8313-DCF99FE548F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200" y="1506204"/>
            <a:ext cx="10515600" cy="104449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57308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0710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244064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3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560812C0-D4F0-C345-96B4-1E8B918506AC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7A9709E4-652E-524A-8D35-CF602AA44A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560812C0-D4F0-C345-96B4-1E8B918506AC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7A9709E4-652E-524A-8D35-CF602AA44A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5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778" r:id="rId12"/>
    <p:sldLayoutId id="2147483774" r:id="rId13"/>
    <p:sldLayoutId id="2147483776" r:id="rId14"/>
    <p:sldLayoutId id="21474837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understanding-the-four-types-of-artificial-intelligenc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nverkim/sn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nse-lang.org/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4F1F-67FA-0C3D-A93E-0F74A982E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592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[AI </a:t>
            </a:r>
            <a:r>
              <a:rPr lang="en-US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리터러시</a:t>
            </a: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교육</a:t>
            </a: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ABAEF4-AC9C-3618-C111-C5F9850C2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333" y="945923"/>
            <a:ext cx="9144000" cy="14271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생성형 </a:t>
            </a:r>
            <a:r>
              <a:rPr lang="en-US" altLang="ko-K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활용</a:t>
            </a:r>
            <a:endParaRPr lang="en-US" altLang="ko-K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실무역량 강화 교육</a:t>
            </a:r>
            <a:endParaRPr lang="en-US" altLang="ko-K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63C892-9246-B4AF-E256-0C1F8C31E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235" y="5976601"/>
            <a:ext cx="2121009" cy="7112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845EA8-F1FE-E42F-1E8E-C78EC685837C}"/>
              </a:ext>
            </a:extLst>
          </p:cNvPr>
          <p:cNvSpPr txBox="1"/>
          <p:nvPr/>
        </p:nvSpPr>
        <p:spPr>
          <a:xfrm>
            <a:off x="2902490" y="1980314"/>
            <a:ext cx="6549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ko-KR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DAY 1</a:t>
            </a:r>
          </a:p>
          <a:p>
            <a:pPr lvl="0" algn="ctr"/>
            <a:r>
              <a:rPr lang="ko-KR" altLang="en-US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생성형 </a:t>
            </a:r>
            <a:r>
              <a:rPr lang="en-US" altLang="ko-KR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실무 기초</a:t>
            </a:r>
            <a:endParaRPr 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96B143-2289-9C46-A0CF-3FA05014D98B}"/>
              </a:ext>
            </a:extLst>
          </p:cNvPr>
          <p:cNvSpPr txBox="1"/>
          <p:nvPr/>
        </p:nvSpPr>
        <p:spPr>
          <a:xfrm>
            <a:off x="4433515" y="6101386"/>
            <a:ext cx="4036717" cy="461665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김효정 강사</a:t>
            </a:r>
            <a:endParaRPr lang="en-US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185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1C02-FB94-3C56-09CD-EB0FCFE9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실습전</a:t>
            </a:r>
            <a:r>
              <a:rPr lang="ko-KR" altLang="en-US" dirty="0"/>
              <a:t> 준비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3ACC-076F-AAE9-83A8-A764C12D2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줌 회의 참가하기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D607D-F720-6C0D-DCAF-4A967EF580A7}"/>
              </a:ext>
            </a:extLst>
          </p:cNvPr>
          <p:cNvSpPr txBox="1"/>
          <p:nvPr/>
        </p:nvSpPr>
        <p:spPr>
          <a:xfrm>
            <a:off x="1108710" y="2659118"/>
            <a:ext cx="94891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Meeting ID: 622 395 4498</a:t>
            </a:r>
          </a:p>
          <a:p>
            <a:r>
              <a:rPr lang="en-US" sz="2400" dirty="0"/>
              <a:t>Passcode: 1234</a:t>
            </a:r>
          </a:p>
          <a:p>
            <a:endParaRPr lang="en-US" sz="2400" dirty="0"/>
          </a:p>
          <a:p>
            <a:r>
              <a:rPr lang="en-US" sz="2400" dirty="0"/>
              <a:t>40days's Personal Meeting Room</a:t>
            </a:r>
          </a:p>
          <a:p>
            <a:r>
              <a:rPr lang="en-US" sz="2400" dirty="0"/>
              <a:t>https://seoultech.zoom.us/j/6223954498</a:t>
            </a:r>
          </a:p>
        </p:txBody>
      </p:sp>
      <p:pic>
        <p:nvPicPr>
          <p:cNvPr id="5122" name="Picture 2" descr="Install Zoom on Ubuntu - Darryl Dias">
            <a:extLst>
              <a:ext uri="{FF2B5EF4-FFF2-40B4-BE49-F238E27FC236}">
                <a16:creationId xmlns:a16="http://schemas.microsoft.com/office/drawing/2014/main" id="{E1940A15-AE05-3358-FBCB-1F7EAB808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906" y="1659636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058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79E9-94E0-8251-DF1D-9201FA487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실습 자료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EA665-8362-9899-86A1-92A8957D9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https://github.com/denverkim/snw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3BC9A-50FF-5386-A430-198BF8EF8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62" y="2542883"/>
            <a:ext cx="8344329" cy="356253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8390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499E8-E613-BC72-3A24-B71FBE71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AB0C-9751-4715-BACC-E461B7CF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활용 과정</a:t>
            </a:r>
            <a:endParaRPr lang="en-US" altLang="ko-KR" dirty="0"/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586DA4C0-E55D-27DA-A364-2A70C7D6D5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858212"/>
              </p:ext>
            </p:extLst>
          </p:nvPr>
        </p:nvGraphicFramePr>
        <p:xfrm>
          <a:off x="838200" y="1397000"/>
          <a:ext cx="10515600" cy="477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924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5B1C-E2AA-0016-1D47-380B725D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A8116-3470-C652-1FD4-2FB203AB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692"/>
            <a:ext cx="10515600" cy="43513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r>
              <a:rPr lang="ko-KR" altLang="en-US" sz="4000" b="0" i="0" u="none" strike="noStrike" dirty="0">
                <a:solidFill>
                  <a:srgbClr val="000000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생성형 </a:t>
            </a:r>
            <a:r>
              <a:rPr lang="en-US" altLang="ko-KR" sz="4000" dirty="0">
                <a:solidFill>
                  <a:srgbClr val="000000"/>
                </a:solidFill>
              </a:rPr>
              <a:t>AI</a:t>
            </a:r>
            <a:r>
              <a:rPr lang="ko-KR" altLang="en-US" sz="4000" dirty="0">
                <a:solidFill>
                  <a:srgbClr val="000000"/>
                </a:solidFill>
              </a:rPr>
              <a:t>와 </a:t>
            </a:r>
            <a:r>
              <a:rPr lang="en-US" altLang="ko-KR" sz="4000" dirty="0">
                <a:solidFill>
                  <a:srgbClr val="000000"/>
                </a:solidFill>
              </a:rPr>
              <a:t>LLM </a:t>
            </a:r>
            <a:r>
              <a:rPr lang="ko-KR" altLang="en-US" sz="4000" dirty="0">
                <a:solidFill>
                  <a:srgbClr val="000000"/>
                </a:solidFill>
              </a:rPr>
              <a:t>소개</a:t>
            </a:r>
            <a:endParaRPr lang="en-US" altLang="ko-KR" sz="4000" dirty="0">
              <a:solidFill>
                <a:srgbClr val="000000"/>
              </a:solidFill>
            </a:endParaRPr>
          </a:p>
          <a:p>
            <a:r>
              <a:rPr lang="ko-KR" altLang="en-US" sz="4000" dirty="0">
                <a:solidFill>
                  <a:srgbClr val="000000"/>
                </a:solidFill>
              </a:rPr>
              <a:t>프롬프트 실습</a:t>
            </a:r>
            <a:r>
              <a:rPr lang="en-US" altLang="ko-KR" sz="4000" dirty="0">
                <a:solidFill>
                  <a:srgbClr val="000000"/>
                </a:solidFill>
              </a:rPr>
              <a:t>: </a:t>
            </a:r>
            <a:r>
              <a:rPr lang="ko-KR" altLang="en-US" sz="4000" dirty="0">
                <a:solidFill>
                  <a:srgbClr val="000000"/>
                </a:solidFill>
              </a:rPr>
              <a:t>텍스트</a:t>
            </a:r>
            <a:r>
              <a:rPr lang="en-US" altLang="ko-KR" sz="4000" dirty="0">
                <a:solidFill>
                  <a:srgbClr val="000000"/>
                </a:solidFill>
              </a:rPr>
              <a:t>, </a:t>
            </a:r>
            <a:r>
              <a:rPr lang="ko-KR" altLang="en-US" sz="4000" dirty="0">
                <a:solidFill>
                  <a:srgbClr val="000000"/>
                </a:solidFill>
              </a:rPr>
              <a:t>이미지</a:t>
            </a:r>
            <a:r>
              <a:rPr lang="en-US" altLang="ko-KR" sz="4000" dirty="0">
                <a:solidFill>
                  <a:srgbClr val="000000"/>
                </a:solidFill>
              </a:rPr>
              <a:t>, </a:t>
            </a:r>
            <a:r>
              <a:rPr lang="ko-KR" altLang="en-US" sz="4000" dirty="0">
                <a:solidFill>
                  <a:srgbClr val="000000"/>
                </a:solidFill>
              </a:rPr>
              <a:t>코드 생성</a:t>
            </a:r>
            <a:endParaRPr lang="en-US" altLang="ko-KR" sz="4000" dirty="0">
              <a:solidFill>
                <a:srgbClr val="000000"/>
              </a:solidFill>
            </a:endParaRPr>
          </a:p>
          <a:p>
            <a:r>
              <a:rPr lang="ko-KR" altLang="en-US" sz="4000" dirty="0"/>
              <a:t>실무 문서 작성 실습</a:t>
            </a:r>
            <a:endParaRPr lang="en-US" sz="4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514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C3EC2CD8-E42E-E708-BA94-BB3DFFD851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720" y="1402915"/>
            <a:ext cx="5733280" cy="4974464"/>
          </a:xfr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4DA90A7D-DA0C-1C6D-DB45-6496C12E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 err="1"/>
              <a:t>리터러시</a:t>
            </a:r>
            <a:br>
              <a:rPr lang="en-US" altLang="ko-KR" dirty="0"/>
            </a:br>
            <a:r>
              <a:rPr lang="en-US" altLang="ko-KR" sz="3200" dirty="0"/>
              <a:t>AI Literacy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D4A2-DBF9-BBAA-4C97-B1CCFFAE4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인공지능의 작동 원리와 특성을 이해하고</a:t>
            </a:r>
            <a:r>
              <a:rPr lang="en-US" altLang="ko-KR" dirty="0"/>
              <a:t>, </a:t>
            </a:r>
            <a:r>
              <a:rPr lang="ko-KR" altLang="en-US" dirty="0"/>
              <a:t>이를 비판적이고 윤리적으로 활용할 수 있는 능력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단순한 기술 습득이 아니라</a:t>
            </a:r>
            <a:r>
              <a:rPr lang="en-US" altLang="ko-KR" dirty="0"/>
              <a:t>, </a:t>
            </a:r>
            <a:r>
              <a:rPr lang="ko-KR" altLang="en-US" dirty="0"/>
              <a:t>디지털 사회에서의 생존 역량이며</a:t>
            </a:r>
            <a:r>
              <a:rPr lang="en-US" altLang="ko-KR" dirty="0"/>
              <a:t>, </a:t>
            </a:r>
            <a:r>
              <a:rPr lang="ko-KR" altLang="en-US" dirty="0"/>
              <a:t>모든 구성원이 갖추어야 할 현대의 기본 교양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5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/>
            <a:r>
              <a:rPr lang="ko-KR" altLang="en-US" dirty="0"/>
              <a:t>인공지능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" sz="3200" dirty="0"/>
              <a:t>Artificial Intelligence</a:t>
            </a:r>
            <a:endParaRPr lang="en-US" dirty="0"/>
          </a:p>
        </p:txBody>
      </p:sp>
      <p:sp>
        <p:nvSpPr>
          <p:cNvPr id="553" name="Google Shape;553;p47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기계가</a:t>
            </a:r>
            <a:r>
              <a:rPr lang="en-US" dirty="0"/>
              <a:t> </a:t>
            </a:r>
            <a:r>
              <a:rPr lang="en-US" dirty="0" err="1"/>
              <a:t>인간의</a:t>
            </a:r>
            <a:r>
              <a:rPr lang="en-US" dirty="0"/>
              <a:t> </a:t>
            </a:r>
            <a:r>
              <a:rPr lang="en-US" dirty="0" err="1"/>
              <a:t>지능을</a:t>
            </a:r>
            <a:r>
              <a:rPr lang="en-US" dirty="0"/>
              <a:t> </a:t>
            </a:r>
            <a:r>
              <a:rPr lang="en-US" dirty="0" err="1"/>
              <a:t>모방하여</a:t>
            </a:r>
            <a:r>
              <a:rPr lang="en-US" dirty="0"/>
              <a:t> </a:t>
            </a:r>
            <a:r>
              <a:rPr lang="en-US" dirty="0" err="1"/>
              <a:t>학습하고</a:t>
            </a:r>
            <a:r>
              <a:rPr lang="en-US" dirty="0"/>
              <a:t>, </a:t>
            </a:r>
            <a:r>
              <a:rPr lang="en-US" dirty="0" err="1"/>
              <a:t>추론하며</a:t>
            </a:r>
            <a:r>
              <a:rPr lang="en-US" dirty="0"/>
              <a:t>, </a:t>
            </a:r>
            <a:r>
              <a:rPr lang="en-US" dirty="0" err="1"/>
              <a:t>문제를</a:t>
            </a:r>
            <a:r>
              <a:rPr lang="en-US" dirty="0"/>
              <a:t> </a:t>
            </a:r>
            <a:r>
              <a:rPr lang="en-US" dirty="0" err="1"/>
              <a:t>해결하는</a:t>
            </a:r>
            <a:r>
              <a:rPr lang="en-US" dirty="0"/>
              <a:t> </a:t>
            </a:r>
            <a:r>
              <a:rPr lang="en-US" dirty="0" err="1"/>
              <a:t>기술</a:t>
            </a:r>
            <a:endParaRPr lang="en-US" dirty="0"/>
          </a:p>
        </p:txBody>
      </p:sp>
      <p:pic>
        <p:nvPicPr>
          <p:cNvPr id="7" name="Content Placeholder 15">
            <a:extLst>
              <a:ext uri="{FF2B5EF4-FFF2-40B4-BE49-F238E27FC236}">
                <a16:creationId xmlns:a16="http://schemas.microsoft.com/office/drawing/2014/main" id="{B9383905-A1EE-517A-B598-C9D7EDB28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762" y="3037340"/>
            <a:ext cx="6887115" cy="357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31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53414"/>
          </a:xfrm>
        </p:spPr>
        <p:txBody>
          <a:bodyPr>
            <a:normAutofit/>
          </a:bodyPr>
          <a:lstStyle/>
          <a:p>
            <a:r>
              <a:rPr lang="ko-KR" altLang="en-US" dirty="0"/>
              <a:t>신경망 </a:t>
            </a:r>
            <a:r>
              <a:rPr lang="ko-KR" altLang="en-US" dirty="0" err="1"/>
              <a:t>아키텍쳐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9AEEC-8E7E-8970-808B-1D27BA91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404"/>
            <a:ext cx="10515600" cy="5108559"/>
          </a:xfrm>
        </p:spPr>
        <p:txBody>
          <a:bodyPr>
            <a:normAutofit/>
          </a:bodyPr>
          <a:lstStyle/>
          <a:p>
            <a:pPr lvl="0"/>
            <a:r>
              <a:rPr lang="en-US" altLang="ko-KR"/>
              <a:t>Structures algorithms in layers to create an “artificial neural network” that can learn and make intelligent decisions on its own. </a:t>
            </a:r>
            <a:r>
              <a:rPr lang="ko-KR" altLang="en-US"/>
              <a:t>스스로 학습하고 지능적인 결정을 내릴 수 있는 </a:t>
            </a:r>
            <a:r>
              <a:rPr lang="en-US" altLang="ko-KR"/>
              <a:t>"</a:t>
            </a:r>
            <a:r>
              <a:rPr lang="ko-KR" altLang="en-US"/>
              <a:t>인공 신경망</a:t>
            </a:r>
            <a:r>
              <a:rPr lang="en-US" altLang="ko-KR"/>
              <a:t>"</a:t>
            </a:r>
            <a:r>
              <a:rPr lang="ko-KR" altLang="en-US"/>
              <a:t>을 만들기 위해 알고리즘을 레이어로 구조화</a:t>
            </a:r>
            <a:endParaRPr lang="en-US"/>
          </a:p>
          <a:p>
            <a:endParaRPr lang="en-US" dirty="0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4FDD41BF-5ABE-C8A4-C683-DE6574CAD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23" y="3303870"/>
            <a:ext cx="9072235" cy="339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9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6195900-2BD1-8F4E-C2F5-6F406475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0"/>
            <a:ext cx="12192001" cy="14719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ko-KR" altLang="en-US" dirty="0"/>
              <a:t>신경망 </a:t>
            </a:r>
            <a:r>
              <a:rPr lang="ko-KR" altLang="en-US" dirty="0" err="1"/>
              <a:t>아키텍쳐의</a:t>
            </a:r>
            <a:r>
              <a:rPr lang="en-US" altLang="ko-KR" dirty="0"/>
              <a:t> </a:t>
            </a:r>
            <a:r>
              <a:rPr lang="ko-KR" altLang="en-US" dirty="0"/>
              <a:t>발전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FFF1A-E9DC-92BA-F2E7-3CC53A219F0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-1" y="1240984"/>
            <a:ext cx="6602931" cy="5386008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5AFE9C-F26F-0563-F3F9-4F038679B530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6602931" y="1764574"/>
            <a:ext cx="5589069" cy="48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77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F2F1-F367-587D-A2D2-DFBAC82C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생성적</a:t>
            </a:r>
            <a:r>
              <a:rPr lang="ko-KR" altLang="en-US" dirty="0"/>
              <a:t> 대립 신경망</a:t>
            </a:r>
            <a:br>
              <a:rPr lang="en-US" altLang="ko-KR" dirty="0"/>
            </a:br>
            <a:r>
              <a:rPr lang="en-US" sz="3200" dirty="0"/>
              <a:t>Generative Adversarial Network (GAN)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8ADE2-9430-6370-DAFD-9A73536ED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서로 대립적인 방식으로 동시에 학습하는 구조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Generator (</a:t>
            </a:r>
            <a:r>
              <a:rPr lang="ko-KR" altLang="en-US" dirty="0"/>
              <a:t>생성자</a:t>
            </a:r>
            <a:r>
              <a:rPr lang="en-US" altLang="ko-KR" dirty="0"/>
              <a:t>): </a:t>
            </a:r>
            <a:r>
              <a:rPr lang="ko-KR" altLang="en-US" dirty="0"/>
              <a:t>진짜처럼 보이는 이미지를 만들기 위해 학습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Discriminator (</a:t>
            </a:r>
            <a:r>
              <a:rPr lang="ko-KR" altLang="en-US" dirty="0" err="1"/>
              <a:t>판별자</a:t>
            </a:r>
            <a:r>
              <a:rPr lang="en-US" altLang="ko-KR" dirty="0"/>
              <a:t>): </a:t>
            </a:r>
            <a:r>
              <a:rPr lang="ko-KR" altLang="en-US" dirty="0"/>
              <a:t>진짜 이미지를 가짜로부터 구별하기 위해 학습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두 모델은 반복적인 경쟁 학습을 통해 발전</a:t>
            </a:r>
            <a:r>
              <a:rPr lang="en-US" altLang="ko-KR" dirty="0"/>
              <a:t>. </a:t>
            </a:r>
            <a:r>
              <a:rPr lang="ko-KR" altLang="en-US" dirty="0"/>
              <a:t>이 과정에서 </a:t>
            </a:r>
            <a:r>
              <a:rPr lang="en-US" altLang="ko-KR" dirty="0"/>
              <a:t>Generator</a:t>
            </a:r>
            <a:r>
              <a:rPr lang="ko-KR" altLang="en-US" dirty="0"/>
              <a:t>는 점점 더 진짜와 구분하기 어려운 이미지를 만들어내게 됨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en-US" dirty="0" err="1"/>
              <a:t>CycleGAN</a:t>
            </a:r>
            <a:r>
              <a:rPr lang="en-US" dirty="0"/>
              <a:t>, </a:t>
            </a:r>
            <a:r>
              <a:rPr lang="en-US" dirty="0" err="1"/>
              <a:t>StarGAN</a:t>
            </a:r>
            <a:r>
              <a:rPr lang="en-US" dirty="0"/>
              <a:t>, </a:t>
            </a:r>
            <a:r>
              <a:rPr lang="en-US" dirty="0" err="1"/>
              <a:t>FusionGAN</a:t>
            </a:r>
            <a:r>
              <a:rPr lang="en-US" dirty="0"/>
              <a:t>, StyleGAN, </a:t>
            </a:r>
            <a:r>
              <a:rPr lang="en-US" dirty="0" err="1"/>
              <a:t>BigGAN</a:t>
            </a:r>
            <a:r>
              <a:rPr lang="en-US" dirty="0"/>
              <a:t> </a:t>
            </a:r>
            <a:r>
              <a:rPr lang="ko-KR" altLang="en-US" dirty="0"/>
              <a:t>등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474C573-047E-E456-7C15-E974C0CB166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35" y="1970565"/>
            <a:ext cx="3988005" cy="19432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AEAE2B3-AC3F-675B-164F-F37BF23F6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35" y="4001294"/>
            <a:ext cx="3988005" cy="2793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510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A04102-1810-12A9-EF55-63FDD251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생성형 인공지능</a:t>
            </a:r>
            <a:br>
              <a:rPr lang="en-US" altLang="ko-KR" dirty="0"/>
            </a:br>
            <a:r>
              <a:rPr lang="en-US" altLang="ko-KR" sz="3200" dirty="0"/>
              <a:t>Generative AI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7B1F18A-F55D-0A47-1BFD-64C6071EC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ko-KR" altLang="en-US" dirty="0"/>
              <a:t>사람이 입력한 프롬프트를 바탕으로 새로운 콘텐츠를 자동 생성하는 인공지능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텍스트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영상 생성</a:t>
            </a:r>
            <a:r>
              <a:rPr lang="en-US" altLang="ko-KR" dirty="0"/>
              <a:t>, </a:t>
            </a:r>
            <a:r>
              <a:rPr lang="ko-KR" altLang="en-US" dirty="0"/>
              <a:t>음악 작곡</a:t>
            </a:r>
            <a:r>
              <a:rPr lang="en-US" altLang="ko-KR" dirty="0"/>
              <a:t>, </a:t>
            </a:r>
            <a:r>
              <a:rPr lang="ko-KR" altLang="en-US" dirty="0"/>
              <a:t>코드 생성 등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17E4189-90E9-3BEA-1C3E-F45010827A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232352"/>
              </p:ext>
            </p:extLst>
          </p:nvPr>
        </p:nvGraphicFramePr>
        <p:xfrm>
          <a:off x="995149" y="2787651"/>
          <a:ext cx="10201701" cy="3120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453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D21F0-18CE-E01F-1981-6177B967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B686-7F30-840D-1A4A-38C46D3B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이미지 생성 프롬프트 실습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F7628-7347-9888-C8C8-3FEAB0098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3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A01171-79C0-3124-4254-C836B42D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이미지 생성 프롬프트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D3D44F-772B-6A3F-2CBA-BB4467B55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다음 설명을 기반으로 </a:t>
            </a:r>
            <a:r>
              <a:rPr lang="en-US" altLang="ko-KR" dirty="0"/>
              <a:t>AI </a:t>
            </a:r>
            <a:r>
              <a:rPr lang="ko-KR" altLang="en-US" dirty="0"/>
              <a:t>이미지 생성 프롬프트를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장면</a:t>
            </a:r>
            <a:r>
              <a:rPr lang="en-US" altLang="ko-KR" dirty="0"/>
              <a:t>: </a:t>
            </a:r>
            <a:r>
              <a:rPr lang="ko-KR" altLang="en-US" dirty="0"/>
              <a:t>한국 전통 마을의 겨울 아침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스타일</a:t>
            </a:r>
            <a:r>
              <a:rPr lang="en-US" altLang="ko-KR" dirty="0"/>
              <a:t>: </a:t>
            </a:r>
            <a:r>
              <a:rPr lang="ko-KR" altLang="en-US" dirty="0"/>
              <a:t>수채화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분위기</a:t>
            </a:r>
            <a:r>
              <a:rPr lang="en-US" altLang="ko-KR" dirty="0"/>
              <a:t>: </a:t>
            </a:r>
            <a:r>
              <a:rPr lang="ko-KR" altLang="en-US" dirty="0"/>
              <a:t>따뜻하고 평화로운 느낌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요소</a:t>
            </a:r>
            <a:r>
              <a:rPr lang="en-US" altLang="ko-KR" dirty="0"/>
              <a:t>: </a:t>
            </a:r>
            <a:r>
              <a:rPr lang="ko-KR" altLang="en-US" dirty="0"/>
              <a:t>눈이 살짝 쌓인 초가집</a:t>
            </a:r>
            <a:r>
              <a:rPr lang="en-US" altLang="ko-KR" dirty="0"/>
              <a:t>, </a:t>
            </a:r>
            <a:r>
              <a:rPr lang="ko-KR" altLang="en-US" dirty="0"/>
              <a:t>연기가 나는 굴뚝</a:t>
            </a:r>
            <a:r>
              <a:rPr lang="en-US" altLang="ko-KR" dirty="0"/>
              <a:t>, </a:t>
            </a:r>
            <a:r>
              <a:rPr lang="ko-KR" altLang="en-US" dirty="0"/>
              <a:t>먼 산에 떠오르는 해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ko-KR" altLang="en-US" dirty="0"/>
              <a:t>예상 출력 프롬프트</a:t>
            </a:r>
            <a:endParaRPr lang="en-US" altLang="ko-KR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dirty="0"/>
              <a:t>“A peaceful Korean traditional village in winter morning, with light snow on thatched-roof houses, smoke gently rising from chimneys, and the sun rising over distant mountains. Watercolor style, warm and serene mood.”</a:t>
            </a:r>
          </a:p>
        </p:txBody>
      </p:sp>
    </p:spTree>
    <p:extLst>
      <p:ext uri="{BB962C8B-B14F-4D97-AF65-F5344CB8AC3E}">
        <p14:creationId xmlns:p14="http://schemas.microsoft.com/office/powerpoint/2010/main" val="3293504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now covered village with a stone wall and trees&#10;&#10;AI-generated content may be incorrect.">
            <a:extLst>
              <a:ext uri="{FF2B5EF4-FFF2-40B4-BE49-F238E27FC236}">
                <a16:creationId xmlns:a16="http://schemas.microsoft.com/office/drawing/2014/main" id="{6E96A75F-F3F9-53AF-087B-8F20E2B0C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43" y="1690688"/>
            <a:ext cx="411480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88877B-0AD6-5F0F-801F-D9058BDB4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예상 출력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9BF2-9E72-86DB-4E99-6755E3AE9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altLang="ko-KR" dirty="0"/>
              <a:t>Gemini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738027-9590-E1FE-6A03-AB8DE4E5D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dirty="0"/>
              <a:t>ChatGPT</a:t>
            </a:r>
          </a:p>
        </p:txBody>
      </p:sp>
      <p:pic>
        <p:nvPicPr>
          <p:cNvPr id="12" name="Picture 11" descr="A painting of a village in the snow&#10;&#10;AI-generated content may be incorrect.">
            <a:extLst>
              <a:ext uri="{FF2B5EF4-FFF2-40B4-BE49-F238E27FC236}">
                <a16:creationId xmlns:a16="http://schemas.microsoft.com/office/drawing/2014/main" id="{0E51BECB-A86C-3375-3635-8C3ECF36C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86" y="2284186"/>
            <a:ext cx="4027714" cy="402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41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8A28-253E-AC91-CF45-D54EDDE9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행정 처리 프로세스 다이어그램 생성 프롬프트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02B45-2049-0A7B-4159-1BA615F6D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교육청 혹은 학교의 민원 처리 프로세스를 시각화</a:t>
            </a:r>
            <a:r>
              <a:rPr lang="en-US" altLang="ko-KR" dirty="0"/>
              <a:t>. </a:t>
            </a:r>
            <a:r>
              <a:rPr lang="ko-KR" altLang="en-US" dirty="0"/>
              <a:t>각 단계 </a:t>
            </a:r>
            <a:r>
              <a:rPr lang="en-US" altLang="ko-KR" dirty="0"/>
              <a:t>(</a:t>
            </a:r>
            <a:r>
              <a:rPr lang="ko-KR" altLang="en-US" dirty="0"/>
              <a:t>접수 → 검토 → 처리 → 회신 → 완료</a:t>
            </a:r>
            <a:r>
              <a:rPr lang="en-US" altLang="ko-KR" dirty="0"/>
              <a:t>)</a:t>
            </a:r>
            <a:r>
              <a:rPr lang="ko-KR" altLang="en-US" dirty="0"/>
              <a:t>를 도식화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: "</a:t>
            </a:r>
            <a:r>
              <a:rPr lang="ko-KR" altLang="en-US" dirty="0"/>
              <a:t>민원 처리 프로세스를 보여주는 간단한 플로우 차트</a:t>
            </a:r>
            <a:r>
              <a:rPr lang="en-US" altLang="ko-KR" dirty="0"/>
              <a:t>. 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접수</a:t>
            </a:r>
            <a:r>
              <a:rPr lang="en-US" altLang="ko-KR" dirty="0"/>
              <a:t>, </a:t>
            </a:r>
            <a:r>
              <a:rPr lang="ko-KR" altLang="en-US" dirty="0"/>
              <a:t>검토</a:t>
            </a:r>
            <a:r>
              <a:rPr lang="en-US" altLang="ko-KR" dirty="0"/>
              <a:t>, </a:t>
            </a:r>
            <a:r>
              <a:rPr lang="ko-KR" altLang="en-US" dirty="0"/>
              <a:t>처리</a:t>
            </a:r>
            <a:r>
              <a:rPr lang="en-US" altLang="ko-KR" dirty="0"/>
              <a:t>, </a:t>
            </a:r>
            <a:r>
              <a:rPr lang="ko-KR" altLang="en-US" dirty="0"/>
              <a:t>회신</a:t>
            </a:r>
            <a:r>
              <a:rPr lang="en-US" altLang="ko-KR" dirty="0"/>
              <a:t>, </a:t>
            </a:r>
            <a:r>
              <a:rPr lang="ko-KR" altLang="en-US" dirty="0"/>
              <a:t>완료</a:t>
            </a:r>
            <a:r>
              <a:rPr lang="en-US" altLang="ko-KR" dirty="0"/>
              <a:t>. </a:t>
            </a:r>
            <a:r>
              <a:rPr lang="ko-KR" altLang="en-US" dirty="0"/>
              <a:t>깔끔한 행정 문서 스타일</a:t>
            </a:r>
            <a:r>
              <a:rPr lang="en-US" altLang="ko-KR" dirty="0"/>
              <a:t>, </a:t>
            </a:r>
            <a:r>
              <a:rPr lang="ko-KR" altLang="en-US" dirty="0"/>
              <a:t>파란색과 회색 톤</a:t>
            </a:r>
            <a:r>
              <a:rPr lang="en-US" altLang="ko-KR" dirty="0"/>
              <a:t>, </a:t>
            </a:r>
            <a:r>
              <a:rPr lang="ko-KR" altLang="en-US" dirty="0"/>
              <a:t>아이콘 포함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625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A0C3D16-8A2A-DEF8-0F2E-A89464B6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결과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3D778-4C0A-032F-34DB-9A8B193AA1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Gemini</a:t>
            </a:r>
            <a:r>
              <a:rPr lang="ko-KR" altLang="en-US" dirty="0"/>
              <a:t>에서 생성한 플로우 차트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552959-68EF-F8DC-086E-F0EAC73D16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Napkin</a:t>
            </a:r>
            <a:r>
              <a:rPr lang="ko-KR" altLang="en-US" dirty="0"/>
              <a:t>을 이용한 문서시각화 자동화</a:t>
            </a: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84011-AF41-1B3A-531A-777754BC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055" y="2752018"/>
            <a:ext cx="3778363" cy="3651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B77CFB-8248-169C-1853-CABC5427F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71" y="2752018"/>
            <a:ext cx="3642413" cy="37408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9235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49F12-7804-BA25-0273-198F76B7D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FCB3-BD2C-B7CE-874C-2BD3188D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8181521" cy="1133475"/>
          </a:xfrm>
          <a:solidFill>
            <a:schemeClr val="bg1">
              <a:alpha val="52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코드 생성 프롬프트 실습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794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F5B7AF-B46C-18F4-6F00-75A8A383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ko-KR" altLang="en-US" dirty="0"/>
              <a:t>기본</a:t>
            </a:r>
            <a:r>
              <a:rPr lang="en-US" altLang="ko-KR" dirty="0"/>
              <a:t> </a:t>
            </a:r>
            <a:r>
              <a:rPr lang="ko-KR" altLang="en-US" dirty="0"/>
              <a:t>예제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FE0648-7186-2578-DBDB-630EAA024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사용자로부터 이름과 나이를 </a:t>
            </a:r>
            <a:r>
              <a:rPr lang="ko-KR" altLang="en-US" dirty="0" err="1"/>
              <a:t>입력받아</a:t>
            </a:r>
            <a:r>
              <a:rPr lang="en-US" altLang="ko-KR" dirty="0"/>
              <a:t>, </a:t>
            </a:r>
            <a:r>
              <a:rPr lang="ko-KR" altLang="en-US" dirty="0"/>
              <a:t>다음과 같은 인사 메시지를 출력하는 프로그램 코드를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조건</a:t>
            </a:r>
            <a:r>
              <a:rPr lang="en-US" altLang="ko-KR" dirty="0"/>
              <a:t>:</a:t>
            </a:r>
            <a:endParaRPr lang="ko-KR" altLang="en-US" dirty="0"/>
          </a:p>
          <a:p>
            <a:pPr lvl="1"/>
            <a:r>
              <a:rPr lang="ko-KR" altLang="en-US" dirty="0"/>
              <a:t>나이가 </a:t>
            </a:r>
            <a:r>
              <a:rPr lang="en-US" altLang="ko-KR" dirty="0"/>
              <a:t>20</a:t>
            </a:r>
            <a:r>
              <a:rPr lang="ko-KR" altLang="en-US" dirty="0"/>
              <a:t>세 이상이면 </a:t>
            </a:r>
            <a:r>
              <a:rPr lang="en-US" altLang="ko-KR" dirty="0"/>
              <a:t>"</a:t>
            </a:r>
            <a:r>
              <a:rPr lang="ko-KR" altLang="en-US" dirty="0"/>
              <a:t>성인입니다</a:t>
            </a:r>
            <a:r>
              <a:rPr lang="en-US" altLang="ko-KR" dirty="0"/>
              <a:t>." </a:t>
            </a:r>
            <a:r>
              <a:rPr lang="ko-KR" altLang="en-US" dirty="0"/>
              <a:t>출력</a:t>
            </a:r>
          </a:p>
          <a:p>
            <a:pPr lvl="1"/>
            <a:r>
              <a:rPr lang="en-US" altLang="ko-KR" dirty="0"/>
              <a:t>20</a:t>
            </a:r>
            <a:r>
              <a:rPr lang="ko-KR" altLang="en-US" dirty="0"/>
              <a:t>세 미만이면 </a:t>
            </a:r>
            <a:r>
              <a:rPr lang="en-US" altLang="ko-KR" dirty="0"/>
              <a:t>"</a:t>
            </a:r>
            <a:r>
              <a:rPr lang="ko-KR" altLang="en-US" dirty="0"/>
              <a:t>청소년입니다</a:t>
            </a:r>
            <a:r>
              <a:rPr lang="en-US" altLang="ko-KR" dirty="0"/>
              <a:t>." </a:t>
            </a:r>
            <a:r>
              <a:rPr lang="ko-KR" altLang="en-US" dirty="0"/>
              <a:t>출력</a:t>
            </a:r>
            <a:endParaRPr lang="en-US" dirty="0"/>
          </a:p>
          <a:p>
            <a:r>
              <a:rPr lang="ko-KR" altLang="en-US" dirty="0"/>
              <a:t>예상 출력</a:t>
            </a:r>
            <a:r>
              <a:rPr lang="en-US" altLang="ko-KR" dirty="0"/>
              <a:t>:</a:t>
            </a:r>
          </a:p>
          <a:p>
            <a:pPr lvl="1"/>
            <a:r>
              <a:rPr lang="en-US" dirty="0" err="1"/>
              <a:t>이름을</a:t>
            </a:r>
            <a:r>
              <a:rPr lang="en-US" dirty="0"/>
              <a:t> </a:t>
            </a:r>
            <a:r>
              <a:rPr lang="en-US" dirty="0" err="1"/>
              <a:t>입력하세요</a:t>
            </a:r>
            <a:r>
              <a:rPr lang="en-US" dirty="0"/>
              <a:t>: Kim  </a:t>
            </a:r>
          </a:p>
          <a:p>
            <a:pPr lvl="1"/>
            <a:r>
              <a:rPr lang="en-US" dirty="0" err="1"/>
              <a:t>나이를</a:t>
            </a:r>
            <a:r>
              <a:rPr lang="en-US" dirty="0"/>
              <a:t> </a:t>
            </a:r>
            <a:r>
              <a:rPr lang="en-US" dirty="0" err="1"/>
              <a:t>입력하세요</a:t>
            </a:r>
            <a:r>
              <a:rPr lang="en-US" dirty="0"/>
              <a:t>: 18  </a:t>
            </a:r>
          </a:p>
          <a:p>
            <a:pPr lvl="1"/>
            <a:r>
              <a:rPr lang="en-US" dirty="0" err="1"/>
              <a:t>안녕하세요</a:t>
            </a:r>
            <a:r>
              <a:rPr lang="en-US" dirty="0"/>
              <a:t> </a:t>
            </a:r>
            <a:r>
              <a:rPr lang="en-US" dirty="0" err="1"/>
              <a:t>Kim님</a:t>
            </a:r>
            <a:r>
              <a:rPr lang="en-US" dirty="0"/>
              <a:t>! </a:t>
            </a:r>
            <a:r>
              <a:rPr lang="en-US" dirty="0" err="1"/>
              <a:t>청소년입니다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3334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6750-04B4-56FD-4876-6F625527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출력 코드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D7F72-C029-D8F1-9BC9-2EF90681C94A}"/>
              </a:ext>
            </a:extLst>
          </p:cNvPr>
          <p:cNvSpPr txBox="1"/>
          <p:nvPr/>
        </p:nvSpPr>
        <p:spPr>
          <a:xfrm>
            <a:off x="838200" y="1506204"/>
            <a:ext cx="10515600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 = input("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이름을 입력하세요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age = int(input("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나이를 입력하세요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"))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age &gt;= 20: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status =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성인입니다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status =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청소년입니다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안녕하세요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status}")</a:t>
            </a:r>
          </a:p>
        </p:txBody>
      </p:sp>
    </p:spTree>
    <p:extLst>
      <p:ext uri="{BB962C8B-B14F-4D97-AF65-F5344CB8AC3E}">
        <p14:creationId xmlns:p14="http://schemas.microsoft.com/office/powerpoint/2010/main" val="3531549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6045-3305-19F9-E7E0-D3D0BBB6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HTML/CSS </a:t>
            </a:r>
            <a:r>
              <a:rPr lang="ko-KR" altLang="en-US" dirty="0"/>
              <a:t>자동 생성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055E9-46EB-33C5-AB8A-C8CC836DA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조건에 맞는 간단한 웹페이지 코드를 생성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조건</a:t>
            </a:r>
            <a:r>
              <a:rPr lang="en-US" altLang="ko-KR" dirty="0"/>
              <a:t>:</a:t>
            </a:r>
            <a:endParaRPr lang="ko-KR" altLang="en-US" dirty="0"/>
          </a:p>
          <a:p>
            <a:pPr lvl="1"/>
            <a:r>
              <a:rPr lang="ko-KR" altLang="en-US" dirty="0"/>
              <a:t>페이지 제목</a:t>
            </a:r>
            <a:r>
              <a:rPr lang="en-US" altLang="ko-KR" dirty="0"/>
              <a:t>: "</a:t>
            </a:r>
            <a:r>
              <a:rPr lang="ko-KR" altLang="en-US" dirty="0"/>
              <a:t>나의 첫 번째 웹페이지</a:t>
            </a:r>
            <a:r>
              <a:rPr lang="en-US" altLang="ko-KR" dirty="0"/>
              <a:t>"</a:t>
            </a:r>
          </a:p>
          <a:p>
            <a:pPr lvl="1"/>
            <a:r>
              <a:rPr lang="ko-KR" altLang="en-US" dirty="0"/>
              <a:t>본문</a:t>
            </a:r>
            <a:r>
              <a:rPr lang="en-US" altLang="ko-KR" dirty="0"/>
              <a:t>: "</a:t>
            </a:r>
            <a:r>
              <a:rPr lang="ko-KR" altLang="en-US" dirty="0"/>
              <a:t>안녕하세요</a:t>
            </a:r>
            <a:r>
              <a:rPr lang="en-US" altLang="ko-KR" dirty="0"/>
              <a:t>! </a:t>
            </a:r>
            <a:r>
              <a:rPr lang="ko-KR" altLang="en-US" dirty="0"/>
              <a:t>여기는 생성형 </a:t>
            </a:r>
            <a:r>
              <a:rPr lang="en-US" altLang="ko-KR" dirty="0"/>
              <a:t>AI</a:t>
            </a:r>
            <a:r>
              <a:rPr lang="ko-KR" altLang="en-US" dirty="0"/>
              <a:t>가 만든 </a:t>
            </a:r>
            <a:r>
              <a:rPr lang="en-US" altLang="ko-KR" dirty="0"/>
              <a:t>HTML</a:t>
            </a:r>
            <a:r>
              <a:rPr lang="ko-KR" altLang="en-US" dirty="0"/>
              <a:t>입니다</a:t>
            </a:r>
            <a:r>
              <a:rPr lang="en-US" altLang="ko-KR" dirty="0"/>
              <a:t>."</a:t>
            </a:r>
          </a:p>
          <a:p>
            <a:pPr lvl="1"/>
            <a:r>
              <a:rPr lang="ko-KR" altLang="en-US" dirty="0"/>
              <a:t>배경색은 연한 파랑 </a:t>
            </a:r>
            <a:r>
              <a:rPr lang="en-US" altLang="ko-KR" dirty="0"/>
              <a:t>(#e0f7fa)</a:t>
            </a:r>
          </a:p>
          <a:p>
            <a:pPr lvl="1"/>
            <a:r>
              <a:rPr lang="ko-KR" altLang="en-US" dirty="0"/>
              <a:t>본문은 가운데 정렬</a:t>
            </a:r>
            <a:r>
              <a:rPr lang="en-US" altLang="ko-KR" dirty="0"/>
              <a:t>, </a:t>
            </a:r>
            <a:r>
              <a:rPr lang="ko-KR" altLang="en-US" dirty="0"/>
              <a:t>폰트는 </a:t>
            </a:r>
            <a:r>
              <a:rPr lang="en-US" altLang="ko-KR" dirty="0"/>
              <a:t>Arial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208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08DA-1BD4-CDDC-0318-0AD3764A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결과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D8B84-DEF9-61F5-CE8C-91DB36ED189A}"/>
              </a:ext>
            </a:extLst>
          </p:cNvPr>
          <p:cNvSpPr txBox="1"/>
          <p:nvPr/>
        </p:nvSpPr>
        <p:spPr>
          <a:xfrm>
            <a:off x="838200" y="1322047"/>
            <a:ext cx="10515600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&lt;title&gt;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나의 첫 번째 웹페이지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title&gt;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&lt;style&gt;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body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background-color: #e0f7fa;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font-family: Arial, sans-serif;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text-align: center;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padding-top: 100px;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&lt;/style&gt;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&lt;h1&gt;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안녕하세요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h1&gt;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&lt;p&gt;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여기는 생성형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AI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가 만든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입니다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69323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3BAB-3FFE-05FA-9118-B43C78EF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대규모 언어모델</a:t>
            </a:r>
            <a:br>
              <a:rPr lang="en-US" altLang="ko-KR" dirty="0"/>
            </a:br>
            <a:r>
              <a:rPr lang="en-US" altLang="ko-KR" sz="3200" dirty="0"/>
              <a:t>Large Language Model (LLM)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1DB67E-113F-8FB9-BBEA-B91036F45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4373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935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 dirty="0"/>
              <a:t>텍스트 생성</a:t>
            </a:r>
            <a:br>
              <a:rPr lang="en-US" altLang="ko-KR" dirty="0"/>
            </a:br>
            <a:r>
              <a:rPr lang="en-US" altLang="ko" sz="3200" dirty="0"/>
              <a:t>Text Generation</a:t>
            </a:r>
            <a:endParaRPr lang="en-US" dirty="0"/>
          </a:p>
        </p:txBody>
      </p:sp>
      <p:sp>
        <p:nvSpPr>
          <p:cNvPr id="688" name="Google Shape;688;p64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문장에서 다음 단어를 예측할 때 그전에 오는 단어를 알면 더 잘 예측할 수 있음  </a:t>
            </a:r>
          </a:p>
        </p:txBody>
      </p:sp>
      <p:pic>
        <p:nvPicPr>
          <p:cNvPr id="689" name="Google Shape;689;p64"/>
          <p:cNvPicPr preferRelativeResize="0">
            <a:picLocks noGrp="1"/>
          </p:cNvPicPr>
          <p:nvPr>
            <p:ph sz="half" idx="4294967295"/>
          </p:nvPr>
        </p:nvPicPr>
        <p:blipFill rotWithShape="1">
          <a:blip r:embed="rId3">
            <a:alphaModFix/>
          </a:blip>
          <a:stretch/>
        </p:blipFill>
        <p:spPr>
          <a:xfrm>
            <a:off x="1262743" y="2976563"/>
            <a:ext cx="9144000" cy="3200400"/>
          </a:xfrm>
        </p:spPr>
      </p:pic>
    </p:spTree>
    <p:extLst>
      <p:ext uri="{BB962C8B-B14F-4D97-AF65-F5344CB8AC3E}">
        <p14:creationId xmlns:p14="http://schemas.microsoft.com/office/powerpoint/2010/main" val="3798667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7FB9-F7DC-1AF8-C262-9E05B92F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작동 원리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BA208-4009-5768-6DA0-ECA38B8CC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585892"/>
              </p:ext>
            </p:extLst>
          </p:nvPr>
        </p:nvGraphicFramePr>
        <p:xfrm>
          <a:off x="412749" y="1462088"/>
          <a:ext cx="11337973" cy="1595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54CCCAEB-CD49-759E-6B10-44A66223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749" y="3980631"/>
            <a:ext cx="5877109" cy="15950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A08308-8FAA-1504-226D-BA339277E32D}"/>
              </a:ext>
            </a:extLst>
          </p:cNvPr>
          <p:cNvSpPr txBox="1"/>
          <p:nvPr/>
        </p:nvSpPr>
        <p:spPr>
          <a:xfrm>
            <a:off x="530201" y="3580521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인코더와 </a:t>
            </a:r>
            <a:r>
              <a:rPr lang="ko-KR" altLang="en-US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디코더를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 이용해서 번역</a:t>
            </a:r>
            <a:endParaRPr lang="en-US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  <a:cs typeface="+mj-cs"/>
            </a:endParaRPr>
          </a:p>
        </p:txBody>
      </p:sp>
      <p:pic>
        <p:nvPicPr>
          <p:cNvPr id="12" name="그림 4">
            <a:extLst>
              <a:ext uri="{FF2B5EF4-FFF2-40B4-BE49-F238E27FC236}">
                <a16:creationId xmlns:a16="http://schemas.microsoft.com/office/drawing/2014/main" id="{13BA9BF0-0249-D311-B56F-3E3707CE96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0243" y="3980631"/>
            <a:ext cx="3720991" cy="1559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4AD6F6-641F-19EE-699F-958974C14E6D}"/>
              </a:ext>
            </a:extLst>
          </p:cNvPr>
          <p:cNvSpPr txBox="1"/>
          <p:nvPr/>
        </p:nvSpPr>
        <p:spPr>
          <a:xfrm>
            <a:off x="7250243" y="3584841"/>
            <a:ext cx="47718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트랜스포머를 이용해서 위치정보 포함</a:t>
            </a:r>
            <a:endParaRPr lang="en-US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956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6951246F-E3B7-BBF6-15D8-6C39232E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어텐션</a:t>
            </a:r>
            <a:r>
              <a:rPr lang="ko-KR" altLang="en-US" dirty="0"/>
              <a:t> 모델</a:t>
            </a:r>
            <a:br>
              <a:rPr lang="en-US" altLang="ko-KR" dirty="0"/>
            </a:br>
            <a:r>
              <a:rPr lang="en-US" altLang="ko-KR" sz="3200" dirty="0"/>
              <a:t>Attention Model</a:t>
            </a:r>
            <a:endParaRPr lang="ko-KR" altLang="en-US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21522C5A-B3BD-E6CB-2307-9E9A68324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입력 시퀀스 각 요소의 중요도를 측정하기 위해  </a:t>
            </a:r>
            <a:r>
              <a:rPr lang="ko-KR" altLang="en-US" dirty="0" err="1"/>
              <a:t>소프트맥스</a:t>
            </a:r>
            <a:r>
              <a:rPr lang="ko-KR" altLang="en-US" dirty="0"/>
              <a:t> 함수를 사용하여 </a:t>
            </a:r>
            <a:r>
              <a:rPr lang="ko-KR" altLang="en-US" dirty="0" err="1"/>
              <a:t>어텐션</a:t>
            </a:r>
            <a:r>
              <a:rPr lang="ko-KR" altLang="en-US" dirty="0"/>
              <a:t> 가중치를 계산</a:t>
            </a:r>
            <a:r>
              <a:rPr lang="en-US" altLang="ko-KR" dirty="0"/>
              <a:t>. </a:t>
            </a:r>
            <a:r>
              <a:rPr lang="ko-KR" altLang="en-US" dirty="0"/>
              <a:t>입력과 가중치 간의 가중합을 통해 출력 생성</a:t>
            </a:r>
            <a:r>
              <a:rPr lang="en-US" altLang="ko-KR" dirty="0"/>
              <a:t>. </a:t>
            </a:r>
            <a:r>
              <a:rPr lang="ko-KR" altLang="en-US" dirty="0"/>
              <a:t>이러한 가중치 계산은 모델이 특정 요소에 집중하도록 유도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1D3B71-7D63-239E-70A4-18D7A4EA6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71" y="3530601"/>
            <a:ext cx="2812334" cy="3200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8AA6755-4676-1A7A-838B-18233C326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774" y="3530601"/>
            <a:ext cx="3581400" cy="3200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EC2AEF-4451-A04E-3838-8252471AF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943" y="3530601"/>
            <a:ext cx="420776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59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5463-F736-F49B-139B-208F20F9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56123-8437-8919-57F3-FC9B38AC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ChatGPT</a:t>
            </a:r>
            <a:endParaRPr lang="ko-KR" alt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B7E6E23-51A1-9271-52DD-B027DD544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OpenAI </a:t>
            </a:r>
            <a:r>
              <a:rPr lang="ko-KR" altLang="en-US" dirty="0"/>
              <a:t>에서 개발한 자연어 처리기술을 활용한 대화형 </a:t>
            </a:r>
            <a:r>
              <a:rPr lang="en-US" altLang="ko-KR" dirty="0"/>
              <a:t>AI </a:t>
            </a:r>
            <a:r>
              <a:rPr lang="ko-KR" altLang="en-US" dirty="0"/>
              <a:t>모델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사용자와 대화를 통해 상호작용하며</a:t>
            </a:r>
            <a:r>
              <a:rPr lang="en-US" altLang="ko-KR" dirty="0"/>
              <a:t>, </a:t>
            </a:r>
            <a:r>
              <a:rPr lang="ko-KR" altLang="en-US" dirty="0"/>
              <a:t>질문에 대답하고 자연스러운 대화를 제공</a:t>
            </a:r>
            <a:r>
              <a:rPr lang="en-US" altLang="ko-KR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GPT-3.5, GPT-4, </a:t>
            </a:r>
            <a:r>
              <a:rPr lang="ko-KR" altLang="en-US" dirty="0"/>
              <a:t>최신 </a:t>
            </a:r>
            <a:r>
              <a:rPr lang="en-US" altLang="ko-KR" dirty="0"/>
              <a:t>GPT-4o</a:t>
            </a:r>
            <a:r>
              <a:rPr lang="ko-KR" altLang="en-US" dirty="0"/>
              <a:t>까지 발전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사용자의 피드백과 입력을 바탕으로 계속해서 학습하고 발전하는 능력을 갖춤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코드 작성</a:t>
            </a:r>
            <a:r>
              <a:rPr lang="en-US" altLang="ko-KR" dirty="0"/>
              <a:t>, </a:t>
            </a:r>
            <a:r>
              <a:rPr lang="ko-KR" altLang="en-US" dirty="0"/>
              <a:t>글쓰기</a:t>
            </a:r>
            <a:r>
              <a:rPr lang="en-US" altLang="ko-KR" dirty="0"/>
              <a:t>, </a:t>
            </a:r>
            <a:r>
              <a:rPr lang="ko-KR" altLang="en-US" dirty="0"/>
              <a:t>요약 등 다용도에 강함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1026" name="Picture 2" descr="ChatGPT - Wikipedia">
            <a:extLst>
              <a:ext uri="{FF2B5EF4-FFF2-40B4-BE49-F238E27FC236}">
                <a16:creationId xmlns:a16="http://schemas.microsoft.com/office/drawing/2014/main" id="{285C67C1-0B26-B960-87AB-71A6207E4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925" y="230188"/>
            <a:ext cx="1073150" cy="107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BAE8BE-8CAA-AB54-5BDC-82FE03DC1065}"/>
              </a:ext>
            </a:extLst>
          </p:cNvPr>
          <p:cNvSpPr txBox="1"/>
          <p:nvPr/>
        </p:nvSpPr>
        <p:spPr>
          <a:xfrm>
            <a:off x="8386797" y="5076447"/>
            <a:ext cx="3220278" cy="11237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GPT = Generative + Pre-trained + Transformer</a:t>
            </a:r>
          </a:p>
        </p:txBody>
      </p:sp>
    </p:spTree>
    <p:extLst>
      <p:ext uri="{BB962C8B-B14F-4D97-AF65-F5344CB8AC3E}">
        <p14:creationId xmlns:p14="http://schemas.microsoft.com/office/powerpoint/2010/main" val="3724324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B310-08FA-27C3-CE7C-739B9812F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Gemini </a:t>
            </a:r>
            <a:r>
              <a:rPr lang="ko-KR" altLang="en-US" dirty="0"/>
              <a:t>제미나이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EA14D-03D8-9388-0E26-C2EA02E70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Generalized Multimodal Intelligence Network</a:t>
            </a:r>
            <a:r>
              <a:rPr lang="ko-KR" altLang="en-US" dirty="0"/>
              <a:t>의 약자</a:t>
            </a:r>
            <a:endParaRPr lang="en-US" altLang="ko-KR" dirty="0"/>
          </a:p>
          <a:p>
            <a:r>
              <a:rPr lang="ko-KR" altLang="en-US" dirty="0"/>
              <a:t>구글과 </a:t>
            </a:r>
            <a:r>
              <a:rPr lang="ko-KR" altLang="en-US" dirty="0" err="1"/>
              <a:t>딥마인드가</a:t>
            </a:r>
            <a:r>
              <a:rPr lang="ko-KR" altLang="en-US" dirty="0"/>
              <a:t> 개발한 </a:t>
            </a:r>
            <a:r>
              <a:rPr lang="ko-KR" altLang="en-US" dirty="0" err="1"/>
              <a:t>멀티모달</a:t>
            </a:r>
            <a:r>
              <a:rPr lang="ko-KR" altLang="en-US" dirty="0"/>
              <a:t> </a:t>
            </a:r>
            <a:r>
              <a:rPr lang="en-US" altLang="ko-KR" dirty="0"/>
              <a:t>(LMM) </a:t>
            </a:r>
            <a:r>
              <a:rPr lang="ko-KR" altLang="en-US" dirty="0"/>
              <a:t>생성형 인공지능 모델</a:t>
            </a:r>
            <a:endParaRPr lang="en-US" altLang="ko-KR" dirty="0"/>
          </a:p>
          <a:p>
            <a:r>
              <a:rPr lang="en-US" altLang="ko-KR" dirty="0"/>
              <a:t>Bard</a:t>
            </a:r>
            <a:r>
              <a:rPr lang="ko-KR" altLang="en-US" dirty="0"/>
              <a:t>에서 발전한 모델 </a:t>
            </a:r>
            <a:r>
              <a:rPr lang="en-US" altLang="ko-KR" dirty="0"/>
              <a:t>(Gemini</a:t>
            </a:r>
            <a:r>
              <a:rPr lang="ko-KR" altLang="en-US" dirty="0"/>
              <a:t>로 리브랜딩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구글 검색과 연계</a:t>
            </a:r>
            <a:r>
              <a:rPr lang="en-US" altLang="ko-KR" dirty="0"/>
              <a:t>, </a:t>
            </a:r>
            <a:r>
              <a:rPr lang="ko-KR" altLang="en-US" dirty="0"/>
              <a:t>최신 정보 접근이 강점</a:t>
            </a:r>
            <a:endParaRPr lang="en-US" altLang="ko-KR" dirty="0"/>
          </a:p>
          <a:p>
            <a:r>
              <a:rPr lang="ko-KR" altLang="en-US" dirty="0" err="1"/>
              <a:t>멀티모달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+</a:t>
            </a:r>
            <a:r>
              <a:rPr lang="ko-KR" altLang="en-US" dirty="0"/>
              <a:t>텍스트 등</a:t>
            </a:r>
            <a:r>
              <a:rPr lang="en-US" altLang="ko-KR" dirty="0"/>
              <a:t>) </a:t>
            </a:r>
            <a:r>
              <a:rPr lang="ko-KR" altLang="en-US" dirty="0"/>
              <a:t>처리 기능 </a:t>
            </a:r>
            <a:endParaRPr lang="en-US" altLang="ko-KR" dirty="0"/>
          </a:p>
          <a:p>
            <a:pPr lvl="1"/>
            <a:r>
              <a:rPr lang="ko-KR" altLang="en-US" dirty="0"/>
              <a:t>텍스트 뿐만 아니라 오디오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비디오와 같은 다양한 입출력을 지원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0E8EF-9BD4-90FE-384F-0616E0876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782" y="305848"/>
            <a:ext cx="47625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6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3908-7045-543C-5462-08D1FD32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476D5-7D46-3AA1-C722-A8F14E166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OpenAI </a:t>
            </a:r>
            <a:r>
              <a:rPr lang="ko-KR" altLang="en-US" dirty="0"/>
              <a:t>출신 연구자들이 창업한 </a:t>
            </a:r>
            <a:r>
              <a:rPr lang="en-US" altLang="ko-KR" dirty="0"/>
              <a:t>Anthropic</a:t>
            </a:r>
            <a:r>
              <a:rPr lang="ko-KR" altLang="en-US" dirty="0"/>
              <a:t>에서 개발 </a:t>
            </a:r>
            <a:endParaRPr lang="en-US" altLang="ko-KR" dirty="0"/>
          </a:p>
          <a:p>
            <a:r>
              <a:rPr lang="ko-KR" altLang="en-US" dirty="0"/>
              <a:t>안전성과 윤리를 강조한 </a:t>
            </a:r>
            <a:r>
              <a:rPr lang="en-US" altLang="ko-KR" dirty="0"/>
              <a:t>AI</a:t>
            </a:r>
          </a:p>
          <a:p>
            <a:r>
              <a:rPr lang="ko-KR" altLang="en-US" dirty="0"/>
              <a:t>인간 의사소통 방식에 가까운 응답 설계</a:t>
            </a:r>
            <a:endParaRPr lang="en-US" altLang="ko-KR" dirty="0"/>
          </a:p>
          <a:p>
            <a:r>
              <a:rPr lang="ko-KR" altLang="en-US" dirty="0"/>
              <a:t>긴 문서 처리와 요약에 강점</a:t>
            </a:r>
            <a:endParaRPr lang="en-US" altLang="ko-KR" dirty="0"/>
          </a:p>
          <a:p>
            <a:r>
              <a:rPr lang="ko-KR" altLang="en-US" dirty="0"/>
              <a:t>사용자 피드백을 기반으로 자가 개선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BE630-A7F4-3BB0-8996-A38B638D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614" y="5395912"/>
            <a:ext cx="3361386" cy="108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65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E4B4-DB53-A437-8E6E-D5C7ECE5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8E27-90C4-DF3D-874F-9E1574810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Perplexity AI</a:t>
            </a:r>
            <a:r>
              <a:rPr lang="ko-KR" altLang="en-US" dirty="0"/>
              <a:t>에서 개발 </a:t>
            </a:r>
            <a:r>
              <a:rPr lang="en-US" altLang="ko-KR" dirty="0"/>
              <a:t>(2022</a:t>
            </a:r>
            <a:r>
              <a:rPr lang="ko-KR" altLang="en-US" dirty="0"/>
              <a:t>년 출시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/>
              <a:t>AI </a:t>
            </a:r>
            <a:r>
              <a:rPr lang="ko-KR" altLang="en-US" dirty="0"/>
              <a:t>기반의 검색 특화 모델</a:t>
            </a:r>
            <a:endParaRPr lang="en-US" altLang="ko-KR" dirty="0"/>
          </a:p>
          <a:p>
            <a:r>
              <a:rPr lang="ko-KR" altLang="en-US" dirty="0"/>
              <a:t>답변에 출처 링크를 함께 제공</a:t>
            </a:r>
            <a:endParaRPr lang="en-US" altLang="ko-KR" dirty="0"/>
          </a:p>
          <a:p>
            <a:r>
              <a:rPr lang="ko-KR" altLang="en-US" dirty="0"/>
              <a:t>사실 기반 응답과 빠른 정보 제공에 강점</a:t>
            </a:r>
            <a:endParaRPr lang="en-US" altLang="ko-KR" dirty="0"/>
          </a:p>
          <a:p>
            <a:r>
              <a:rPr lang="ko-KR" altLang="en-US" dirty="0"/>
              <a:t>불필요하게 길거나 추상적인 설명을 줄이고</a:t>
            </a:r>
            <a:r>
              <a:rPr lang="en-US" altLang="ko-KR" dirty="0"/>
              <a:t>, </a:t>
            </a:r>
            <a:r>
              <a:rPr lang="ko-KR" altLang="en-US" dirty="0"/>
              <a:t>핵심만 전달</a:t>
            </a:r>
            <a:endParaRPr lang="en-US" dirty="0"/>
          </a:p>
        </p:txBody>
      </p:sp>
      <p:pic>
        <p:nvPicPr>
          <p:cNvPr id="8195" name="Picture 3" descr="Perplexity – ONA Industry Directory">
            <a:extLst>
              <a:ext uri="{FF2B5EF4-FFF2-40B4-BE49-F238E27FC236}">
                <a16:creationId xmlns:a16="http://schemas.microsoft.com/office/drawing/2014/main" id="{7B04D8EF-B4A0-4402-98EC-C441984AE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52" y="4940300"/>
            <a:ext cx="530225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456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505-E6EF-7BA8-42CA-F384228A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</a:t>
            </a:r>
            <a:br>
              <a:rPr lang="en-US" altLang="ko-KR" dirty="0"/>
            </a:br>
            <a:r>
              <a:rPr lang="en-US" altLang="ko-KR" sz="3200" dirty="0"/>
              <a:t>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60E8E-B2A0-5D7F-1F58-B85125D4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에게 작업을 지시하는 명령문 </a:t>
            </a:r>
            <a:r>
              <a:rPr lang="en-US" altLang="ko-KR" dirty="0"/>
              <a:t>(</a:t>
            </a:r>
            <a:r>
              <a:rPr lang="ko-KR" altLang="en-US" dirty="0"/>
              <a:t>질문</a:t>
            </a:r>
            <a:r>
              <a:rPr lang="en-US" altLang="ko-KR" dirty="0"/>
              <a:t>, </a:t>
            </a:r>
            <a:r>
              <a:rPr lang="ko-KR" altLang="en-US" dirty="0"/>
              <a:t>요청</a:t>
            </a:r>
            <a:r>
              <a:rPr lang="en-US" altLang="ko-KR" dirty="0"/>
              <a:t>, </a:t>
            </a:r>
            <a:r>
              <a:rPr lang="ko-KR" altLang="en-US" dirty="0"/>
              <a:t>설명 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유형</a:t>
            </a:r>
            <a:endParaRPr lang="en-US" altLang="ko-KR" dirty="0"/>
          </a:p>
          <a:p>
            <a:pPr lvl="1"/>
            <a:r>
              <a:rPr lang="ko-KR" altLang="en-US" dirty="0"/>
              <a:t>질문형</a:t>
            </a:r>
            <a:r>
              <a:rPr lang="en-US" altLang="ko-KR" dirty="0"/>
              <a:t>: "GPT</a:t>
            </a:r>
            <a:r>
              <a:rPr lang="ko-KR" altLang="en-US" dirty="0"/>
              <a:t>란 무엇인가요</a:t>
            </a:r>
            <a:r>
              <a:rPr lang="en-US" altLang="ko-KR" dirty="0"/>
              <a:t>?"</a:t>
            </a:r>
            <a:endParaRPr lang="en-US" dirty="0"/>
          </a:p>
          <a:p>
            <a:pPr lvl="1"/>
            <a:r>
              <a:rPr lang="ko-KR" altLang="en-US" dirty="0"/>
              <a:t>지시형</a:t>
            </a:r>
            <a:r>
              <a:rPr lang="en-US" altLang="ko-KR" dirty="0"/>
              <a:t>: "GPT</a:t>
            </a:r>
            <a:r>
              <a:rPr lang="ko-KR" altLang="en-US" dirty="0"/>
              <a:t>를 초등학생이 이해할 수 있도록 설명해줘</a:t>
            </a:r>
            <a:r>
              <a:rPr lang="en-US" altLang="ko-KR" dirty="0"/>
              <a:t>.“</a:t>
            </a:r>
          </a:p>
          <a:p>
            <a:pPr lvl="1"/>
            <a:endParaRPr lang="en-US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239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90B0-0527-8F91-87F2-73FEAD43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예시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C36E-747B-1D35-1EA3-05D8AA11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  <a:r>
              <a:rPr lang="en-US" altLang="ko-KR" dirty="0"/>
              <a:t>: </a:t>
            </a:r>
            <a:r>
              <a:rPr lang="ko-KR" altLang="en-US" dirty="0"/>
              <a:t>“다음 글을 </a:t>
            </a:r>
            <a:r>
              <a:rPr lang="en-US" altLang="ko-KR" dirty="0"/>
              <a:t>3</a:t>
            </a:r>
            <a:r>
              <a:rPr lang="ko-KR" altLang="en-US" dirty="0"/>
              <a:t>문장으로 요약해줘</a:t>
            </a:r>
            <a:r>
              <a:rPr lang="en-US" altLang="ko-KR" dirty="0"/>
              <a:t>: [</a:t>
            </a:r>
            <a:r>
              <a:rPr lang="ko-KR" altLang="en-US" dirty="0"/>
              <a:t>글 내용</a:t>
            </a:r>
            <a:r>
              <a:rPr lang="en-US" altLang="ko-KR" dirty="0"/>
              <a:t>]”</a:t>
            </a:r>
          </a:p>
          <a:p>
            <a:r>
              <a:rPr lang="ko-KR" altLang="en-US" dirty="0"/>
              <a:t>번역</a:t>
            </a:r>
            <a:r>
              <a:rPr lang="en-US" altLang="ko-KR" dirty="0"/>
              <a:t>: </a:t>
            </a:r>
            <a:r>
              <a:rPr lang="ko-KR" altLang="en-US" dirty="0"/>
              <a:t>“이 문장을 영어로 번역해줘</a:t>
            </a:r>
            <a:r>
              <a:rPr lang="en-US" altLang="ko-KR" dirty="0"/>
              <a:t>: ‘</a:t>
            </a: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오늘 날씨가 좋네요</a:t>
            </a:r>
            <a:r>
              <a:rPr lang="en-US" altLang="ko-KR" dirty="0"/>
              <a:t>.’”</a:t>
            </a:r>
          </a:p>
          <a:p>
            <a:r>
              <a:rPr lang="ko-KR" altLang="en-US" dirty="0"/>
              <a:t>글쓰기</a:t>
            </a:r>
            <a:r>
              <a:rPr lang="en-US" altLang="ko-KR" dirty="0"/>
              <a:t>: </a:t>
            </a:r>
            <a:r>
              <a:rPr lang="ko-KR" altLang="en-US" dirty="0"/>
              <a:t>“블로그 글 제목</a:t>
            </a:r>
            <a:r>
              <a:rPr lang="en-US" altLang="ko-KR" dirty="0"/>
              <a:t>: ‘</a:t>
            </a:r>
            <a:r>
              <a:rPr lang="ko-KR" altLang="en-US" dirty="0"/>
              <a:t>프롬프트 엔지니어링 기초’</a:t>
            </a:r>
            <a:r>
              <a:rPr lang="en-US" altLang="ko-KR" dirty="0"/>
              <a:t>. </a:t>
            </a:r>
            <a:r>
              <a:rPr lang="ko-KR" altLang="en-US" dirty="0"/>
              <a:t>초보자에게 친절하게 설명하는 글 작성해줘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코드 요청</a:t>
            </a:r>
            <a:r>
              <a:rPr lang="en-US" altLang="ko-KR" dirty="0"/>
              <a:t>: </a:t>
            </a:r>
            <a:r>
              <a:rPr lang="ko-KR" altLang="en-US" dirty="0"/>
              <a:t>“</a:t>
            </a:r>
            <a:r>
              <a:rPr lang="ko-KR" altLang="en-US" dirty="0" err="1"/>
              <a:t>파이썬으로</a:t>
            </a:r>
            <a:r>
              <a:rPr lang="ko-KR" altLang="en-US" dirty="0"/>
              <a:t> 리스트를 정렬하는 코드 예제 보여줘”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91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5513-2598-06B1-E115-9BC88D70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프롬프트의 기본 구조 </a:t>
            </a:r>
            <a:r>
              <a:rPr lang="en-US" altLang="ko-KR" dirty="0"/>
              <a:t>(3</a:t>
            </a:r>
            <a:r>
              <a:rPr lang="ko-KR" altLang="en-US" dirty="0"/>
              <a:t>요소</a:t>
            </a:r>
            <a:r>
              <a:rPr lang="en-US" altLang="ko-KR" dirty="0"/>
              <a:t>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3AAD70-F95A-6322-9AAF-3D42A3386A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24838"/>
              </p:ext>
            </p:extLst>
          </p:nvPr>
        </p:nvGraphicFramePr>
        <p:xfrm>
          <a:off x="412750" y="1462088"/>
          <a:ext cx="11266633" cy="384363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70049">
                  <a:extLst>
                    <a:ext uri="{9D8B030D-6E8A-4147-A177-3AD203B41FA5}">
                      <a16:colId xmlns:a16="http://schemas.microsoft.com/office/drawing/2014/main" val="2338373040"/>
                    </a:ext>
                  </a:extLst>
                </a:gridCol>
                <a:gridCol w="3744277">
                  <a:extLst>
                    <a:ext uri="{9D8B030D-6E8A-4147-A177-3AD203B41FA5}">
                      <a16:colId xmlns:a16="http://schemas.microsoft.com/office/drawing/2014/main" val="1339726899"/>
                    </a:ext>
                  </a:extLst>
                </a:gridCol>
                <a:gridCol w="4852307">
                  <a:extLst>
                    <a:ext uri="{9D8B030D-6E8A-4147-A177-3AD203B41FA5}">
                      <a16:colId xmlns:a16="http://schemas.microsoft.com/office/drawing/2014/main" val="461289705"/>
                    </a:ext>
                  </a:extLst>
                </a:gridCol>
              </a:tblGrid>
              <a:tr h="5464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구성 요소</a:t>
                      </a:r>
                    </a:p>
                  </a:txBody>
                  <a:tcPr marL="90066" marR="90066" marT="45033" marB="4503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설명</a:t>
                      </a:r>
                    </a:p>
                  </a:txBody>
                  <a:tcPr marL="90066" marR="90066" marT="45033" marB="4503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예시</a:t>
                      </a:r>
                    </a:p>
                  </a:txBody>
                  <a:tcPr marL="90066" marR="90066" marT="45033" marB="4503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363422"/>
                  </a:ext>
                </a:extLst>
              </a:tr>
              <a:tr h="546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kern="1200" dirty="0" err="1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지시문</a:t>
                      </a: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(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Instruction)</a:t>
                      </a:r>
                    </a:p>
                  </a:txBody>
                  <a:tcPr marL="90066" marR="90066" marT="45033" marB="450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AI</a:t>
                      </a:r>
                      <a:r>
                        <a:rPr lang="ko-KR" altLang="en-US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에게 시킬 작업</a:t>
                      </a:r>
                    </a:p>
                  </a:txBody>
                  <a:tcPr marL="90066" marR="90066" marT="45033" marB="450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  <a:r>
                        <a:rPr lang="ko-KR" altLang="en-US" sz="28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다음 글을 요약해줘</a:t>
                      </a:r>
                      <a:r>
                        <a:rPr lang="en-US" altLang="ko-KR" sz="28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."</a:t>
                      </a:r>
                    </a:p>
                  </a:txBody>
                  <a:tcPr marL="90066" marR="90066" marT="45033" marB="45033" anchor="ctr"/>
                </a:tc>
                <a:extLst>
                  <a:ext uri="{0D108BD9-81ED-4DB2-BD59-A6C34878D82A}">
                    <a16:rowId xmlns:a16="http://schemas.microsoft.com/office/drawing/2014/main" val="2241851692"/>
                  </a:ext>
                </a:extLst>
              </a:tr>
              <a:tr h="1387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입력 데이터 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(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Input)</a:t>
                      </a:r>
                    </a:p>
                  </a:txBody>
                  <a:tcPr marL="90066" marR="90066" marT="45033" marB="450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작업 대상 데이터</a:t>
                      </a:r>
                    </a:p>
                  </a:txBody>
                  <a:tcPr marL="90066" marR="90066" marT="45033" marB="450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  <a:r>
                        <a:rPr lang="ko-KR" altLang="en-US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오늘 회의에서는 </a:t>
                      </a:r>
                      <a:r>
                        <a:rPr lang="en-US" altLang="ko-KR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가지 안건이 논의되었다</a:t>
                      </a:r>
                      <a:r>
                        <a:rPr lang="en-US" altLang="ko-KR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..."</a:t>
                      </a:r>
                    </a:p>
                  </a:txBody>
                  <a:tcPr marL="90066" marR="90066" marT="45033" marB="45033" anchor="ctr"/>
                </a:tc>
                <a:extLst>
                  <a:ext uri="{0D108BD9-81ED-4DB2-BD59-A6C34878D82A}">
                    <a16:rowId xmlns:a16="http://schemas.microsoft.com/office/drawing/2014/main" val="480667644"/>
                  </a:ext>
                </a:extLst>
              </a:tr>
              <a:tr h="966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출력 형식 지정 </a:t>
                      </a:r>
                      <a:r>
                        <a:rPr lang="en-US" altLang="ko-KR" sz="2800" kern="1200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(Format)</a:t>
                      </a:r>
                      <a:endParaRPr lang="ko-KR" altLang="en-US" sz="2800" kern="12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marL="90066" marR="90066" marT="45033" marB="450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출력 방식 또는 스타일</a:t>
                      </a:r>
                    </a:p>
                  </a:txBody>
                  <a:tcPr marL="90066" marR="90066" marT="45033" marB="450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"3</a:t>
                      </a:r>
                      <a:r>
                        <a:rPr lang="ko-KR" altLang="en-US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문장으로 요약</a:t>
                      </a:r>
                      <a:r>
                        <a:rPr lang="en-US" altLang="ko-KR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번호 매기기</a:t>
                      </a:r>
                      <a:r>
                        <a:rPr lang="en-US" altLang="ko-KR" sz="28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</a:p>
                  </a:txBody>
                  <a:tcPr marL="90066" marR="90066" marT="45033" marB="45033" anchor="ctr"/>
                </a:tc>
                <a:extLst>
                  <a:ext uri="{0D108BD9-81ED-4DB2-BD59-A6C34878D82A}">
                    <a16:rowId xmlns:a16="http://schemas.microsoft.com/office/drawing/2014/main" val="1164096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864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9641-4FC0-6829-E288-95D2B6C0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055233"/>
          </a:xfrm>
          <a:noFill/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텍스트 생성</a:t>
            </a:r>
            <a:b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프롬프트 실습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0504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0BB1B3-983F-52FE-F47E-F80BFACD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프롬프트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FF29B-2984-DD48-FBBF-E0DC72836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단순 지시 프롬프트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“고객 불만을 정중하게 응답해줘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예상 출력</a:t>
            </a:r>
          </a:p>
          <a:p>
            <a:pPr lvl="2"/>
            <a:r>
              <a:rPr lang="ko-KR" altLang="en-US" dirty="0"/>
              <a:t>“불편을 드려 진심으로 죄송합니다</a:t>
            </a:r>
            <a:r>
              <a:rPr lang="en-US" altLang="ko-KR" dirty="0"/>
              <a:t>. </a:t>
            </a:r>
            <a:r>
              <a:rPr lang="ko-KR" altLang="en-US" dirty="0"/>
              <a:t>빠르게 해결하겠습니다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단순 질문 프롬프트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“인공지능이 교육에 미치는 긍정적인 영향은 무엇인가요</a:t>
            </a:r>
            <a:r>
              <a:rPr lang="en-US" altLang="ko-KR" dirty="0"/>
              <a:t>?”</a:t>
            </a:r>
            <a:endParaRPr lang="en-US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7742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3FFC-97BA-220D-40FB-3316AC72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 프롬프트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242C-0FC6-5FB8-DBEC-A98341784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“다음 회의록을 </a:t>
            </a:r>
            <a:r>
              <a:rPr lang="en-US" altLang="ko-KR" dirty="0"/>
              <a:t>3</a:t>
            </a:r>
            <a:r>
              <a:rPr lang="ko-KR" altLang="en-US" dirty="0"/>
              <a:t>문장으로 요약해줘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/>
              <a:t>입력</a:t>
            </a:r>
            <a:r>
              <a:rPr lang="en-US" altLang="ko-KR" dirty="0"/>
              <a:t>: “</a:t>
            </a:r>
            <a:r>
              <a:rPr lang="ko-KR" altLang="en-US" dirty="0"/>
              <a:t>오늘 회의에서는 마케팅 전략</a:t>
            </a:r>
            <a:r>
              <a:rPr lang="en-US" altLang="ko-KR" dirty="0"/>
              <a:t>, </a:t>
            </a:r>
            <a:r>
              <a:rPr lang="ko-KR" altLang="en-US" dirty="0"/>
              <a:t>신규 채용 계획</a:t>
            </a:r>
            <a:r>
              <a:rPr lang="en-US" altLang="ko-KR" dirty="0"/>
              <a:t>, </a:t>
            </a:r>
            <a:r>
              <a:rPr lang="ko-KR" altLang="en-US" dirty="0"/>
              <a:t>그리고 예산 분배안이 논의되었습니다</a:t>
            </a:r>
            <a:r>
              <a:rPr lang="en-US" altLang="ko-KR" dirty="0"/>
              <a:t>. </a:t>
            </a:r>
            <a:r>
              <a:rPr lang="ko-KR" altLang="en-US" dirty="0"/>
              <a:t>마케팅팀은 </a:t>
            </a:r>
            <a:r>
              <a:rPr lang="en-US" altLang="ko-KR" dirty="0"/>
              <a:t>SNS </a:t>
            </a:r>
            <a:r>
              <a:rPr lang="ko-KR" altLang="en-US" dirty="0"/>
              <a:t>강화 필요성을 언급했고</a:t>
            </a:r>
            <a:r>
              <a:rPr lang="en-US" altLang="ko-KR" dirty="0"/>
              <a:t>, </a:t>
            </a:r>
            <a:r>
              <a:rPr lang="ko-KR" altLang="en-US" dirty="0"/>
              <a:t>인사팀은 다음 분기부터 인턴 채용을 제안했습니다</a:t>
            </a:r>
            <a:r>
              <a:rPr lang="en-US" altLang="ko-KR" dirty="0"/>
              <a:t>. </a:t>
            </a:r>
            <a:r>
              <a:rPr lang="ko-KR" altLang="en-US" dirty="0"/>
              <a:t>재무팀은 예산을 전년 대비 </a:t>
            </a:r>
            <a:r>
              <a:rPr lang="en-US" altLang="ko-KR" dirty="0"/>
              <a:t>15% </a:t>
            </a:r>
            <a:r>
              <a:rPr lang="ko-KR" altLang="en-US" dirty="0"/>
              <a:t>감축해야 한다고 발표했습니다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예상 출력</a:t>
            </a:r>
          </a:p>
          <a:p>
            <a:pPr lvl="1"/>
            <a:r>
              <a:rPr lang="ko-KR" altLang="en-US" dirty="0"/>
              <a:t>마케팅 전략 강화와 인턴 채용 계획이 논의되었다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재무팀은 예산을 </a:t>
            </a:r>
            <a:r>
              <a:rPr lang="en-US" altLang="ko-KR" dirty="0"/>
              <a:t>15% </a:t>
            </a:r>
            <a:r>
              <a:rPr lang="ko-KR" altLang="en-US" dirty="0"/>
              <a:t>감축해야 한다고 보고했다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각 팀의 전략 방향성에 대해 다음 회의에서 재논의하기로 했다</a:t>
            </a:r>
            <a:r>
              <a:rPr lang="en-US" altLang="ko-KR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980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AEFC-B9C9-759B-B69B-41C53FE5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첨삭 프롬프트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7F1DB-6CC1-E4C8-8EAC-92A52190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“학생의 글을 첨삭해줘</a:t>
            </a:r>
            <a:r>
              <a:rPr lang="en-US" altLang="ko-KR" dirty="0"/>
              <a:t>. </a:t>
            </a:r>
            <a:r>
              <a:rPr lang="ko-KR" altLang="en-US" dirty="0"/>
              <a:t>각 문장을 수정하고</a:t>
            </a:r>
            <a:r>
              <a:rPr lang="en-US" altLang="ko-KR" dirty="0"/>
              <a:t>, </a:t>
            </a:r>
            <a:r>
              <a:rPr lang="ko-KR" altLang="en-US" dirty="0"/>
              <a:t>수정 이유를 아래에 적어줘</a:t>
            </a:r>
            <a:r>
              <a:rPr lang="en-US" altLang="ko-KR" dirty="0"/>
              <a:t>.”</a:t>
            </a:r>
          </a:p>
          <a:p>
            <a:endParaRPr lang="en-US" dirty="0"/>
          </a:p>
          <a:p>
            <a:r>
              <a:rPr lang="ko-KR" altLang="en-US" dirty="0"/>
              <a:t>예상 출력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원문</a:t>
            </a:r>
            <a:r>
              <a:rPr lang="en-US" altLang="ko-KR" dirty="0"/>
              <a:t>] </a:t>
            </a:r>
            <a:r>
              <a:rPr lang="ko-KR" altLang="en-US" dirty="0"/>
              <a:t>나는 이것을 재밌다고 생각한다</a:t>
            </a:r>
            <a:r>
              <a:rPr lang="en-US" altLang="ko-KR" dirty="0"/>
              <a:t>.  </a:t>
            </a:r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수정</a:t>
            </a:r>
            <a:r>
              <a:rPr lang="en-US" altLang="ko-KR" dirty="0"/>
              <a:t>] </a:t>
            </a:r>
            <a:r>
              <a:rPr lang="ko-KR" altLang="en-US" dirty="0"/>
              <a:t>나는 이것이 재미있다고 생각한다</a:t>
            </a:r>
            <a:r>
              <a:rPr lang="en-US" altLang="ko-KR" dirty="0"/>
              <a:t>.  </a:t>
            </a:r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이유</a:t>
            </a:r>
            <a:r>
              <a:rPr lang="en-US" altLang="ko-KR" dirty="0"/>
              <a:t>] '</a:t>
            </a:r>
            <a:r>
              <a:rPr lang="ko-KR" altLang="en-US" dirty="0"/>
              <a:t>재밌다</a:t>
            </a:r>
            <a:r>
              <a:rPr lang="en-US" altLang="ko-KR" dirty="0"/>
              <a:t>'</a:t>
            </a:r>
            <a:r>
              <a:rPr lang="ko-KR" altLang="en-US" dirty="0"/>
              <a:t>는 구어체이며</a:t>
            </a:r>
            <a:r>
              <a:rPr lang="en-US" altLang="ko-KR" dirty="0"/>
              <a:t>, '</a:t>
            </a:r>
            <a:r>
              <a:rPr lang="ko-KR" altLang="en-US" dirty="0"/>
              <a:t>재미있다</a:t>
            </a:r>
            <a:r>
              <a:rPr lang="en-US" altLang="ko-KR" dirty="0"/>
              <a:t>'</a:t>
            </a:r>
            <a:r>
              <a:rPr lang="ko-KR" altLang="en-US" dirty="0"/>
              <a:t>가 맞춤법상 올바른 표현이다</a:t>
            </a:r>
            <a:r>
              <a:rPr lang="en-US" altLang="ko-KR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8950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40F3-F692-F6B8-8624-9E03277E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문장 변환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8E2CD-D1F8-E01E-F9FB-EA9DB8C2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“다음 문장을 초등학생도 이해할 수 있게 바꿔줘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/>
              <a:t>입력</a:t>
            </a:r>
            <a:r>
              <a:rPr lang="en-US" altLang="ko-KR" dirty="0"/>
              <a:t>: “</a:t>
            </a:r>
            <a:r>
              <a:rPr lang="ko-KR" altLang="en-US" dirty="0"/>
              <a:t>신경망은 사람의 뇌 구조를 모방한 인공지능 학습 방식입니다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예상 출력</a:t>
            </a:r>
            <a:endParaRPr lang="en-US" altLang="ko-KR" dirty="0"/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신경망은 컴퓨터가 뇌처럼 생각하도록 돕는 방법이에요</a:t>
            </a:r>
            <a:r>
              <a:rPr lang="en-US" altLang="ko-KR" dirty="0"/>
              <a:t>.”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057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CEFA-7053-FD1B-D903-6323ECA0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엔지니어링</a:t>
            </a:r>
            <a:br>
              <a:rPr lang="en-US" altLang="ko-KR" dirty="0"/>
            </a:br>
            <a:r>
              <a:rPr lang="en-US" sz="3200" dirty="0"/>
              <a:t>Prompt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E28C-DB06-CEDE-BA95-55FAE29E9E4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ound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에게 정확하고 유용한 결과를 얻기 위해 질문 </a:t>
            </a:r>
            <a:r>
              <a:rPr lang="en-US" altLang="ko-KR" dirty="0"/>
              <a:t>(</a:t>
            </a:r>
            <a:r>
              <a:rPr lang="ko-KR" altLang="en-US" dirty="0"/>
              <a:t>프롬프트</a:t>
            </a:r>
            <a:r>
              <a:rPr lang="en-US" altLang="ko-KR" dirty="0"/>
              <a:t>)</a:t>
            </a:r>
            <a:r>
              <a:rPr lang="ko-KR" altLang="en-US" dirty="0"/>
              <a:t>을 설계하는 기술</a:t>
            </a:r>
            <a:endParaRPr lang="en-US" altLang="ko-KR" dirty="0"/>
          </a:p>
          <a:p>
            <a:r>
              <a:rPr lang="ko-KR" altLang="en-US" dirty="0"/>
              <a:t>인간의 의도 </a:t>
            </a:r>
            <a:r>
              <a:rPr lang="en-US" altLang="ko-KR" dirty="0"/>
              <a:t>(intention)</a:t>
            </a:r>
            <a:r>
              <a:rPr lang="ko-KR" altLang="en-US" dirty="0"/>
              <a:t>를 </a:t>
            </a:r>
            <a:r>
              <a:rPr lang="en-US" altLang="ko-KR" dirty="0"/>
              <a:t>AI</a:t>
            </a:r>
            <a:r>
              <a:rPr lang="ko-KR" altLang="en-US" dirty="0"/>
              <a:t>에게 명확히 전달하는 인터페이스 디자인 도구</a:t>
            </a:r>
          </a:p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의 출력 품질을 결정짓는 핵심 요소</a:t>
            </a:r>
          </a:p>
          <a:p>
            <a:r>
              <a:rPr lang="ko-KR" altLang="en-US" dirty="0"/>
              <a:t>기존의 </a:t>
            </a:r>
            <a:r>
              <a:rPr lang="en-US" altLang="ko-KR" dirty="0"/>
              <a:t>'</a:t>
            </a:r>
            <a:r>
              <a:rPr lang="ko-KR" altLang="en-US" dirty="0"/>
              <a:t>질문</a:t>
            </a:r>
            <a:r>
              <a:rPr lang="en-US" altLang="ko-KR" dirty="0"/>
              <a:t>'</a:t>
            </a:r>
            <a:r>
              <a:rPr lang="ko-KR" altLang="en-US" dirty="0"/>
              <a:t>이 아닌</a:t>
            </a:r>
            <a:r>
              <a:rPr lang="en-US" altLang="ko-KR" dirty="0"/>
              <a:t>, </a:t>
            </a:r>
            <a:r>
              <a:rPr lang="ko-KR" altLang="en-US" dirty="0"/>
              <a:t>시나리오 설계</a:t>
            </a:r>
            <a:r>
              <a:rPr lang="en-US" altLang="ko-KR" dirty="0"/>
              <a:t>, </a:t>
            </a:r>
            <a:r>
              <a:rPr lang="ko-KR" altLang="en-US" dirty="0"/>
              <a:t>작업 지시</a:t>
            </a:r>
            <a:r>
              <a:rPr lang="en-US" altLang="ko-KR" dirty="0"/>
              <a:t>, </a:t>
            </a:r>
            <a:r>
              <a:rPr lang="ko-KR" altLang="en-US" dirty="0"/>
              <a:t>역할 설정까지 포함하는 복합적 구조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99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3DC3-0D4D-BBE5-E5E1-D8DD11F1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최적화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DD7D2A-AB26-8F8F-CDD7-51342784E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명확한 지시문을 사용한 프롬프트로 수정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부정확하거나 모호한 프롬프트는 수정</a:t>
            </a:r>
            <a:endParaRPr lang="en-US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8B8D99C-1E0D-0178-66AB-AFDE81081974}"/>
              </a:ext>
            </a:extLst>
          </p:cNvPr>
          <p:cNvSpPr txBox="1">
            <a:spLocks/>
          </p:cNvSpPr>
          <p:nvPr/>
        </p:nvSpPr>
        <p:spPr>
          <a:xfrm>
            <a:off x="760740" y="2431120"/>
            <a:ext cx="3762052" cy="15520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2000"/>
              <a:t>이메일 써줘</a:t>
            </a:r>
            <a:r>
              <a:rPr lang="en-US" altLang="ko-KR" sz="2000"/>
              <a:t>. </a:t>
            </a:r>
            <a:endParaRPr lang="en-US" sz="20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3F6E265-47D6-9350-2FFE-43CD4AB64962}"/>
              </a:ext>
            </a:extLst>
          </p:cNvPr>
          <p:cNvSpPr txBox="1">
            <a:spLocks/>
          </p:cNvSpPr>
          <p:nvPr/>
        </p:nvSpPr>
        <p:spPr>
          <a:xfrm>
            <a:off x="6831903" y="2431120"/>
            <a:ext cx="4628078" cy="15520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2000" dirty="0"/>
              <a:t>회의 일정 조율을 위한 비즈니스 이메일을 정중한 말투로 작성해줘</a:t>
            </a:r>
            <a:r>
              <a:rPr lang="en-US" altLang="ko-KR" sz="2000" dirty="0"/>
              <a:t>. </a:t>
            </a:r>
            <a:r>
              <a:rPr lang="ko-KR" altLang="en-US" sz="2000" dirty="0"/>
              <a:t>수신자는 </a:t>
            </a:r>
            <a:r>
              <a:rPr lang="ko-KR" altLang="en-US" sz="2000" dirty="0" err="1"/>
              <a:t>박대리님이고</a:t>
            </a:r>
            <a:r>
              <a:rPr lang="en-US" altLang="ko-KR" sz="2000" dirty="0"/>
              <a:t>, </a:t>
            </a:r>
            <a:r>
              <a:rPr lang="ko-KR" altLang="en-US" sz="2000" dirty="0"/>
              <a:t>가능한 날짜를 </a:t>
            </a:r>
            <a:r>
              <a:rPr lang="ko-KR" altLang="en-US" sz="2000" dirty="0" err="1"/>
              <a:t>물어봐줘</a:t>
            </a:r>
            <a:r>
              <a:rPr lang="en-US" altLang="ko-KR" sz="2000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20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96E4FB7-AC1E-F9C4-61DC-1C818B5166D1}"/>
              </a:ext>
            </a:extLst>
          </p:cNvPr>
          <p:cNvSpPr/>
          <p:nvPr/>
        </p:nvSpPr>
        <p:spPr>
          <a:xfrm>
            <a:off x="5154593" y="2879724"/>
            <a:ext cx="1045507" cy="654830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04A6DAB-BDE6-B3BE-922C-D696557C4E10}"/>
              </a:ext>
            </a:extLst>
          </p:cNvPr>
          <p:cNvSpPr txBox="1">
            <a:spLocks/>
          </p:cNvSpPr>
          <p:nvPr/>
        </p:nvSpPr>
        <p:spPr>
          <a:xfrm>
            <a:off x="760740" y="4868858"/>
            <a:ext cx="3762052" cy="173528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2000"/>
              <a:t>보고서 써줘</a:t>
            </a:r>
            <a:r>
              <a:rPr lang="en-US" altLang="ko-KR" sz="2000"/>
              <a:t>. </a:t>
            </a:r>
            <a:endParaRPr lang="en-US" sz="2000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465230AB-83F8-28EC-E9D3-278863CC1C09}"/>
              </a:ext>
            </a:extLst>
          </p:cNvPr>
          <p:cNvSpPr txBox="1">
            <a:spLocks/>
          </p:cNvSpPr>
          <p:nvPr/>
        </p:nvSpPr>
        <p:spPr>
          <a:xfrm>
            <a:off x="6846264" y="4816098"/>
            <a:ext cx="4613717" cy="17880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fontScale="850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ko-KR" sz="2000" dirty="0"/>
              <a:t>2025 </a:t>
            </a:r>
            <a:r>
              <a:rPr lang="ko-KR" altLang="en-US" sz="2000" dirty="0"/>
              <a:t>상반기 마케팅 성과를 정리한 보고서를 작성해줘</a:t>
            </a:r>
            <a:r>
              <a:rPr lang="en-US" altLang="ko-KR" sz="2000" dirty="0"/>
              <a:t>.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2000" dirty="0"/>
              <a:t>내용에는 </a:t>
            </a:r>
            <a:r>
              <a:rPr lang="ko-KR" altLang="en-US" sz="2000" dirty="0" err="1"/>
              <a:t>클릭률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전환율</a:t>
            </a:r>
            <a:r>
              <a:rPr lang="en-US" altLang="ko-KR" sz="2000" dirty="0"/>
              <a:t>, </a:t>
            </a:r>
            <a:r>
              <a:rPr lang="ko-KR" altLang="en-US" sz="2000" dirty="0"/>
              <a:t>광고비 효율 분석을 포함해줘</a:t>
            </a:r>
            <a:r>
              <a:rPr lang="en-US" altLang="ko-KR" sz="2000" dirty="0"/>
              <a:t>.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2000" dirty="0"/>
              <a:t>객관적인 어조로</a:t>
            </a:r>
            <a:r>
              <a:rPr lang="en-US" altLang="ko-KR" sz="2000" dirty="0"/>
              <a:t>, A4 1</a:t>
            </a:r>
            <a:r>
              <a:rPr lang="ko-KR" altLang="en-US" sz="2000" dirty="0"/>
              <a:t>장 분량으로 작성해줘</a:t>
            </a:r>
            <a:r>
              <a:rPr lang="en-US" altLang="ko-KR" sz="2000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20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25D27AB-2ECB-D9EE-C50F-ED68E9312A22}"/>
              </a:ext>
            </a:extLst>
          </p:cNvPr>
          <p:cNvSpPr/>
          <p:nvPr/>
        </p:nvSpPr>
        <p:spPr>
          <a:xfrm>
            <a:off x="5154593" y="5374761"/>
            <a:ext cx="1045507" cy="654830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876090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5237D-3994-3153-2FE6-4263A3DB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4D49-710C-1C57-708C-29DF0273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최적화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0263C-9E9E-47B1-E5FB-E393EE7F4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아래 초기 프롬프트를 더 효과적으로 </a:t>
            </a:r>
            <a:r>
              <a:rPr lang="ko-KR" altLang="en-US" dirty="0" err="1"/>
              <a:t>리팩토링</a:t>
            </a:r>
            <a:r>
              <a:rPr lang="ko-KR" altLang="en-US" dirty="0"/>
              <a:t> 해보세요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r>
              <a:rPr lang="ko-KR" altLang="en-US" dirty="0"/>
              <a:t>초기 프롬프트</a:t>
            </a:r>
            <a:r>
              <a:rPr lang="en-US" altLang="ko-KR" dirty="0"/>
              <a:t>:</a:t>
            </a:r>
            <a:endParaRPr lang="ko-KR" altLang="en-US" dirty="0"/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초보자도 이해할 수 있게 </a:t>
            </a:r>
            <a:r>
              <a:rPr lang="en-US" altLang="ko-KR" dirty="0"/>
              <a:t>AI </a:t>
            </a:r>
            <a:r>
              <a:rPr lang="ko-KR" altLang="en-US" dirty="0"/>
              <a:t>설명해줘</a:t>
            </a:r>
            <a:r>
              <a:rPr lang="en-US" altLang="ko-KR" dirty="0"/>
              <a:t>.“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최적화 조건</a:t>
            </a:r>
            <a:r>
              <a:rPr lang="en-US" altLang="ko-KR" dirty="0"/>
              <a:t>:</a:t>
            </a:r>
            <a:endParaRPr lang="ko-KR" altLang="en-US" dirty="0"/>
          </a:p>
          <a:p>
            <a:pPr lvl="1"/>
            <a:r>
              <a:rPr lang="ko-KR" altLang="en-US" dirty="0"/>
              <a:t>대상</a:t>
            </a:r>
            <a:r>
              <a:rPr lang="en-US" altLang="ko-KR" dirty="0"/>
              <a:t>: </a:t>
            </a:r>
            <a:r>
              <a:rPr lang="ko-KR" altLang="en-US" dirty="0" err="1"/>
              <a:t>비전공</a:t>
            </a:r>
            <a:r>
              <a:rPr lang="ko-KR" altLang="en-US" dirty="0"/>
              <a:t> 일반인</a:t>
            </a:r>
          </a:p>
          <a:p>
            <a:pPr lvl="1"/>
            <a:r>
              <a:rPr lang="ko-KR" altLang="en-US" dirty="0"/>
              <a:t>형식</a:t>
            </a:r>
            <a:r>
              <a:rPr lang="en-US" altLang="ko-KR" dirty="0"/>
              <a:t>: 3</a:t>
            </a:r>
            <a:r>
              <a:rPr lang="ko-KR" altLang="en-US" dirty="0"/>
              <a:t>문단 에세이</a:t>
            </a:r>
          </a:p>
          <a:p>
            <a:pPr lvl="1"/>
            <a:r>
              <a:rPr lang="ko-KR" altLang="en-US" dirty="0"/>
              <a:t>어조</a:t>
            </a:r>
            <a:r>
              <a:rPr lang="en-US" altLang="ko-KR" dirty="0"/>
              <a:t>: </a:t>
            </a:r>
            <a:r>
              <a:rPr lang="ko-KR" altLang="en-US" dirty="0"/>
              <a:t>친절하고 비유 포함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535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08D424-ADC3-4FEA-9D0C-EDDB81DD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20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프롬프트의 구성요소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7F775F-6E87-8716-2AB8-80899E49D4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266825"/>
          <a:ext cx="10515599" cy="5303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89993">
                  <a:extLst>
                    <a:ext uri="{9D8B030D-6E8A-4147-A177-3AD203B41FA5}">
                      <a16:colId xmlns:a16="http://schemas.microsoft.com/office/drawing/2014/main" val="3648167485"/>
                    </a:ext>
                  </a:extLst>
                </a:gridCol>
                <a:gridCol w="4243605">
                  <a:extLst>
                    <a:ext uri="{9D8B030D-6E8A-4147-A177-3AD203B41FA5}">
                      <a16:colId xmlns:a16="http://schemas.microsoft.com/office/drawing/2014/main" val="1251387299"/>
                    </a:ext>
                  </a:extLst>
                </a:gridCol>
                <a:gridCol w="3782001">
                  <a:extLst>
                    <a:ext uri="{9D8B030D-6E8A-4147-A177-3AD203B41FA5}">
                      <a16:colId xmlns:a16="http://schemas.microsoft.com/office/drawing/2014/main" val="2053793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구성 요소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예시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8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지시문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Instruction)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모델에게 수행할 작업을 명확히 지시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공문 형식으로 문서를 작성해줘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384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입력 데이터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Input)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모델이 참고할 구체적인 정보나 자료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날짜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장소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기관명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행사명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연락처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074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출력 형식 지정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(Format)</a:t>
                      </a:r>
                      <a:endParaRPr lang="ko-KR" altLang="en-US" sz="20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원하는 출력의 형태나 스타일을 지정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문장 말미는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'~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바랍니다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'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로 끝맺고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공문서 형식을 지켜줘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13562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맥락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Context)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모델이 상황을 이해할 수 있도록 배경정보 제공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이 문서는 시청에 보낼 문화행사 협조 요청입니다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."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02435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역할 부여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Role prompting)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모델에게 특정 인물이나 역할을 부여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너는 행정 공문을 잘 쓰는 공무원이다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제약조건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Constraints)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반드시 포함하거나 피해야 할 조건 명시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"500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자 이내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", "</a:t>
                      </a:r>
                      <a:r>
                        <a:rPr lang="ko-KR" altLang="en-US" sz="20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이모지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없이 작성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", "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존댓말로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269220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예시 제공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Few-shot examples)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원하는 스타일을 학습시키기 위해 예시 포함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옵션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  <a:endParaRPr lang="ko-KR" altLang="en-US" sz="20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“예시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제목은 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'○○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의 건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' </a:t>
                      </a:r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형식으로 작성”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13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57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8877-2A5A-9205-ABB3-40C028D2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55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프롬프트 엔지니어링 기법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DCB06B-475C-C29A-4B3C-64665CA680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40380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69C4-8917-8FB5-3F4F-578880ED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역할 기반 </a:t>
            </a:r>
            <a:r>
              <a:rPr lang="ko-KR" altLang="en-US" dirty="0" err="1"/>
              <a:t>프롬프팅</a:t>
            </a:r>
            <a:br>
              <a:rPr lang="en-US" altLang="ko-KR" dirty="0"/>
            </a:br>
            <a:r>
              <a:rPr lang="en-US" sz="3200" dirty="0"/>
              <a:t>Role Prompting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B1383-9B12-E6CD-F942-BC715921D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에게 특정 역할을 부여하여 응답의 톤</a:t>
            </a:r>
            <a:r>
              <a:rPr lang="en-US" altLang="ko-KR" dirty="0"/>
              <a:t>, </a:t>
            </a:r>
            <a:r>
              <a:rPr lang="ko-KR" altLang="en-US" dirty="0"/>
              <a:t>내용</a:t>
            </a:r>
            <a:r>
              <a:rPr lang="en-US" altLang="ko-KR" dirty="0"/>
              <a:t>, </a:t>
            </a:r>
            <a:r>
              <a:rPr lang="ko-KR" altLang="en-US" dirty="0"/>
              <a:t>전문성을 설정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ko-KR" altLang="en-US" dirty="0"/>
              <a:t>“너는 </a:t>
            </a:r>
            <a:r>
              <a:rPr lang="en-US" altLang="ko-KR" dirty="0"/>
              <a:t>UX </a:t>
            </a:r>
            <a:r>
              <a:rPr lang="ko-KR" altLang="en-US" dirty="0"/>
              <a:t>전문가야</a:t>
            </a:r>
            <a:r>
              <a:rPr lang="en-US" altLang="ko-KR" dirty="0"/>
              <a:t>. </a:t>
            </a:r>
            <a:r>
              <a:rPr lang="ko-KR" altLang="en-US" dirty="0"/>
              <a:t>아래 화면 디자인을 평가해줘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항목</a:t>
            </a:r>
            <a:r>
              <a:rPr lang="en-US" altLang="ko-KR" dirty="0"/>
              <a:t>: </a:t>
            </a:r>
            <a:r>
              <a:rPr lang="ko-KR" altLang="en-US" dirty="0"/>
              <a:t>명확성 </a:t>
            </a:r>
            <a:r>
              <a:rPr lang="en-US" altLang="ko-KR" dirty="0"/>
              <a:t>/ </a:t>
            </a:r>
            <a:r>
              <a:rPr lang="ko-KR" altLang="en-US" dirty="0"/>
              <a:t>일관성 </a:t>
            </a:r>
            <a:r>
              <a:rPr lang="en-US" altLang="ko-KR" dirty="0"/>
              <a:t>/ </a:t>
            </a:r>
            <a:r>
              <a:rPr lang="ko-KR" altLang="en-US" dirty="0" err="1"/>
              <a:t>직관성</a:t>
            </a:r>
            <a:r>
              <a:rPr lang="ko-KR" altLang="en-US" dirty="0"/>
              <a:t>”</a:t>
            </a:r>
            <a:endParaRPr lang="en-US" altLang="ko-KR" dirty="0"/>
          </a:p>
          <a:p>
            <a:pPr lvl="1"/>
            <a:r>
              <a:rPr lang="ko-KR" altLang="en-US" dirty="0"/>
              <a:t>“너는 초등학교 선생님이야</a:t>
            </a:r>
            <a:r>
              <a:rPr lang="en-US" altLang="ko-KR" dirty="0"/>
              <a:t>. </a:t>
            </a:r>
            <a:r>
              <a:rPr lang="ko-KR" altLang="en-US" dirty="0"/>
              <a:t>이 글을 </a:t>
            </a:r>
            <a:r>
              <a:rPr lang="en-US" altLang="ko-KR" dirty="0"/>
              <a:t>5</a:t>
            </a:r>
            <a:r>
              <a:rPr lang="ko-KR" altLang="en-US" dirty="0"/>
              <a:t>학년 학생에게 설명해줘</a:t>
            </a:r>
            <a:r>
              <a:rPr lang="en-US" altLang="ko-KR" dirty="0"/>
              <a:t>.”</a:t>
            </a:r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너는 고객센터 상담원이야</a:t>
            </a:r>
            <a:r>
              <a:rPr lang="en-US" altLang="ko-KR" dirty="0"/>
              <a:t>. </a:t>
            </a:r>
            <a:r>
              <a:rPr lang="ko-KR" altLang="en-US" dirty="0"/>
              <a:t>환불 요청 메일에 정중하게 응답해줘</a:t>
            </a:r>
            <a:r>
              <a:rPr lang="en-US" altLang="ko-KR" dirty="0"/>
              <a:t>.”</a:t>
            </a:r>
            <a:endParaRPr lang="en-US" dirty="0"/>
          </a:p>
          <a:p>
            <a:pPr lvl="1"/>
            <a:endParaRPr lang="ko-KR" alt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020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1813-185F-9F37-4BCF-239177E3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사고의</a:t>
            </a:r>
            <a:r>
              <a:rPr lang="en-US" dirty="0"/>
              <a:t> </a:t>
            </a:r>
            <a:r>
              <a:rPr lang="en-US" dirty="0" err="1"/>
              <a:t>연쇄</a:t>
            </a:r>
            <a:r>
              <a:rPr lang="en-US" dirty="0"/>
              <a:t> </a:t>
            </a:r>
            <a:r>
              <a:rPr lang="en-US" dirty="0" err="1"/>
              <a:t>또는</a:t>
            </a:r>
            <a:r>
              <a:rPr lang="en-US" dirty="0"/>
              <a:t> </a:t>
            </a:r>
            <a:r>
              <a:rPr lang="en-US" dirty="0" err="1"/>
              <a:t>단계적</a:t>
            </a:r>
            <a:r>
              <a:rPr lang="en-US" dirty="0"/>
              <a:t> </a:t>
            </a:r>
            <a:r>
              <a:rPr lang="en-US" dirty="0" err="1"/>
              <a:t>추론</a:t>
            </a:r>
            <a:br>
              <a:rPr lang="en-US" altLang="ko-KR" dirty="0"/>
            </a:br>
            <a:r>
              <a:rPr lang="en-US" sz="3200" dirty="0"/>
              <a:t>Chain of Thought (</a:t>
            </a:r>
            <a:r>
              <a:rPr lang="en-US" sz="3200" dirty="0" err="1"/>
              <a:t>CoT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4B89-678D-9295-F77F-CE6A26784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AI가</a:t>
            </a:r>
            <a:r>
              <a:rPr lang="en-US" dirty="0"/>
              <a:t> </a:t>
            </a:r>
            <a:r>
              <a:rPr lang="en-US" dirty="0" err="1"/>
              <a:t>질문에</a:t>
            </a:r>
            <a:r>
              <a:rPr lang="en-US" dirty="0"/>
              <a:t> </a:t>
            </a:r>
            <a:r>
              <a:rPr lang="en-US" dirty="0" err="1"/>
              <a:t>바로</a:t>
            </a:r>
            <a:r>
              <a:rPr lang="en-US" dirty="0"/>
              <a:t> </a:t>
            </a:r>
            <a:r>
              <a:rPr lang="en-US" dirty="0" err="1"/>
              <a:t>답하는</a:t>
            </a:r>
            <a:r>
              <a:rPr lang="en-US" dirty="0"/>
              <a:t> </a:t>
            </a:r>
            <a:r>
              <a:rPr lang="en-US" dirty="0" err="1"/>
              <a:t>대신</a:t>
            </a:r>
            <a:r>
              <a:rPr lang="en-US" dirty="0"/>
              <a:t>, </a:t>
            </a:r>
            <a:r>
              <a:rPr lang="en-US" dirty="0" err="1"/>
              <a:t>복잡한</a:t>
            </a:r>
            <a:r>
              <a:rPr lang="en-US" dirty="0"/>
              <a:t> </a:t>
            </a:r>
            <a:r>
              <a:rPr lang="en-US" dirty="0" err="1"/>
              <a:t>문제를</a:t>
            </a:r>
            <a:r>
              <a:rPr lang="en-US" dirty="0"/>
              <a:t> </a:t>
            </a:r>
            <a:r>
              <a:rPr lang="en-US" dirty="0" err="1"/>
              <a:t>여러</a:t>
            </a:r>
            <a:r>
              <a:rPr lang="en-US" dirty="0"/>
              <a:t> </a:t>
            </a:r>
            <a:r>
              <a:rPr lang="en-US" dirty="0" err="1"/>
              <a:t>단계로</a:t>
            </a:r>
            <a:r>
              <a:rPr lang="en-US" dirty="0"/>
              <a:t> </a:t>
            </a:r>
            <a:r>
              <a:rPr lang="en-US" dirty="0" err="1"/>
              <a:t>나누어</a:t>
            </a:r>
            <a:r>
              <a:rPr lang="en-US" dirty="0"/>
              <a:t> </a:t>
            </a:r>
            <a:r>
              <a:rPr lang="en-US" dirty="0" err="1"/>
              <a:t>해결하는</a:t>
            </a:r>
            <a:r>
              <a:rPr lang="en-US" dirty="0"/>
              <a:t> </a:t>
            </a:r>
            <a:r>
              <a:rPr lang="en-US" dirty="0" err="1"/>
              <a:t>추론</a:t>
            </a:r>
            <a:r>
              <a:rPr lang="en-US" dirty="0"/>
              <a:t> </a:t>
            </a:r>
            <a:r>
              <a:rPr lang="en-US" dirty="0" err="1"/>
              <a:t>방식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ko-KR" altLang="en-US" dirty="0"/>
              <a:t>프롬프트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“아래 수학 문제를 단계별로 풀이하고</a:t>
            </a:r>
            <a:r>
              <a:rPr lang="en-US" altLang="ko-KR" dirty="0"/>
              <a:t>, </a:t>
            </a:r>
            <a:r>
              <a:rPr lang="ko-KR" altLang="en-US" dirty="0"/>
              <a:t>마지막에 답을 알려줘</a:t>
            </a:r>
            <a:r>
              <a:rPr lang="en-US" altLang="ko-KR" dirty="0"/>
              <a:t>.  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  <a:r>
              <a:rPr lang="ko-KR" altLang="en-US" dirty="0"/>
              <a:t>철수는 사과 </a:t>
            </a:r>
            <a:r>
              <a:rPr lang="en-US" altLang="ko-KR" dirty="0"/>
              <a:t>3</a:t>
            </a:r>
            <a:r>
              <a:rPr lang="ko-KR" altLang="en-US" dirty="0"/>
              <a:t>개를 사고</a:t>
            </a:r>
            <a:r>
              <a:rPr lang="en-US" altLang="ko-KR" dirty="0"/>
              <a:t>, </a:t>
            </a:r>
            <a:r>
              <a:rPr lang="ko-KR" altLang="en-US" dirty="0"/>
              <a:t>영희는 사과의 </a:t>
            </a:r>
            <a:r>
              <a:rPr lang="en-US" altLang="ko-KR" dirty="0"/>
              <a:t>2</a:t>
            </a:r>
            <a:r>
              <a:rPr lang="ko-KR" altLang="en-US" dirty="0"/>
              <a:t>배를 샀다</a:t>
            </a:r>
            <a:r>
              <a:rPr lang="en-US" altLang="ko-KR" dirty="0"/>
              <a:t>. </a:t>
            </a:r>
            <a:r>
              <a:rPr lang="ko-KR" altLang="en-US" dirty="0"/>
              <a:t>총 몇 개</a:t>
            </a:r>
            <a:r>
              <a:rPr lang="en-US" altLang="ko-KR" dirty="0"/>
              <a:t>?”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ko-KR" altLang="en-US" dirty="0"/>
              <a:t>예상 출력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/>
              <a:t>철수는 </a:t>
            </a:r>
            <a:r>
              <a:rPr lang="en-US" altLang="ko-KR" dirty="0"/>
              <a:t>3</a:t>
            </a:r>
            <a:r>
              <a:rPr lang="ko-KR" altLang="en-US" dirty="0"/>
              <a:t>개 샀다</a:t>
            </a:r>
            <a:r>
              <a:rPr lang="en-US" altLang="ko-KR" dirty="0"/>
              <a:t>. 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영희는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2</a:t>
            </a:r>
            <a:r>
              <a:rPr lang="ko-KR" altLang="en-US" dirty="0"/>
              <a:t>배인 </a:t>
            </a:r>
            <a:r>
              <a:rPr lang="en-US" altLang="ko-KR" dirty="0"/>
              <a:t>6</a:t>
            </a:r>
            <a:r>
              <a:rPr lang="ko-KR" altLang="en-US" dirty="0"/>
              <a:t>개를 샀다</a:t>
            </a:r>
            <a:r>
              <a:rPr lang="en-US" altLang="ko-KR" dirty="0"/>
              <a:t>. 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합쳐서 </a:t>
            </a:r>
            <a:r>
              <a:rPr lang="en-US" altLang="ko-KR" dirty="0"/>
              <a:t>3 + 6 = 9</a:t>
            </a:r>
            <a:r>
              <a:rPr lang="ko-KR" altLang="en-US" dirty="0"/>
              <a:t>개</a:t>
            </a:r>
            <a:r>
              <a:rPr lang="en-US" altLang="ko-KR" dirty="0"/>
              <a:t>.  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답</a:t>
            </a:r>
            <a:r>
              <a:rPr lang="en-US" altLang="ko-KR" dirty="0"/>
              <a:t>: 9</a:t>
            </a:r>
            <a:r>
              <a:rPr lang="ko-KR" altLang="en-US" dirty="0"/>
              <a:t>개</a:t>
            </a:r>
          </a:p>
          <a:p>
            <a:pPr lvl="1"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0370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F93F-BA2B-D300-3B08-B1B082BF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퓨샷</a:t>
            </a:r>
            <a:r>
              <a:rPr lang="ko-KR" altLang="en-US" dirty="0"/>
              <a:t> </a:t>
            </a:r>
            <a:r>
              <a:rPr lang="ko-KR" altLang="en-US" dirty="0" err="1"/>
              <a:t>프롬프팅</a:t>
            </a:r>
            <a:br>
              <a:rPr lang="en-US" altLang="ko-KR" dirty="0"/>
            </a:br>
            <a:r>
              <a:rPr lang="en-US" sz="3200" dirty="0"/>
              <a:t>Few-shot Prompting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A80E7-F9D0-4233-1C14-C95B4D91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예시를 먼저 보여주고</a:t>
            </a:r>
            <a:r>
              <a:rPr lang="en-US" altLang="ko-KR" dirty="0"/>
              <a:t>, </a:t>
            </a:r>
            <a:r>
              <a:rPr lang="ko-KR" altLang="en-US" dirty="0"/>
              <a:t>같은 형식으로 생성하도록 유도</a:t>
            </a: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가 패턴을 학습하여 유사한 형식으로 답변 생성</a:t>
            </a:r>
            <a:endParaRPr lang="en-US" altLang="ko-KR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50482-10BF-902B-D252-A195EA156EF6}"/>
              </a:ext>
            </a:extLst>
          </p:cNvPr>
          <p:cNvSpPr txBox="1"/>
          <p:nvPr/>
        </p:nvSpPr>
        <p:spPr>
          <a:xfrm>
            <a:off x="1186543" y="3348698"/>
            <a:ext cx="9805712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dirty="0"/>
              <a:t>예시 </a:t>
            </a:r>
            <a:r>
              <a:rPr lang="en-US" altLang="ko-KR" dirty="0"/>
              <a:t>1:  </a:t>
            </a:r>
          </a:p>
          <a:p>
            <a:pPr marL="0" indent="0">
              <a:buNone/>
            </a:pPr>
            <a:r>
              <a:rPr lang="ko-KR" altLang="en-US" dirty="0"/>
              <a:t>입력</a:t>
            </a:r>
            <a:r>
              <a:rPr lang="en-US" altLang="ko-KR" dirty="0"/>
              <a:t>: “</a:t>
            </a:r>
            <a:r>
              <a:rPr lang="ko-KR" altLang="en-US" dirty="0"/>
              <a:t>행복이란 무엇인가요</a:t>
            </a:r>
            <a:r>
              <a:rPr lang="en-US" altLang="ko-KR" dirty="0"/>
              <a:t>?”  </a:t>
            </a:r>
          </a:p>
          <a:p>
            <a:pPr marL="0" indent="0">
              <a:buNone/>
            </a:pPr>
            <a:r>
              <a:rPr lang="ko-KR" altLang="en-US" dirty="0"/>
              <a:t>출력</a:t>
            </a:r>
            <a:r>
              <a:rPr lang="en-US" altLang="ko-KR" dirty="0"/>
              <a:t>: “</a:t>
            </a:r>
            <a:r>
              <a:rPr lang="ko-KR" altLang="en-US" dirty="0"/>
              <a:t>행복은 자신의 삶에 만족하고 즐거움을 느끼는 상태입니다</a:t>
            </a:r>
            <a:r>
              <a:rPr lang="en-US" altLang="ko-KR" dirty="0"/>
              <a:t>.”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예시 </a:t>
            </a:r>
            <a:r>
              <a:rPr lang="en-US" altLang="ko-KR" dirty="0"/>
              <a:t>2:  </a:t>
            </a:r>
          </a:p>
          <a:p>
            <a:pPr marL="0" indent="0">
              <a:buNone/>
            </a:pPr>
            <a:r>
              <a:rPr lang="ko-KR" altLang="en-US" dirty="0"/>
              <a:t>입력</a:t>
            </a:r>
            <a:r>
              <a:rPr lang="en-US" altLang="ko-KR" dirty="0"/>
              <a:t>: “</a:t>
            </a:r>
            <a:r>
              <a:rPr lang="ko-KR" altLang="en-US" dirty="0"/>
              <a:t>사랑이란 무엇인가요</a:t>
            </a:r>
            <a:r>
              <a:rPr lang="en-US" altLang="ko-KR" dirty="0"/>
              <a:t>?”  </a:t>
            </a:r>
          </a:p>
          <a:p>
            <a:pPr marL="0" indent="0">
              <a:buNone/>
            </a:pPr>
            <a:r>
              <a:rPr lang="ko-KR" altLang="en-US" dirty="0"/>
              <a:t>출력</a:t>
            </a:r>
            <a:r>
              <a:rPr lang="en-US" altLang="ko-KR" dirty="0"/>
              <a:t>: “</a:t>
            </a:r>
            <a:r>
              <a:rPr lang="ko-KR" altLang="en-US" dirty="0"/>
              <a:t>사랑은 누군가를 소중히 여기고</a:t>
            </a:r>
            <a:r>
              <a:rPr lang="en-US" altLang="ko-KR" dirty="0"/>
              <a:t>, </a:t>
            </a:r>
            <a:r>
              <a:rPr lang="ko-KR" altLang="en-US" dirty="0"/>
              <a:t>그 사람을 배려하는 감정입니다</a:t>
            </a:r>
            <a:r>
              <a:rPr lang="en-US" altLang="ko-KR" dirty="0"/>
              <a:t>.”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입력</a:t>
            </a:r>
            <a:r>
              <a:rPr lang="en-US" altLang="ko-KR" dirty="0"/>
              <a:t>: “</a:t>
            </a:r>
            <a:r>
              <a:rPr lang="ko-KR" altLang="en-US" dirty="0" err="1"/>
              <a:t>자유란</a:t>
            </a:r>
            <a:r>
              <a:rPr lang="ko-KR" altLang="en-US" dirty="0"/>
              <a:t> 무엇인가요</a:t>
            </a:r>
            <a:r>
              <a:rPr lang="en-US" altLang="ko-KR" dirty="0"/>
              <a:t>?”  </a:t>
            </a:r>
          </a:p>
          <a:p>
            <a:pPr marL="0" indent="0">
              <a:buNone/>
            </a:pPr>
            <a:r>
              <a:rPr lang="ko-KR" altLang="en-US" dirty="0"/>
              <a:t>출력</a:t>
            </a:r>
            <a:r>
              <a:rPr lang="en-US" altLang="ko-KR" dirty="0"/>
              <a:t>: ?</a:t>
            </a:r>
          </a:p>
        </p:txBody>
      </p:sp>
    </p:spTree>
    <p:extLst>
      <p:ext uri="{BB962C8B-B14F-4D97-AF65-F5344CB8AC3E}">
        <p14:creationId xmlns:p14="http://schemas.microsoft.com/office/powerpoint/2010/main" val="2455212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D229-6A68-B894-3A83-FB88830E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Zero-shot, One-shot, Few-shot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8AEB05-259D-D5B4-98E5-4EDD7619C3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20789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6001-3075-89C9-C15B-F525A55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문맥 기반 프롬프트 작성</a:t>
            </a:r>
            <a:br>
              <a:rPr lang="en-US" altLang="ko-KR" dirty="0"/>
            </a:br>
            <a:r>
              <a:rPr lang="en-US" sz="3200" dirty="0"/>
              <a:t>Contextual Prompting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EF77-5E78-E121-E887-E02769942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프롬프트에 상황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  <a:r>
              <a:rPr lang="en-US" altLang="ko-KR" dirty="0"/>
              <a:t>, </a:t>
            </a:r>
            <a:r>
              <a:rPr lang="ko-KR" altLang="en-US" dirty="0"/>
              <a:t>대상자 등을 설정하여 </a:t>
            </a:r>
            <a:r>
              <a:rPr lang="en-US" altLang="ko-KR" dirty="0"/>
              <a:t>AI</a:t>
            </a:r>
            <a:r>
              <a:rPr lang="ko-KR" altLang="en-US" dirty="0"/>
              <a:t>의 응답 품질을 높임</a:t>
            </a:r>
            <a:endParaRPr lang="en-US" altLang="ko-KR" dirty="0"/>
          </a:p>
          <a:p>
            <a:r>
              <a:rPr lang="ko-KR" altLang="en-US" dirty="0"/>
              <a:t>앞 문맥과 연결된 정보 유지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en-US" altLang="ko-KR" dirty="0"/>
              <a:t>"30</a:t>
            </a:r>
            <a:r>
              <a:rPr lang="ko-KR" altLang="en-US" dirty="0"/>
              <a:t>대 여성 고객을 타겟으로 한 스킨케어 제품의 온라인 마케팅용 설명문을 작성해 줘</a:t>
            </a:r>
            <a:r>
              <a:rPr lang="en-US" altLang="ko-KR" dirty="0"/>
              <a:t>. </a:t>
            </a:r>
            <a:r>
              <a:rPr lang="ko-KR" altLang="en-US" dirty="0"/>
              <a:t>자연스럽고 </a:t>
            </a:r>
            <a:r>
              <a:rPr lang="ko-KR" altLang="en-US" dirty="0" err="1"/>
              <a:t>트렌디한</a:t>
            </a:r>
            <a:r>
              <a:rPr lang="ko-KR" altLang="en-US" dirty="0"/>
              <a:t> 톤으로 부탁해</a:t>
            </a:r>
            <a:r>
              <a:rPr lang="en-US" altLang="ko-KR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848653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25EB-0147-B9CB-8280-3A9347C6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 구성요소 실습</a:t>
            </a:r>
            <a:endParaRPr lang="en-US" altLang="ko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3405B-D1F0-CCE9-86FF-E5F4AD13C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다음 구성요소 </a:t>
            </a:r>
            <a:r>
              <a:rPr lang="en-US" altLang="ko-KR" dirty="0"/>
              <a:t>(</a:t>
            </a:r>
            <a:r>
              <a:rPr lang="ko-KR" altLang="en-US" dirty="0" err="1"/>
              <a:t>지시문</a:t>
            </a:r>
            <a:r>
              <a:rPr lang="en-US" altLang="ko-KR" dirty="0"/>
              <a:t>, </a:t>
            </a:r>
            <a:r>
              <a:rPr lang="ko-KR" altLang="en-US" dirty="0"/>
              <a:t>맥락</a:t>
            </a:r>
            <a:r>
              <a:rPr lang="en-US" altLang="ko-KR" dirty="0"/>
              <a:t>, </a:t>
            </a:r>
            <a:r>
              <a:rPr lang="ko-KR" altLang="en-US" dirty="0"/>
              <a:t>제약조건 등</a:t>
            </a:r>
            <a:r>
              <a:rPr lang="en-US" altLang="ko-KR" dirty="0"/>
              <a:t>)</a:t>
            </a:r>
            <a:r>
              <a:rPr lang="ko-KR" altLang="en-US" dirty="0"/>
              <a:t>를 포함해서 프롬프트를 작성해 보세요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45BCA-7BA8-A100-1793-82CDEEF289CD}"/>
              </a:ext>
            </a:extLst>
          </p:cNvPr>
          <p:cNvSpPr txBox="1"/>
          <p:nvPr/>
        </p:nvSpPr>
        <p:spPr>
          <a:xfrm>
            <a:off x="1165298" y="2895580"/>
            <a:ext cx="9959902" cy="3046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다음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정보를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바탕으로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격식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있는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공문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형식의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글을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작성해줘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 </a:t>
            </a:r>
          </a:p>
          <a:p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수신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서울시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문화예술과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제목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시민문화축제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행사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협조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요청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일시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2026년 9월 20일  </a:t>
            </a:r>
          </a:p>
          <a:p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장소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시민청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지하공연장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요청사항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장소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대관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및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홍보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협조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발신자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한국문화진흥원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홍보팀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이지은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형식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공공기관에서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쓰는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공문</a:t>
            </a:r>
            <a:r>
              <a:rPr 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스타일</a:t>
            </a:r>
            <a:endParaRPr lang="en-US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97839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87891-B228-444A-DBFA-153808D6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D157E-0514-E378-8572-259CA847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13" y="5228926"/>
            <a:ext cx="9823316" cy="931244"/>
          </a:xfrm>
          <a:solidFill>
            <a:schemeClr val="tx1">
              <a:alpha val="52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실무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문서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작성</a:t>
            </a:r>
            <a:r>
              <a:rPr lang="en-US" dirty="0">
                <a:solidFill>
                  <a:schemeClr val="bg1"/>
                </a:solidFill>
              </a:rPr>
              <a:t> 및 </a:t>
            </a:r>
            <a:r>
              <a:rPr lang="en-US" dirty="0" err="1">
                <a:solidFill>
                  <a:schemeClr val="bg1"/>
                </a:solidFill>
              </a:rPr>
              <a:t>자동화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실습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1277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B87F-4CCD-092A-944A-AF5F1D76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80D325-9C09-A7E6-845D-3D4992D4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이력서</a:t>
            </a:r>
            <a:r>
              <a:rPr lang="en-US" dirty="0"/>
              <a:t> </a:t>
            </a:r>
            <a:r>
              <a:rPr lang="ko-KR" altLang="en-US" dirty="0"/>
              <a:t>작성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14AF2E-E5E7-3F82-8EA2-17DDA3A2E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17118" cy="4351338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 err="1"/>
              <a:t>역할</a:t>
            </a:r>
            <a:r>
              <a:rPr lang="en-US" dirty="0"/>
              <a:t> </a:t>
            </a:r>
            <a:r>
              <a:rPr lang="en-US" dirty="0" err="1"/>
              <a:t>부여</a:t>
            </a:r>
            <a:r>
              <a:rPr lang="en-US" dirty="0"/>
              <a:t>: 10년 </a:t>
            </a:r>
            <a:r>
              <a:rPr lang="en-US" dirty="0" err="1"/>
              <a:t>경력의</a:t>
            </a:r>
            <a:r>
              <a:rPr lang="en-US" dirty="0"/>
              <a:t> </a:t>
            </a:r>
            <a:r>
              <a:rPr lang="en-US" dirty="0" err="1"/>
              <a:t>채용</a:t>
            </a:r>
            <a:r>
              <a:rPr lang="en-US" dirty="0"/>
              <a:t> </a:t>
            </a:r>
            <a:r>
              <a:rPr lang="en-US" dirty="0" err="1"/>
              <a:t>컨설턴트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목적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신입</a:t>
            </a:r>
            <a:r>
              <a:rPr lang="en-US" dirty="0"/>
              <a:t> </a:t>
            </a:r>
            <a:r>
              <a:rPr lang="en-US" dirty="0" err="1"/>
              <a:t>마케팅</a:t>
            </a:r>
            <a:r>
              <a:rPr lang="en-US" dirty="0"/>
              <a:t> </a:t>
            </a:r>
            <a:r>
              <a:rPr lang="en-US" dirty="0" err="1"/>
              <a:t>직무에</a:t>
            </a:r>
            <a:r>
              <a:rPr lang="en-US" dirty="0"/>
              <a:t> </a:t>
            </a:r>
            <a:r>
              <a:rPr lang="en-US" dirty="0" err="1"/>
              <a:t>적합한</a:t>
            </a:r>
            <a:r>
              <a:rPr lang="en-US" dirty="0"/>
              <a:t> </a:t>
            </a:r>
            <a:r>
              <a:rPr lang="en-US" dirty="0" err="1"/>
              <a:t>이력서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정보</a:t>
            </a:r>
            <a:r>
              <a:rPr lang="en-US" dirty="0"/>
              <a:t> </a:t>
            </a:r>
            <a:r>
              <a:rPr lang="en-US" dirty="0" err="1"/>
              <a:t>제공</a:t>
            </a:r>
            <a:r>
              <a:rPr lang="en-US" dirty="0"/>
              <a:t>: </a:t>
            </a:r>
            <a:r>
              <a:rPr lang="en-US" dirty="0" err="1"/>
              <a:t>학력</a:t>
            </a:r>
            <a:r>
              <a:rPr lang="en-US" dirty="0"/>
              <a:t>, </a:t>
            </a:r>
            <a:r>
              <a:rPr lang="en-US" dirty="0" err="1"/>
              <a:t>경력</a:t>
            </a:r>
            <a:r>
              <a:rPr lang="en-US" dirty="0"/>
              <a:t>, </a:t>
            </a:r>
            <a:r>
              <a:rPr lang="en-US" dirty="0" err="1"/>
              <a:t>프로젝트</a:t>
            </a:r>
            <a:r>
              <a:rPr lang="en-US" dirty="0"/>
              <a:t>, </a:t>
            </a:r>
            <a:r>
              <a:rPr lang="en-US" dirty="0" err="1"/>
              <a:t>보유</a:t>
            </a:r>
            <a:r>
              <a:rPr lang="en-US" dirty="0"/>
              <a:t> </a:t>
            </a:r>
            <a:r>
              <a:rPr lang="en-US" dirty="0" err="1"/>
              <a:t>기술</a:t>
            </a:r>
            <a:r>
              <a:rPr lang="en-US" dirty="0"/>
              <a:t> 및 </a:t>
            </a:r>
            <a:r>
              <a:rPr lang="en-US" dirty="0" err="1"/>
              <a:t>성과</a:t>
            </a:r>
            <a:r>
              <a:rPr lang="en-US" dirty="0"/>
              <a:t> </a:t>
            </a:r>
            <a:r>
              <a:rPr lang="en-US" dirty="0" err="1"/>
              <a:t>입력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제약조건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허위</a:t>
            </a:r>
            <a:r>
              <a:rPr lang="en-US" dirty="0"/>
              <a:t> </a:t>
            </a:r>
            <a:r>
              <a:rPr lang="en-US" dirty="0" err="1"/>
              <a:t>경력</a:t>
            </a:r>
            <a:r>
              <a:rPr lang="en-US" dirty="0"/>
              <a:t> </a:t>
            </a:r>
            <a:r>
              <a:rPr lang="en-US" dirty="0" err="1"/>
              <a:t>금지</a:t>
            </a:r>
            <a:r>
              <a:rPr lang="en-US" dirty="0"/>
              <a:t>, </a:t>
            </a:r>
            <a:r>
              <a:rPr lang="en-US" dirty="0" err="1"/>
              <a:t>간결한</a:t>
            </a:r>
            <a:r>
              <a:rPr lang="en-US" dirty="0"/>
              <a:t> </a:t>
            </a:r>
            <a:r>
              <a:rPr lang="en-US" dirty="0" err="1"/>
              <a:t>문체</a:t>
            </a:r>
            <a:r>
              <a:rPr lang="en-US" dirty="0"/>
              <a:t>, </a:t>
            </a:r>
            <a:r>
              <a:rPr lang="en-US" dirty="0" err="1"/>
              <a:t>성과</a:t>
            </a:r>
            <a:r>
              <a:rPr lang="en-US" dirty="0"/>
              <a:t> </a:t>
            </a:r>
            <a:r>
              <a:rPr lang="en-US" dirty="0" err="1"/>
              <a:t>중심으로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출력</a:t>
            </a:r>
            <a:r>
              <a:rPr lang="en-US" dirty="0"/>
              <a:t> </a:t>
            </a:r>
            <a:r>
              <a:rPr lang="en-US" dirty="0" err="1"/>
              <a:t>형식</a:t>
            </a:r>
            <a:r>
              <a:rPr lang="en-US" dirty="0"/>
              <a:t> </a:t>
            </a:r>
            <a:r>
              <a:rPr lang="en-US" dirty="0" err="1"/>
              <a:t>지정</a:t>
            </a:r>
            <a:r>
              <a:rPr lang="en-US" dirty="0"/>
              <a:t>: </a:t>
            </a:r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역량</a:t>
            </a:r>
            <a:r>
              <a:rPr lang="en-US" dirty="0"/>
              <a:t>, </a:t>
            </a:r>
            <a:r>
              <a:rPr lang="en-US" dirty="0" err="1"/>
              <a:t>경력</a:t>
            </a:r>
            <a:r>
              <a:rPr lang="en-US" dirty="0"/>
              <a:t>, </a:t>
            </a:r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성과</a:t>
            </a:r>
            <a:r>
              <a:rPr lang="en-US" dirty="0"/>
              <a:t>, </a:t>
            </a:r>
            <a:r>
              <a:rPr lang="en-US" dirty="0" err="1"/>
              <a:t>학력</a:t>
            </a:r>
            <a:r>
              <a:rPr lang="en-US" dirty="0"/>
              <a:t> 및 </a:t>
            </a:r>
            <a:r>
              <a:rPr lang="en-US" dirty="0" err="1"/>
              <a:t>자격증</a:t>
            </a:r>
            <a:r>
              <a:rPr lang="en-US" dirty="0"/>
              <a:t> </a:t>
            </a:r>
            <a:r>
              <a:rPr lang="en-US" dirty="0" err="1"/>
              <a:t>순서로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2B30665-BDE2-85B3-96D6-F5C31E921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4076" y="1825625"/>
            <a:ext cx="4009724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 err="1"/>
              <a:t>제공하는</a:t>
            </a:r>
            <a:r>
              <a:rPr lang="en-US" dirty="0"/>
              <a:t> </a:t>
            </a:r>
            <a:r>
              <a:rPr lang="en-US" dirty="0" err="1"/>
              <a:t>이력서와</a:t>
            </a:r>
            <a:r>
              <a:rPr lang="en-US" dirty="0"/>
              <a:t> </a:t>
            </a:r>
            <a:r>
              <a:rPr lang="en-US" dirty="0" err="1"/>
              <a:t>채용공고를</a:t>
            </a:r>
            <a:r>
              <a:rPr lang="en-US" dirty="0"/>
              <a:t> </a:t>
            </a:r>
            <a:r>
              <a:rPr lang="en-US" dirty="0" err="1"/>
              <a:t>비교하여</a:t>
            </a:r>
            <a:r>
              <a:rPr lang="en-US" dirty="0"/>
              <a:t> </a:t>
            </a:r>
            <a:r>
              <a:rPr lang="en-US" dirty="0" err="1"/>
              <a:t>직무</a:t>
            </a:r>
            <a:r>
              <a:rPr lang="en-US" dirty="0"/>
              <a:t> </a:t>
            </a:r>
            <a:r>
              <a:rPr lang="en-US" dirty="0" err="1"/>
              <a:t>적합도를</a:t>
            </a:r>
            <a:r>
              <a:rPr lang="en-US" dirty="0"/>
              <a:t> </a:t>
            </a:r>
            <a:r>
              <a:rPr lang="en-US" dirty="0" err="1"/>
              <a:t>높일</a:t>
            </a:r>
            <a:r>
              <a:rPr lang="en-US" dirty="0"/>
              <a:t> 수 </a:t>
            </a:r>
            <a:r>
              <a:rPr lang="en-US" dirty="0" err="1"/>
              <a:t>있도록</a:t>
            </a:r>
            <a:r>
              <a:rPr lang="en-US" dirty="0"/>
              <a:t> </a:t>
            </a:r>
            <a:r>
              <a:rPr lang="en-US" dirty="0" err="1"/>
              <a:t>이력서를</a:t>
            </a:r>
            <a:r>
              <a:rPr lang="en-US" dirty="0"/>
              <a:t> </a:t>
            </a:r>
            <a:r>
              <a:rPr lang="en-US" dirty="0" err="1"/>
              <a:t>개선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개선</a:t>
            </a:r>
            <a:r>
              <a:rPr lang="en-US" dirty="0"/>
              <a:t> </a:t>
            </a:r>
            <a:r>
              <a:rPr lang="en-US" dirty="0" err="1"/>
              <a:t>전·후</a:t>
            </a:r>
            <a:r>
              <a:rPr lang="en-US" dirty="0"/>
              <a:t> </a:t>
            </a:r>
            <a:r>
              <a:rPr lang="en-US" dirty="0" err="1"/>
              <a:t>문장을</a:t>
            </a:r>
            <a:r>
              <a:rPr lang="en-US" dirty="0"/>
              <a:t> </a:t>
            </a:r>
            <a:r>
              <a:rPr lang="en-US" dirty="0" err="1"/>
              <a:t>비교하고</a:t>
            </a:r>
            <a:r>
              <a:rPr lang="en-US" dirty="0"/>
              <a:t> </a:t>
            </a:r>
            <a:r>
              <a:rPr lang="en-US" dirty="0" err="1"/>
              <a:t>수정</a:t>
            </a:r>
            <a:r>
              <a:rPr lang="en-US" dirty="0"/>
              <a:t> </a:t>
            </a:r>
            <a:r>
              <a:rPr lang="en-US" dirty="0" err="1"/>
              <a:t>이유를</a:t>
            </a:r>
            <a:r>
              <a:rPr lang="en-US" dirty="0"/>
              <a:t> </a:t>
            </a:r>
            <a:r>
              <a:rPr lang="en-US" dirty="0" err="1"/>
              <a:t>설명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6101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B828-BE45-0583-5FC0-02405538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0915A1-6CB2-1511-3039-CFEB612D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자기소개서</a:t>
            </a:r>
            <a:r>
              <a:rPr lang="en-US" dirty="0"/>
              <a:t> </a:t>
            </a:r>
            <a:r>
              <a:rPr lang="ko-KR" altLang="en-US" dirty="0"/>
              <a:t>작성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C92EC3-DF2E-0B4E-5608-112DDF51E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>
              <a:lumMod val="90000"/>
            </a:schemeClr>
          </a:solidFill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역</a:t>
            </a:r>
            <a:r>
              <a:rPr lang="en-US" dirty="0"/>
              <a:t>할 </a:t>
            </a:r>
            <a:r>
              <a:rPr lang="en-US" dirty="0" err="1"/>
              <a:t>부여</a:t>
            </a:r>
            <a:r>
              <a:rPr lang="en-US" dirty="0"/>
              <a:t>: 10년 </a:t>
            </a:r>
            <a:r>
              <a:rPr lang="en-US" dirty="0" err="1"/>
              <a:t>경력의</a:t>
            </a:r>
            <a:r>
              <a:rPr lang="en-US" dirty="0"/>
              <a:t> </a:t>
            </a:r>
            <a:r>
              <a:rPr lang="en-US" dirty="0" err="1"/>
              <a:t>채용</a:t>
            </a:r>
            <a:r>
              <a:rPr lang="en-US" dirty="0"/>
              <a:t> </a:t>
            </a:r>
            <a:r>
              <a:rPr lang="en-US" dirty="0" err="1"/>
              <a:t>전문가이자</a:t>
            </a:r>
            <a:r>
              <a:rPr lang="en-US" dirty="0"/>
              <a:t> </a:t>
            </a:r>
            <a:r>
              <a:rPr lang="en-US" dirty="0" err="1"/>
              <a:t>자기소개서</a:t>
            </a:r>
            <a:r>
              <a:rPr lang="en-US" dirty="0"/>
              <a:t> </a:t>
            </a:r>
            <a:r>
              <a:rPr lang="en-US" dirty="0" err="1"/>
              <a:t>컨설턴트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ko-KR" altLang="en-US" dirty="0"/>
              <a:t>목</a:t>
            </a:r>
            <a:r>
              <a:rPr lang="en-US" dirty="0"/>
              <a:t>적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지원</a:t>
            </a:r>
            <a:r>
              <a:rPr lang="en-US" dirty="0"/>
              <a:t> </a:t>
            </a:r>
            <a:r>
              <a:rPr lang="en-US" dirty="0" err="1"/>
              <a:t>직무에</a:t>
            </a:r>
            <a:r>
              <a:rPr lang="en-US" dirty="0"/>
              <a:t> </a:t>
            </a:r>
            <a:r>
              <a:rPr lang="en-US" dirty="0" err="1"/>
              <a:t>적합한</a:t>
            </a:r>
            <a:r>
              <a:rPr lang="en-US" dirty="0"/>
              <a:t> </a:t>
            </a:r>
            <a:r>
              <a:rPr lang="en-US" dirty="0" err="1"/>
              <a:t>역량과</a:t>
            </a:r>
            <a:r>
              <a:rPr lang="en-US" dirty="0"/>
              <a:t> </a:t>
            </a:r>
            <a:r>
              <a:rPr lang="en-US" dirty="0" err="1"/>
              <a:t>경험이</a:t>
            </a:r>
            <a:r>
              <a:rPr lang="en-US" dirty="0"/>
              <a:t> </a:t>
            </a:r>
            <a:r>
              <a:rPr lang="en-US" dirty="0" err="1"/>
              <a:t>드러나는</a:t>
            </a:r>
            <a:r>
              <a:rPr lang="en-US" dirty="0"/>
              <a:t> </a:t>
            </a:r>
            <a:r>
              <a:rPr lang="en-US" dirty="0" err="1"/>
              <a:t>자기소개서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경험</a:t>
            </a:r>
            <a:r>
              <a:rPr lang="en-US" dirty="0"/>
              <a:t> </a:t>
            </a:r>
            <a:r>
              <a:rPr lang="en-US" dirty="0" err="1"/>
              <a:t>정보</a:t>
            </a:r>
            <a:r>
              <a:rPr lang="en-US" dirty="0"/>
              <a:t> </a:t>
            </a:r>
            <a:r>
              <a:rPr lang="en-US" dirty="0" err="1"/>
              <a:t>제공</a:t>
            </a:r>
            <a:r>
              <a:rPr lang="en-US" dirty="0"/>
              <a:t>: 팀 </a:t>
            </a:r>
            <a:r>
              <a:rPr lang="en-US" dirty="0" err="1"/>
              <a:t>프로젝트</a:t>
            </a:r>
            <a:r>
              <a:rPr lang="en-US" dirty="0"/>
              <a:t> </a:t>
            </a:r>
            <a:r>
              <a:rPr lang="en-US" dirty="0" err="1"/>
              <a:t>경험</a:t>
            </a:r>
            <a:r>
              <a:rPr lang="en-US" dirty="0"/>
              <a:t>, </a:t>
            </a:r>
            <a:r>
              <a:rPr lang="en-US" dirty="0" err="1"/>
              <a:t>문제</a:t>
            </a:r>
            <a:r>
              <a:rPr lang="en-US" dirty="0"/>
              <a:t> </a:t>
            </a:r>
            <a:r>
              <a:rPr lang="en-US" dirty="0" err="1"/>
              <a:t>해결</a:t>
            </a:r>
            <a:r>
              <a:rPr lang="en-US" dirty="0"/>
              <a:t> </a:t>
            </a:r>
            <a:r>
              <a:rPr lang="en-US" dirty="0" err="1"/>
              <a:t>과정</a:t>
            </a:r>
            <a:r>
              <a:rPr lang="en-US" dirty="0"/>
              <a:t>, </a:t>
            </a:r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성과</a:t>
            </a:r>
            <a:r>
              <a:rPr lang="en-US" dirty="0"/>
              <a:t>, </a:t>
            </a:r>
            <a:r>
              <a:rPr lang="en-US" dirty="0" err="1"/>
              <a:t>지원</a:t>
            </a:r>
            <a:r>
              <a:rPr lang="en-US" dirty="0"/>
              <a:t> </a:t>
            </a:r>
            <a:r>
              <a:rPr lang="en-US" dirty="0" err="1"/>
              <a:t>동기</a:t>
            </a:r>
            <a:r>
              <a:rPr lang="en-US" dirty="0"/>
              <a:t> 및 </a:t>
            </a:r>
            <a:r>
              <a:rPr lang="en-US" dirty="0" err="1"/>
              <a:t>직무</a:t>
            </a:r>
            <a:r>
              <a:rPr lang="en-US" dirty="0"/>
              <a:t> </a:t>
            </a:r>
            <a:r>
              <a:rPr lang="en-US" dirty="0" err="1"/>
              <a:t>역량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제약조건</a:t>
            </a:r>
            <a:r>
              <a:rPr lang="en-US" dirty="0"/>
              <a:t> 설정:500자 </a:t>
            </a:r>
            <a:r>
              <a:rPr lang="en-US" dirty="0" err="1"/>
              <a:t>이내로</a:t>
            </a:r>
            <a:r>
              <a:rPr lang="en-US" dirty="0"/>
              <a:t> </a:t>
            </a:r>
            <a:r>
              <a:rPr lang="en-US" dirty="0" err="1"/>
              <a:t>작성</a:t>
            </a:r>
            <a:r>
              <a:rPr lang="en-US" dirty="0"/>
              <a:t>. </a:t>
            </a:r>
            <a:r>
              <a:rPr lang="en-US" dirty="0" err="1"/>
              <a:t>허위</a:t>
            </a:r>
            <a:r>
              <a:rPr lang="en-US" dirty="0"/>
              <a:t> </a:t>
            </a:r>
            <a:r>
              <a:rPr lang="en-US" dirty="0" err="1"/>
              <a:t>경험을</a:t>
            </a:r>
            <a:r>
              <a:rPr lang="en-US" dirty="0"/>
              <a:t> </a:t>
            </a:r>
            <a:r>
              <a:rPr lang="en-US" dirty="0" err="1"/>
              <a:t>추가하지</a:t>
            </a:r>
            <a:r>
              <a:rPr lang="en-US" dirty="0"/>
              <a:t> </a:t>
            </a:r>
            <a:r>
              <a:rPr lang="en-US" dirty="0" err="1"/>
              <a:t>않으며</a:t>
            </a:r>
            <a:r>
              <a:rPr lang="en-US" dirty="0"/>
              <a:t>, </a:t>
            </a:r>
            <a:r>
              <a:rPr lang="en-US" dirty="0" err="1"/>
              <a:t>추상적인</a:t>
            </a:r>
            <a:r>
              <a:rPr lang="en-US" dirty="0"/>
              <a:t> </a:t>
            </a:r>
            <a:r>
              <a:rPr lang="en-US" dirty="0" err="1"/>
              <a:t>표현</a:t>
            </a:r>
            <a:r>
              <a:rPr lang="en-US" dirty="0"/>
              <a:t> </a:t>
            </a:r>
            <a:r>
              <a:rPr lang="en-US" dirty="0" err="1"/>
              <a:t>최소화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AB441DA-8DF7-E65C-9793-AD6F12F68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상황</a:t>
            </a:r>
            <a:r>
              <a:rPr lang="en-US" dirty="0"/>
              <a:t> → </a:t>
            </a:r>
            <a:r>
              <a:rPr lang="en-US" dirty="0" err="1"/>
              <a:t>문제</a:t>
            </a:r>
            <a:r>
              <a:rPr lang="en-US" dirty="0"/>
              <a:t> → </a:t>
            </a:r>
            <a:r>
              <a:rPr lang="en-US" dirty="0" err="1"/>
              <a:t>행동</a:t>
            </a:r>
            <a:r>
              <a:rPr lang="en-US" dirty="0"/>
              <a:t> → </a:t>
            </a:r>
            <a:r>
              <a:rPr lang="en-US" dirty="0" err="1"/>
              <a:t>결과</a:t>
            </a:r>
            <a:r>
              <a:rPr lang="en-US" dirty="0"/>
              <a:t> → </a:t>
            </a:r>
            <a:r>
              <a:rPr lang="en-US" dirty="0" err="1"/>
              <a:t>배운</a:t>
            </a:r>
            <a:r>
              <a:rPr lang="en-US" dirty="0"/>
              <a:t> 점 </a:t>
            </a:r>
            <a:r>
              <a:rPr lang="en-US" dirty="0" err="1"/>
              <a:t>순서로</a:t>
            </a:r>
            <a:r>
              <a:rPr lang="en-US" dirty="0"/>
              <a:t> </a:t>
            </a:r>
            <a:r>
              <a:rPr lang="en-US" dirty="0" err="1"/>
              <a:t>구성하고</a:t>
            </a:r>
            <a:r>
              <a:rPr lang="en-US" dirty="0"/>
              <a:t>, </a:t>
            </a:r>
            <a:r>
              <a:rPr lang="en-US" dirty="0" err="1"/>
              <a:t>마지막에는</a:t>
            </a:r>
            <a:r>
              <a:rPr lang="en-US" dirty="0"/>
              <a:t> </a:t>
            </a:r>
            <a:r>
              <a:rPr lang="en-US" dirty="0" err="1"/>
              <a:t>지원</a:t>
            </a:r>
            <a:r>
              <a:rPr lang="en-US" dirty="0"/>
              <a:t> </a:t>
            </a:r>
            <a:r>
              <a:rPr lang="en-US" dirty="0" err="1"/>
              <a:t>직무와</a:t>
            </a:r>
            <a:r>
              <a:rPr lang="en-US" dirty="0"/>
              <a:t> </a:t>
            </a:r>
            <a:r>
              <a:rPr lang="en-US" dirty="0" err="1"/>
              <a:t>연결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자기소개서를</a:t>
            </a:r>
            <a:r>
              <a:rPr lang="en-US" dirty="0"/>
              <a:t> </a:t>
            </a:r>
            <a:r>
              <a:rPr lang="en-US" dirty="0" err="1"/>
              <a:t>분석하고</a:t>
            </a:r>
            <a:r>
              <a:rPr lang="en-US" dirty="0"/>
              <a:t>, </a:t>
            </a:r>
            <a:r>
              <a:rPr lang="en-US" dirty="0" err="1"/>
              <a:t>지원</a:t>
            </a:r>
            <a:r>
              <a:rPr lang="en-US" dirty="0"/>
              <a:t> </a:t>
            </a:r>
            <a:r>
              <a:rPr lang="en-US" dirty="0" err="1"/>
              <a:t>직무와의</a:t>
            </a:r>
            <a:r>
              <a:rPr lang="en-US" dirty="0"/>
              <a:t> </a:t>
            </a:r>
            <a:r>
              <a:rPr lang="en-US" dirty="0" err="1"/>
              <a:t>연관성</a:t>
            </a:r>
            <a:r>
              <a:rPr lang="en-US" dirty="0"/>
              <a:t> 및 </a:t>
            </a:r>
            <a:r>
              <a:rPr lang="en-US" dirty="0" err="1"/>
              <a:t>전달력을</a:t>
            </a:r>
            <a:r>
              <a:rPr lang="en-US" dirty="0"/>
              <a:t> </a:t>
            </a:r>
            <a:r>
              <a:rPr lang="en-US" dirty="0" err="1"/>
              <a:t>높일</a:t>
            </a:r>
            <a:r>
              <a:rPr lang="en-US" dirty="0"/>
              <a:t> 수 </a:t>
            </a:r>
            <a:r>
              <a:rPr lang="en-US" dirty="0" err="1"/>
              <a:t>있도록</a:t>
            </a:r>
            <a:r>
              <a:rPr lang="en-US" dirty="0"/>
              <a:t> </a:t>
            </a:r>
            <a:r>
              <a:rPr lang="en-US" dirty="0" err="1"/>
              <a:t>개선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06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FDF5D-977B-7241-BC84-8B50CDB0D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회의록 작성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91B10F-DF90-7390-216D-0D9FC1FE1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 err="1"/>
              <a:t>역할</a:t>
            </a:r>
            <a:r>
              <a:rPr lang="en-US" dirty="0"/>
              <a:t> </a:t>
            </a:r>
            <a:r>
              <a:rPr lang="en-US" dirty="0" err="1"/>
              <a:t>부여</a:t>
            </a:r>
            <a:r>
              <a:rPr lang="en-US" dirty="0"/>
              <a:t>: </a:t>
            </a:r>
            <a:r>
              <a:rPr lang="en-US" dirty="0" err="1"/>
              <a:t>기업</a:t>
            </a:r>
            <a:r>
              <a:rPr lang="en-US" dirty="0"/>
              <a:t> </a:t>
            </a:r>
            <a:r>
              <a:rPr lang="en-US" dirty="0" err="1"/>
              <a:t>회의록</a:t>
            </a:r>
            <a:r>
              <a:rPr lang="en-US" dirty="0"/>
              <a:t> </a:t>
            </a:r>
            <a:r>
              <a:rPr lang="en-US" dirty="0" err="1"/>
              <a:t>작성</a:t>
            </a:r>
            <a:r>
              <a:rPr lang="en-US" dirty="0"/>
              <a:t> </a:t>
            </a:r>
            <a:r>
              <a:rPr lang="en-US" dirty="0" err="1"/>
              <a:t>전문가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목적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회의</a:t>
            </a:r>
            <a:r>
              <a:rPr lang="en-US" dirty="0"/>
              <a:t> </a:t>
            </a:r>
            <a:r>
              <a:rPr lang="en-US" dirty="0" err="1"/>
              <a:t>내용을</a:t>
            </a:r>
            <a:r>
              <a:rPr lang="en-US" dirty="0"/>
              <a:t> </a:t>
            </a:r>
            <a:r>
              <a:rPr lang="en-US" dirty="0" err="1"/>
              <a:t>실행</a:t>
            </a:r>
            <a:r>
              <a:rPr lang="en-US" dirty="0"/>
              <a:t> </a:t>
            </a:r>
            <a:r>
              <a:rPr lang="en-US" dirty="0" err="1"/>
              <a:t>가능한</a:t>
            </a:r>
            <a:r>
              <a:rPr lang="en-US" dirty="0"/>
              <a:t> </a:t>
            </a:r>
            <a:r>
              <a:rPr lang="en-US" dirty="0" err="1"/>
              <a:t>업무계획으로</a:t>
            </a:r>
            <a:r>
              <a:rPr lang="en-US" dirty="0"/>
              <a:t> </a:t>
            </a:r>
            <a:r>
              <a:rPr lang="en-US" dirty="0" err="1"/>
              <a:t>정리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자료</a:t>
            </a:r>
            <a:r>
              <a:rPr lang="en-US" dirty="0"/>
              <a:t> </a:t>
            </a:r>
            <a:r>
              <a:rPr lang="en-US" dirty="0" err="1"/>
              <a:t>제공</a:t>
            </a:r>
            <a:r>
              <a:rPr lang="en-US" dirty="0"/>
              <a:t>: </a:t>
            </a:r>
            <a:r>
              <a:rPr lang="en-US" dirty="0" err="1"/>
              <a:t>회의</a:t>
            </a:r>
            <a:r>
              <a:rPr lang="en-US" dirty="0"/>
              <a:t> </a:t>
            </a:r>
            <a:r>
              <a:rPr lang="en-US" dirty="0" err="1"/>
              <a:t>메모</a:t>
            </a:r>
            <a:r>
              <a:rPr lang="en-US" dirty="0"/>
              <a:t>, </a:t>
            </a:r>
            <a:r>
              <a:rPr lang="en-US" dirty="0" err="1"/>
              <a:t>녹취록</a:t>
            </a:r>
            <a:r>
              <a:rPr lang="en-US" dirty="0"/>
              <a:t>, </a:t>
            </a:r>
            <a:r>
              <a:rPr lang="en-US" dirty="0" err="1"/>
              <a:t>참석자</a:t>
            </a:r>
            <a:r>
              <a:rPr lang="en-US" dirty="0"/>
              <a:t> </a:t>
            </a:r>
            <a:r>
              <a:rPr lang="en-US" dirty="0" err="1"/>
              <a:t>정보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제약조건</a:t>
            </a:r>
            <a:r>
              <a:rPr lang="en-US" dirty="0"/>
              <a:t>: </a:t>
            </a:r>
            <a:r>
              <a:rPr lang="en-US" dirty="0" err="1"/>
              <a:t>결정되지</a:t>
            </a:r>
            <a:r>
              <a:rPr lang="en-US" dirty="0"/>
              <a:t> </a:t>
            </a:r>
            <a:r>
              <a:rPr lang="en-US" dirty="0" err="1"/>
              <a:t>않은</a:t>
            </a:r>
            <a:r>
              <a:rPr lang="en-US" dirty="0"/>
              <a:t> </a:t>
            </a:r>
            <a:r>
              <a:rPr lang="en-US" dirty="0" err="1"/>
              <a:t>내용을</a:t>
            </a:r>
            <a:r>
              <a:rPr lang="en-US" dirty="0"/>
              <a:t> </a:t>
            </a:r>
            <a:r>
              <a:rPr lang="en-US" dirty="0" err="1"/>
              <a:t>임의로</a:t>
            </a:r>
            <a:r>
              <a:rPr lang="en-US" dirty="0"/>
              <a:t> </a:t>
            </a:r>
            <a:r>
              <a:rPr lang="en-US" dirty="0" err="1"/>
              <a:t>확정하지</a:t>
            </a:r>
            <a:r>
              <a:rPr lang="en-US" dirty="0"/>
              <a:t> </a:t>
            </a:r>
            <a:r>
              <a:rPr lang="en-US" dirty="0" err="1"/>
              <a:t>않습니다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출력</a:t>
            </a:r>
            <a:r>
              <a:rPr lang="en-US" dirty="0"/>
              <a:t> </a:t>
            </a:r>
            <a:r>
              <a:rPr lang="en-US" dirty="0" err="1"/>
              <a:t>형식</a:t>
            </a:r>
            <a:r>
              <a:rPr lang="en-US" dirty="0"/>
              <a:t>: </a:t>
            </a:r>
            <a:r>
              <a:rPr lang="en-US" dirty="0" err="1"/>
              <a:t>논의사항</a:t>
            </a:r>
            <a:r>
              <a:rPr lang="en-US" dirty="0"/>
              <a:t>, </a:t>
            </a:r>
            <a:r>
              <a:rPr lang="en-US" dirty="0" err="1"/>
              <a:t>결정사항</a:t>
            </a:r>
            <a:r>
              <a:rPr lang="en-US" dirty="0"/>
              <a:t>, </a:t>
            </a:r>
            <a:r>
              <a:rPr lang="en-US" dirty="0" err="1"/>
              <a:t>실행과제</a:t>
            </a:r>
            <a:r>
              <a:rPr lang="en-US" dirty="0"/>
              <a:t> </a:t>
            </a:r>
            <a:r>
              <a:rPr lang="en-US" dirty="0" err="1"/>
              <a:t>표로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18121-6805-DCB7-4C46-BF7219219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dirty="0"/>
              <a:t>회의 메모 예시 </a:t>
            </a:r>
            <a:r>
              <a:rPr lang="en-US" altLang="ko-KR" dirty="0"/>
              <a:t>(</a:t>
            </a:r>
            <a:r>
              <a:rPr lang="ko-KR" altLang="en-US" dirty="0"/>
              <a:t>신제품 출시 준비 회의</a:t>
            </a:r>
            <a:r>
              <a:rPr lang="en-US" altLang="ko-KR" dirty="0"/>
              <a:t>)</a:t>
            </a:r>
            <a:endParaRPr lang="ko-KR" altLang="en-US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마케팅팀</a:t>
            </a:r>
            <a:r>
              <a:rPr lang="en-US" altLang="ko-KR" dirty="0"/>
              <a:t>: </a:t>
            </a:r>
            <a:r>
              <a:rPr lang="ko-KR" altLang="en-US" dirty="0"/>
              <a:t>다음 달 </a:t>
            </a:r>
            <a:r>
              <a:rPr lang="en-US" altLang="ko-KR" dirty="0"/>
              <a:t>15</a:t>
            </a:r>
            <a:r>
              <a:rPr lang="ko-KR" altLang="en-US" dirty="0"/>
              <a:t>일 출시를 목표로 온라인 광고를 준비 중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영업팀</a:t>
            </a:r>
            <a:r>
              <a:rPr lang="en-US" altLang="ko-KR" dirty="0"/>
              <a:t>: </a:t>
            </a:r>
            <a:r>
              <a:rPr lang="ko-KR" altLang="en-US" dirty="0"/>
              <a:t>제품 소개 자료가 출시 일주일 전까지 필요함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디자인팀</a:t>
            </a:r>
            <a:r>
              <a:rPr lang="en-US" altLang="ko-KR" dirty="0"/>
              <a:t>: </a:t>
            </a:r>
            <a:r>
              <a:rPr lang="ko-KR" altLang="en-US" dirty="0"/>
              <a:t>광고 시안은 다음 주 수요일까지 제작 가능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팀장</a:t>
            </a:r>
            <a:r>
              <a:rPr lang="en-US" altLang="ko-KR" dirty="0"/>
              <a:t>: </a:t>
            </a:r>
            <a:r>
              <a:rPr lang="ko-KR" altLang="en-US" dirty="0"/>
              <a:t>출시 일정은 유지하되 제품 소개 자료 일정은 담당자 간 협의 필요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담당자와 정확한 완료 기한이 정해지지 않은 업무가 있음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796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28CC00-48E9-A754-A047-B9F39AC9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실적</a:t>
            </a:r>
            <a:r>
              <a:rPr lang="en-US" dirty="0"/>
              <a:t> </a:t>
            </a:r>
            <a:r>
              <a:rPr lang="en-US" dirty="0" err="1"/>
              <a:t>보고서</a:t>
            </a:r>
            <a:r>
              <a:rPr lang="en-US" dirty="0"/>
              <a:t> </a:t>
            </a:r>
            <a:r>
              <a:rPr lang="ko-KR" altLang="en-US" dirty="0"/>
              <a:t>작성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BE6C1-A2A7-F3F5-BDB0-6244A6576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0385"/>
            <a:ext cx="5181600" cy="4351338"/>
          </a:xfrm>
          <a:solidFill>
            <a:schemeClr val="bg2"/>
          </a:solidFill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역할</a:t>
            </a:r>
            <a:r>
              <a:rPr lang="en-US" dirty="0"/>
              <a:t> </a:t>
            </a:r>
            <a:r>
              <a:rPr lang="en-US" dirty="0" err="1"/>
              <a:t>부여</a:t>
            </a:r>
            <a:r>
              <a:rPr lang="en-US" dirty="0"/>
              <a:t>: </a:t>
            </a:r>
            <a:r>
              <a:rPr lang="en-US" dirty="0" err="1"/>
              <a:t>경영전략</a:t>
            </a:r>
            <a:r>
              <a:rPr lang="en-US" dirty="0"/>
              <a:t> </a:t>
            </a:r>
            <a:r>
              <a:rPr lang="en-US" dirty="0" err="1"/>
              <a:t>컨설턴트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목적</a:t>
            </a:r>
            <a:r>
              <a:rPr lang="en-US" dirty="0"/>
              <a:t> 및 </a:t>
            </a:r>
            <a:r>
              <a:rPr lang="en-US" dirty="0" err="1"/>
              <a:t>독자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임원</a:t>
            </a:r>
            <a:r>
              <a:rPr lang="en-US" dirty="0"/>
              <a:t> </a:t>
            </a:r>
            <a:r>
              <a:rPr lang="en-US" dirty="0" err="1"/>
              <a:t>의사결정을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실적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보고서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자료</a:t>
            </a:r>
            <a:r>
              <a:rPr lang="en-US" dirty="0"/>
              <a:t> 및 </a:t>
            </a:r>
            <a:r>
              <a:rPr lang="en-US" dirty="0" err="1"/>
              <a:t>근거</a:t>
            </a:r>
            <a:r>
              <a:rPr lang="en-US" dirty="0"/>
              <a:t> </a:t>
            </a:r>
            <a:r>
              <a:rPr lang="en-US" dirty="0" err="1"/>
              <a:t>제공</a:t>
            </a:r>
            <a:r>
              <a:rPr lang="en-US" dirty="0"/>
              <a:t>: </a:t>
            </a:r>
            <a:r>
              <a:rPr lang="ko-KR" altLang="en-US" dirty="0"/>
              <a:t>실</a:t>
            </a:r>
            <a:r>
              <a:rPr lang="en-US" dirty="0"/>
              <a:t>적 </a:t>
            </a:r>
            <a:r>
              <a:rPr lang="en-US" dirty="0" err="1"/>
              <a:t>데이터</a:t>
            </a:r>
            <a:r>
              <a:rPr lang="en-US" dirty="0"/>
              <a:t>, </a:t>
            </a:r>
            <a:r>
              <a:rPr lang="en-US" dirty="0" err="1"/>
              <a:t>목표치</a:t>
            </a:r>
            <a:r>
              <a:rPr lang="en-US" dirty="0"/>
              <a:t>, </a:t>
            </a:r>
            <a:r>
              <a:rPr lang="en-US" dirty="0" err="1"/>
              <a:t>과거</a:t>
            </a:r>
            <a:r>
              <a:rPr lang="en-US" dirty="0"/>
              <a:t> </a:t>
            </a:r>
            <a:r>
              <a:rPr lang="en-US" dirty="0" err="1"/>
              <a:t>자료</a:t>
            </a:r>
            <a:r>
              <a:rPr lang="en-US" dirty="0"/>
              <a:t> 및 </a:t>
            </a:r>
            <a:r>
              <a:rPr lang="en-US" dirty="0" err="1"/>
              <a:t>업무</a:t>
            </a:r>
            <a:r>
              <a:rPr lang="en-US" dirty="0"/>
              <a:t> </a:t>
            </a:r>
            <a:r>
              <a:rPr lang="en-US" dirty="0" err="1"/>
              <a:t>기록을</a:t>
            </a:r>
            <a:r>
              <a:rPr lang="en-US" dirty="0"/>
              <a:t> </a:t>
            </a:r>
            <a:r>
              <a:rPr lang="en-US" dirty="0" err="1"/>
              <a:t>제공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제약조건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사실과</a:t>
            </a:r>
            <a:r>
              <a:rPr lang="en-US" dirty="0"/>
              <a:t> </a:t>
            </a:r>
            <a:r>
              <a:rPr lang="en-US" dirty="0" err="1"/>
              <a:t>추정을</a:t>
            </a:r>
            <a:r>
              <a:rPr lang="en-US" dirty="0"/>
              <a:t> </a:t>
            </a:r>
            <a:r>
              <a:rPr lang="en-US" dirty="0" err="1"/>
              <a:t>구분하고</a:t>
            </a:r>
            <a:r>
              <a:rPr lang="en-US" dirty="0"/>
              <a:t>, </a:t>
            </a:r>
            <a:r>
              <a:rPr lang="en-US" dirty="0" err="1"/>
              <a:t>근거</a:t>
            </a:r>
            <a:r>
              <a:rPr lang="en-US" dirty="0"/>
              <a:t> </a:t>
            </a:r>
            <a:r>
              <a:rPr lang="en-US" dirty="0" err="1"/>
              <a:t>없는</a:t>
            </a:r>
            <a:r>
              <a:rPr lang="en-US" dirty="0"/>
              <a:t> </a:t>
            </a:r>
            <a:r>
              <a:rPr lang="en-US" dirty="0" err="1"/>
              <a:t>수치를</a:t>
            </a:r>
            <a:r>
              <a:rPr lang="en-US" dirty="0"/>
              <a:t> </a:t>
            </a:r>
            <a:r>
              <a:rPr lang="en-US" dirty="0" err="1"/>
              <a:t>생성하지</a:t>
            </a:r>
            <a:r>
              <a:rPr lang="en-US" dirty="0"/>
              <a:t> </a:t>
            </a:r>
            <a:r>
              <a:rPr lang="en-US" dirty="0" err="1"/>
              <a:t>않습니다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출력</a:t>
            </a:r>
            <a:r>
              <a:rPr lang="en-US" dirty="0"/>
              <a:t> </a:t>
            </a:r>
            <a:r>
              <a:rPr lang="en-US" dirty="0" err="1"/>
              <a:t>형식</a:t>
            </a:r>
            <a:r>
              <a:rPr lang="en-US" dirty="0"/>
              <a:t> </a:t>
            </a:r>
            <a:r>
              <a:rPr lang="en-US" dirty="0" err="1"/>
              <a:t>지정</a:t>
            </a:r>
            <a:r>
              <a:rPr lang="en-US" dirty="0"/>
              <a:t>: </a:t>
            </a:r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요약</a:t>
            </a:r>
            <a:r>
              <a:rPr lang="en-US" dirty="0"/>
              <a:t>,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, </a:t>
            </a:r>
            <a:r>
              <a:rPr lang="en-US" dirty="0" err="1"/>
              <a:t>문제점</a:t>
            </a:r>
            <a:r>
              <a:rPr lang="en-US" dirty="0"/>
              <a:t>, </a:t>
            </a:r>
            <a:r>
              <a:rPr lang="en-US" dirty="0" err="1"/>
              <a:t>개선방안</a:t>
            </a:r>
            <a:r>
              <a:rPr lang="en-US" dirty="0"/>
              <a:t>, </a:t>
            </a:r>
            <a:r>
              <a:rPr lang="en-US" dirty="0" err="1"/>
              <a:t>실행계획</a:t>
            </a:r>
            <a:r>
              <a:rPr lang="en-US" dirty="0"/>
              <a:t> </a:t>
            </a:r>
            <a:r>
              <a:rPr lang="en-US" dirty="0" err="1"/>
              <a:t>순서로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EB729C-0760-D4C0-6513-A95E6452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0385"/>
            <a:ext cx="5181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가상 매출 실적 자료 </a:t>
            </a:r>
            <a:r>
              <a:rPr lang="en-US" altLang="ko-KR" dirty="0"/>
              <a:t>(2026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분기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매출 목표</a:t>
            </a:r>
            <a:r>
              <a:rPr lang="en-US" altLang="ko-KR" dirty="0"/>
              <a:t>: 1</a:t>
            </a:r>
            <a:r>
              <a:rPr lang="ko-KR" altLang="en-US" dirty="0"/>
              <a:t>억 원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실제 매출</a:t>
            </a:r>
            <a:r>
              <a:rPr lang="en-US" altLang="ko-KR" dirty="0"/>
              <a:t>: 8,500</a:t>
            </a:r>
            <a:r>
              <a:rPr lang="ko-KR" altLang="en-US" dirty="0"/>
              <a:t>만 원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신규 고객 목표</a:t>
            </a:r>
            <a:r>
              <a:rPr lang="en-US" altLang="ko-KR" dirty="0"/>
              <a:t>: 100</a:t>
            </a:r>
            <a:r>
              <a:rPr lang="ko-KR" altLang="en-US" dirty="0"/>
              <a:t>명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신규 고객 실적</a:t>
            </a:r>
            <a:r>
              <a:rPr lang="en-US" altLang="ko-KR" dirty="0"/>
              <a:t>: 80</a:t>
            </a:r>
            <a:r>
              <a:rPr lang="ko-KR" altLang="en-US" dirty="0"/>
              <a:t>명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위 자료를 바탕으로 목표 대비 실적</a:t>
            </a:r>
            <a:r>
              <a:rPr lang="en-US" altLang="ko-KR" dirty="0"/>
              <a:t>, </a:t>
            </a:r>
            <a:r>
              <a:rPr lang="ko-KR" altLang="en-US" dirty="0"/>
              <a:t>주요 시사점</a:t>
            </a:r>
            <a:r>
              <a:rPr lang="en-US" altLang="ko-KR" dirty="0"/>
              <a:t>, </a:t>
            </a:r>
            <a:r>
              <a:rPr lang="ko-KR" altLang="en-US" dirty="0"/>
              <a:t>추가 확인이 필요한 원인</a:t>
            </a:r>
            <a:r>
              <a:rPr lang="en-US" altLang="ko-KR" dirty="0"/>
              <a:t>, </a:t>
            </a:r>
            <a:r>
              <a:rPr lang="ko-KR" altLang="en-US" dirty="0"/>
              <a:t>개선방안 및 실행계획을 포함한 보고서를 작성해 주세요</a:t>
            </a:r>
            <a:r>
              <a:rPr lang="en-US" altLang="ko-KR" dirty="0"/>
              <a:t>. </a:t>
            </a:r>
            <a:r>
              <a:rPr lang="ko-KR" altLang="en-US" dirty="0"/>
              <a:t>제공되지 않은 원인은 사실로 단정하지 마세요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611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BEAC-6AA3-38A0-E252-41D16E1F6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사업 계획서 작성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6D0A4ED-3D3B-7263-64FA-22D4C85FC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역할</a:t>
            </a:r>
            <a:r>
              <a:rPr lang="en-US" dirty="0"/>
              <a:t> </a:t>
            </a:r>
            <a:r>
              <a:rPr lang="en-US" dirty="0" err="1"/>
              <a:t>부여</a:t>
            </a:r>
            <a:r>
              <a:rPr lang="en-US" dirty="0"/>
              <a:t>: </a:t>
            </a:r>
            <a:r>
              <a:rPr lang="en-US" dirty="0" err="1"/>
              <a:t>창업·사업전략</a:t>
            </a:r>
            <a:r>
              <a:rPr lang="en-US" dirty="0"/>
              <a:t> </a:t>
            </a:r>
            <a:r>
              <a:rPr lang="en-US" dirty="0" err="1"/>
              <a:t>전문</a:t>
            </a:r>
            <a:r>
              <a:rPr lang="en-US" dirty="0"/>
              <a:t> </a:t>
            </a:r>
            <a:r>
              <a:rPr lang="en-US" dirty="0" err="1"/>
              <a:t>컨설턴트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목적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신규</a:t>
            </a:r>
            <a:r>
              <a:rPr lang="en-US" dirty="0"/>
              <a:t> </a:t>
            </a:r>
            <a:r>
              <a:rPr lang="en-US" dirty="0" err="1"/>
              <a:t>사업의</a:t>
            </a:r>
            <a:r>
              <a:rPr lang="en-US" dirty="0"/>
              <a:t> </a:t>
            </a:r>
            <a:r>
              <a:rPr lang="en-US" dirty="0" err="1"/>
              <a:t>시장성과</a:t>
            </a:r>
            <a:r>
              <a:rPr lang="en-US" dirty="0"/>
              <a:t> </a:t>
            </a:r>
            <a:r>
              <a:rPr lang="en-US" dirty="0" err="1"/>
              <a:t>수익성</a:t>
            </a:r>
            <a:r>
              <a:rPr lang="en-US" dirty="0"/>
              <a:t> </a:t>
            </a:r>
            <a:r>
              <a:rPr lang="en-US" dirty="0" err="1"/>
              <a:t>검토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배경정보</a:t>
            </a:r>
            <a:r>
              <a:rPr lang="en-US" dirty="0"/>
              <a:t> </a:t>
            </a:r>
            <a:r>
              <a:rPr lang="en-US" dirty="0" err="1"/>
              <a:t>제공</a:t>
            </a:r>
            <a:r>
              <a:rPr lang="en-US" dirty="0"/>
              <a:t>: </a:t>
            </a:r>
            <a:r>
              <a:rPr lang="en-US" dirty="0" err="1"/>
              <a:t>사업</a:t>
            </a:r>
            <a:r>
              <a:rPr lang="en-US" dirty="0"/>
              <a:t> </a:t>
            </a:r>
            <a:r>
              <a:rPr lang="en-US" dirty="0" err="1"/>
              <a:t>아이템</a:t>
            </a:r>
            <a:r>
              <a:rPr lang="en-US" dirty="0"/>
              <a:t>, </a:t>
            </a:r>
            <a:r>
              <a:rPr lang="en-US" dirty="0" err="1"/>
              <a:t>고객</a:t>
            </a:r>
            <a:r>
              <a:rPr lang="en-US" dirty="0"/>
              <a:t>, </a:t>
            </a:r>
            <a:r>
              <a:rPr lang="en-US" dirty="0" err="1"/>
              <a:t>예산</a:t>
            </a:r>
            <a:r>
              <a:rPr lang="en-US" dirty="0"/>
              <a:t>, </a:t>
            </a:r>
            <a:r>
              <a:rPr lang="en-US" dirty="0" err="1"/>
              <a:t>사업</a:t>
            </a:r>
            <a:r>
              <a:rPr lang="en-US" dirty="0"/>
              <a:t> </a:t>
            </a:r>
            <a:r>
              <a:rPr lang="en-US" dirty="0" err="1"/>
              <a:t>단계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제약조건</a:t>
            </a:r>
            <a:r>
              <a:rPr lang="en-US" dirty="0"/>
              <a:t> </a:t>
            </a:r>
            <a:r>
              <a:rPr lang="en-US" dirty="0" err="1"/>
              <a:t>설정</a:t>
            </a:r>
            <a:r>
              <a:rPr lang="en-US" dirty="0"/>
              <a:t>: </a:t>
            </a:r>
            <a:r>
              <a:rPr lang="en-US" dirty="0" err="1"/>
              <a:t>허위</a:t>
            </a:r>
            <a:r>
              <a:rPr lang="en-US" dirty="0"/>
              <a:t> </a:t>
            </a:r>
            <a:r>
              <a:rPr lang="en-US" dirty="0" err="1"/>
              <a:t>통계</a:t>
            </a:r>
            <a:r>
              <a:rPr lang="en-US" dirty="0"/>
              <a:t> </a:t>
            </a:r>
            <a:r>
              <a:rPr lang="en-US" dirty="0" err="1"/>
              <a:t>금지</a:t>
            </a:r>
            <a:r>
              <a:rPr lang="en-US" dirty="0"/>
              <a:t>, </a:t>
            </a:r>
            <a:r>
              <a:rPr lang="en-US" dirty="0" err="1"/>
              <a:t>추정</a:t>
            </a:r>
            <a:r>
              <a:rPr lang="en-US" dirty="0"/>
              <a:t> </a:t>
            </a:r>
            <a:r>
              <a:rPr lang="en-US" dirty="0" err="1"/>
              <a:t>근거</a:t>
            </a:r>
            <a:r>
              <a:rPr lang="en-US" dirty="0"/>
              <a:t> </a:t>
            </a:r>
            <a:r>
              <a:rPr lang="en-US" dirty="0" err="1"/>
              <a:t>명시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출력</a:t>
            </a:r>
            <a:r>
              <a:rPr lang="en-US" dirty="0"/>
              <a:t> </a:t>
            </a:r>
            <a:r>
              <a:rPr lang="en-US" dirty="0" err="1"/>
              <a:t>형식</a:t>
            </a:r>
            <a:r>
              <a:rPr lang="en-US" dirty="0"/>
              <a:t> </a:t>
            </a:r>
            <a:r>
              <a:rPr lang="en-US" dirty="0" err="1"/>
              <a:t>지정</a:t>
            </a:r>
            <a:r>
              <a:rPr lang="en-US" dirty="0"/>
              <a:t>: </a:t>
            </a:r>
            <a:r>
              <a:rPr lang="en-US" dirty="0" err="1"/>
              <a:t>시장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, </a:t>
            </a:r>
            <a:r>
              <a:rPr lang="en-US" dirty="0" err="1"/>
              <a:t>수익모델</a:t>
            </a:r>
            <a:r>
              <a:rPr lang="en-US" dirty="0"/>
              <a:t>, </a:t>
            </a:r>
            <a:r>
              <a:rPr lang="en-US" dirty="0" err="1"/>
              <a:t>재무계획</a:t>
            </a:r>
            <a:r>
              <a:rPr lang="en-US" dirty="0"/>
              <a:t>, </a:t>
            </a:r>
            <a:r>
              <a:rPr lang="en-US" dirty="0" err="1"/>
              <a:t>실행</a:t>
            </a:r>
            <a:r>
              <a:rPr lang="en-US" dirty="0"/>
              <a:t> </a:t>
            </a:r>
            <a:r>
              <a:rPr lang="en-US" dirty="0" err="1"/>
              <a:t>로드맵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59706-6BBE-CF77-8017-F0B7B694E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가상</a:t>
            </a:r>
            <a:r>
              <a:rPr lang="en-US" dirty="0"/>
              <a:t> </a:t>
            </a:r>
            <a:r>
              <a:rPr lang="en-US" dirty="0" err="1"/>
              <a:t>사업</a:t>
            </a:r>
            <a:r>
              <a:rPr lang="en-US" dirty="0"/>
              <a:t> </a:t>
            </a:r>
            <a:r>
              <a:rPr lang="en-US" dirty="0" err="1"/>
              <a:t>아이템</a:t>
            </a:r>
            <a:r>
              <a:rPr lang="en-US" dirty="0"/>
              <a:t> (</a:t>
            </a:r>
            <a:r>
              <a:rPr lang="en-US" dirty="0" err="1"/>
              <a:t>중소기업용</a:t>
            </a:r>
            <a:r>
              <a:rPr lang="en-US" dirty="0"/>
              <a:t> AI </a:t>
            </a:r>
            <a:r>
              <a:rPr lang="en-US" dirty="0" err="1"/>
              <a:t>업무</a:t>
            </a:r>
            <a:r>
              <a:rPr lang="en-US" dirty="0"/>
              <a:t> </a:t>
            </a:r>
            <a:r>
              <a:rPr lang="en-US" dirty="0" err="1"/>
              <a:t>자동화</a:t>
            </a:r>
            <a:r>
              <a:rPr lang="en-US" dirty="0"/>
              <a:t> </a:t>
            </a:r>
            <a:r>
              <a:rPr lang="en-US" dirty="0" err="1"/>
              <a:t>서비스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사업 아이템</a:t>
            </a:r>
            <a:r>
              <a:rPr lang="en-US" altLang="ko-KR" dirty="0"/>
              <a:t>: </a:t>
            </a:r>
            <a:r>
              <a:rPr lang="ko-KR" altLang="en-US" dirty="0"/>
              <a:t>중소기업용 </a:t>
            </a:r>
            <a:r>
              <a:rPr lang="en-US" altLang="ko-KR" dirty="0"/>
              <a:t>AI </a:t>
            </a:r>
            <a:r>
              <a:rPr lang="ko-KR" altLang="en-US" dirty="0"/>
              <a:t>업무 자동화 서비스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목표 고객</a:t>
            </a:r>
            <a:r>
              <a:rPr lang="en-US" altLang="ko-KR" dirty="0"/>
              <a:t>: </a:t>
            </a:r>
            <a:r>
              <a:rPr lang="ko-KR" altLang="en-US" dirty="0"/>
              <a:t>직원 </a:t>
            </a:r>
            <a:r>
              <a:rPr lang="en-US" altLang="ko-KR" dirty="0"/>
              <a:t>10~100</a:t>
            </a:r>
            <a:r>
              <a:rPr lang="ko-KR" altLang="en-US" dirty="0"/>
              <a:t>명 규모의 중소기업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제공 서비스</a:t>
            </a:r>
            <a:r>
              <a:rPr lang="en-US" altLang="ko-KR" dirty="0"/>
              <a:t>: </a:t>
            </a:r>
            <a:r>
              <a:rPr lang="ko-KR" altLang="en-US" dirty="0"/>
              <a:t>회의록 요약</a:t>
            </a:r>
            <a:r>
              <a:rPr lang="en-US" altLang="ko-KR" dirty="0"/>
              <a:t>, </a:t>
            </a:r>
            <a:r>
              <a:rPr lang="ko-KR" altLang="en-US" dirty="0"/>
              <a:t>보고서 초안 작성</a:t>
            </a:r>
            <a:r>
              <a:rPr lang="en-US" altLang="ko-KR" dirty="0"/>
              <a:t>, </a:t>
            </a:r>
            <a:r>
              <a:rPr lang="ko-KR" altLang="en-US" dirty="0"/>
              <a:t>문서 템플릿 제공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수익모델</a:t>
            </a:r>
            <a:r>
              <a:rPr lang="en-US" altLang="ko-KR" dirty="0"/>
              <a:t>: </a:t>
            </a:r>
            <a:r>
              <a:rPr lang="ko-KR" altLang="en-US" dirty="0"/>
              <a:t>월 구독료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초기 예산</a:t>
            </a:r>
            <a:r>
              <a:rPr lang="en-US" altLang="ko-KR" dirty="0"/>
              <a:t>: 3,000</a:t>
            </a:r>
            <a:r>
              <a:rPr lang="ko-KR" altLang="en-US" dirty="0"/>
              <a:t>만 원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사업 목표</a:t>
            </a:r>
            <a:r>
              <a:rPr lang="en-US" altLang="ko-KR" dirty="0"/>
              <a:t>: 6</a:t>
            </a:r>
            <a:r>
              <a:rPr lang="ko-KR" altLang="en-US" dirty="0"/>
              <a:t>개월 이내 유료 고객 확보 및 시장성 검증</a:t>
            </a:r>
          </a:p>
          <a:p>
            <a:pPr>
              <a:lnSpc>
                <a:spcPct val="120000"/>
              </a:lnSpc>
            </a:pPr>
            <a:endParaRPr lang="ko-KR" altLang="en-US" dirty="0"/>
          </a:p>
          <a:p>
            <a:pPr>
              <a:lnSpc>
                <a:spcPct val="120000"/>
              </a:lnSpc>
            </a:pPr>
            <a:r>
              <a:rPr lang="ko-KR" altLang="en-US" dirty="0"/>
              <a:t>사업 개요</a:t>
            </a:r>
            <a:r>
              <a:rPr lang="en-US" altLang="ko-KR" dirty="0"/>
              <a:t>, </a:t>
            </a:r>
            <a:r>
              <a:rPr lang="ko-KR" altLang="en-US" dirty="0"/>
              <a:t>고객 문제</a:t>
            </a:r>
            <a:r>
              <a:rPr lang="en-US" altLang="ko-KR" dirty="0"/>
              <a:t>, </a:t>
            </a:r>
            <a:r>
              <a:rPr lang="ko-KR" altLang="en-US" dirty="0"/>
              <a:t>시장 분석</a:t>
            </a:r>
            <a:r>
              <a:rPr lang="en-US" altLang="ko-KR" dirty="0"/>
              <a:t>, </a:t>
            </a:r>
            <a:r>
              <a:rPr lang="ko-KR" altLang="en-US" dirty="0"/>
              <a:t>경쟁사 분석</a:t>
            </a:r>
            <a:r>
              <a:rPr lang="en-US" altLang="ko-KR" dirty="0"/>
              <a:t>, </a:t>
            </a:r>
            <a:r>
              <a:rPr lang="ko-KR" altLang="en-US" dirty="0"/>
              <a:t>차별화 전략</a:t>
            </a:r>
            <a:r>
              <a:rPr lang="en-US" altLang="ko-KR" dirty="0"/>
              <a:t>, </a:t>
            </a:r>
            <a:r>
              <a:rPr lang="ko-KR" altLang="en-US" dirty="0"/>
              <a:t>마케팅 계획</a:t>
            </a:r>
            <a:r>
              <a:rPr lang="en-US" altLang="ko-KR" dirty="0"/>
              <a:t>, </a:t>
            </a:r>
            <a:r>
              <a:rPr lang="ko-KR" altLang="en-US" dirty="0"/>
              <a:t>수익모델</a:t>
            </a:r>
            <a:r>
              <a:rPr lang="en-US" altLang="ko-KR" dirty="0"/>
              <a:t>, </a:t>
            </a:r>
            <a:r>
              <a:rPr lang="ko-KR" altLang="en-US" dirty="0"/>
              <a:t>재무계획</a:t>
            </a:r>
            <a:r>
              <a:rPr lang="en-US" altLang="ko-KR" dirty="0"/>
              <a:t>, </a:t>
            </a:r>
            <a:r>
              <a:rPr lang="ko-KR" altLang="en-US" dirty="0"/>
              <a:t>실행 로드맵 및 위험 대응방안을 포함</a:t>
            </a:r>
            <a:r>
              <a:rPr lang="en-US" altLang="ko-KR" dirty="0"/>
              <a:t>. </a:t>
            </a:r>
            <a:r>
              <a:rPr lang="ko-KR" altLang="en-US" dirty="0"/>
              <a:t>확인되지 않은 시장 통계와 매출을 사실처럼 만들지 말고</a:t>
            </a:r>
            <a:r>
              <a:rPr lang="en-US" altLang="ko-KR" dirty="0"/>
              <a:t>, </a:t>
            </a:r>
            <a:r>
              <a:rPr lang="ko-KR" altLang="en-US" dirty="0"/>
              <a:t>추정치는 계산 근거와 가정을 명시</a:t>
            </a:r>
            <a:r>
              <a:rPr lang="en-US" altLang="ko-KR" dirty="0"/>
              <a:t>. </a:t>
            </a:r>
            <a:r>
              <a:rPr lang="ko-KR" altLang="en-US" dirty="0"/>
              <a:t>정보가 부족하면 필요한 질문을 먼저 해 주세요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096363"/>
      </p:ext>
    </p:extLst>
  </p:cSld>
  <p:clrMapOvr>
    <a:masterClrMapping/>
  </p:clrMapOvr>
</p:sld>
</file>

<file path=ppt/theme/theme1.xml><?xml version="1.0" encoding="utf-8"?>
<a:theme xmlns:a="http://schemas.openxmlformats.org/drawingml/2006/main" name="Terra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1C7E41-42DC-4B4E-84FE-DF921EB2F04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15790</TotalTime>
  <Words>2984</Words>
  <Application>Microsoft Office PowerPoint</Application>
  <PresentationFormat>Widescreen</PresentationFormat>
  <Paragraphs>457</Paragraphs>
  <Slides>54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Wingdings</vt:lpstr>
      <vt:lpstr>Arial</vt:lpstr>
      <vt:lpstr>Aptos</vt:lpstr>
      <vt:lpstr>KoPub돋움체 Medium</vt:lpstr>
      <vt:lpstr>Courier New</vt:lpstr>
      <vt:lpstr>G마켓 산스 TTF Medium</vt:lpstr>
      <vt:lpstr>Poppins</vt:lpstr>
      <vt:lpstr>Terra</vt:lpstr>
      <vt:lpstr>Office Theme</vt:lpstr>
      <vt:lpstr>[AI 리터러시 교육]</vt:lpstr>
      <vt:lpstr>실습전 준비</vt:lpstr>
      <vt:lpstr>실습 자료</vt:lpstr>
      <vt:lpstr>생성형 AI 활용 과정</vt:lpstr>
      <vt:lpstr>Topics</vt:lpstr>
      <vt:lpstr>AI 리터러시 AI Literacy</vt:lpstr>
      <vt:lpstr>인공지능  Artificial Intelligence</vt:lpstr>
      <vt:lpstr>신경망 아키텍쳐</vt:lpstr>
      <vt:lpstr>신경망 아키텍쳐의 발전</vt:lpstr>
      <vt:lpstr>생성적 대립 신경망 Generative Adversarial Network (GAN)</vt:lpstr>
      <vt:lpstr>생성형 인공지능 Generative AI</vt:lpstr>
      <vt:lpstr>이미지 생성 프롬프트 실습</vt:lpstr>
      <vt:lpstr>기본 이미지 생성 프롬프트</vt:lpstr>
      <vt:lpstr>예상 출력</vt:lpstr>
      <vt:lpstr>행정 처리 프로세스 다이어그램 생성 프롬프트</vt:lpstr>
      <vt:lpstr>출력 결과</vt:lpstr>
      <vt:lpstr>코드 생성 프롬프트 실습</vt:lpstr>
      <vt:lpstr>Python 기본 예제</vt:lpstr>
      <vt:lpstr>예상 출력 코드</vt:lpstr>
      <vt:lpstr>HTML/CSS 자동 생성</vt:lpstr>
      <vt:lpstr>출력 결과</vt:lpstr>
      <vt:lpstr>대규모 언어모델 Large Language Model (LLM)</vt:lpstr>
      <vt:lpstr>텍스트 생성 Text Generation</vt:lpstr>
      <vt:lpstr>LLM의 작동 원리</vt:lpstr>
      <vt:lpstr>어텐션 모델 Attention Model</vt:lpstr>
      <vt:lpstr>ChatGPT</vt:lpstr>
      <vt:lpstr>Gemini 제미나이</vt:lpstr>
      <vt:lpstr>Claude</vt:lpstr>
      <vt:lpstr>Perplexity</vt:lpstr>
      <vt:lpstr>프롬프트 prompt</vt:lpstr>
      <vt:lpstr>프롬프트 예시</vt:lpstr>
      <vt:lpstr>프롬프트의 기본 구조 (3요소)</vt:lpstr>
      <vt:lpstr>텍스트 생성 프롬프트 실습</vt:lpstr>
      <vt:lpstr>기본 프롬프트 실습</vt:lpstr>
      <vt:lpstr>요약 프롬프트 실습</vt:lpstr>
      <vt:lpstr>텍스트 첨삭 프롬프트 실습</vt:lpstr>
      <vt:lpstr>문장 변환 실습</vt:lpstr>
      <vt:lpstr>프롬프트 엔지니어링 Prompt Engineering</vt:lpstr>
      <vt:lpstr>프롬프트 최적화 </vt:lpstr>
      <vt:lpstr>프롬프트 최적화 실습</vt:lpstr>
      <vt:lpstr>프롬프트의 구성요소</vt:lpstr>
      <vt:lpstr>프롬프트 엔지니어링 기법</vt:lpstr>
      <vt:lpstr>역할 기반 프롬프팅 Role Prompting</vt:lpstr>
      <vt:lpstr>사고의 연쇄 또는 단계적 추론 Chain of Thought (CoT)</vt:lpstr>
      <vt:lpstr>퓨샷 프롬프팅 Few-shot Prompting</vt:lpstr>
      <vt:lpstr>Zero-shot, One-shot, Few-shot</vt:lpstr>
      <vt:lpstr>문맥 기반 프롬프트 작성 Contextual Prompting</vt:lpstr>
      <vt:lpstr>프롬프트 구성요소 실습</vt:lpstr>
      <vt:lpstr>실무 문서 작성 및 자동화 실습</vt:lpstr>
      <vt:lpstr>이력서 작성</vt:lpstr>
      <vt:lpstr>자기소개서 작성</vt:lpstr>
      <vt:lpstr>회의록 작성</vt:lpstr>
      <vt:lpstr>매출 실적 보고서 작성</vt:lpstr>
      <vt:lpstr>사업 계획서 작성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Hyo-Jeong  Kim</dc:creator>
  <cp:lastModifiedBy>Hyo-Jeong Kim</cp:lastModifiedBy>
  <cp:revision>99</cp:revision>
  <dcterms:created xsi:type="dcterms:W3CDTF">2024-06-16T05:53:51Z</dcterms:created>
  <dcterms:modified xsi:type="dcterms:W3CDTF">2026-10-20T04:59:15Z</dcterms:modified>
</cp:coreProperties>
</file>