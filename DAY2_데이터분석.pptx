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  <p:sldMasterId id="2147483803" r:id="rId2"/>
  </p:sldMasterIdLst>
  <p:notesMasterIdLst>
    <p:notesMasterId r:id="rId68"/>
  </p:notesMasterIdLst>
  <p:handoutMasterIdLst>
    <p:handoutMasterId r:id="rId69"/>
  </p:handoutMasterIdLst>
  <p:sldIdLst>
    <p:sldId id="257" r:id="rId3"/>
    <p:sldId id="1987" r:id="rId4"/>
    <p:sldId id="2173" r:id="rId5"/>
    <p:sldId id="2261" r:id="rId6"/>
    <p:sldId id="2262" r:id="rId7"/>
    <p:sldId id="2263" r:id="rId8"/>
    <p:sldId id="2264" r:id="rId9"/>
    <p:sldId id="2083" r:id="rId10"/>
    <p:sldId id="1586" r:id="rId11"/>
    <p:sldId id="1070" r:id="rId12"/>
    <p:sldId id="2252" r:id="rId13"/>
    <p:sldId id="2253" r:id="rId14"/>
    <p:sldId id="2254" r:id="rId15"/>
    <p:sldId id="2274" r:id="rId16"/>
    <p:sldId id="2275" r:id="rId17"/>
    <p:sldId id="2276" r:id="rId18"/>
    <p:sldId id="2273" r:id="rId19"/>
    <p:sldId id="2255" r:id="rId20"/>
    <p:sldId id="2256" r:id="rId21"/>
    <p:sldId id="2257" r:id="rId22"/>
    <p:sldId id="2279" r:id="rId23"/>
    <p:sldId id="2277" r:id="rId24"/>
    <p:sldId id="2258" r:id="rId25"/>
    <p:sldId id="2259" r:id="rId26"/>
    <p:sldId id="2260" r:id="rId27"/>
    <p:sldId id="2280" r:id="rId28"/>
    <p:sldId id="2281" r:id="rId29"/>
    <p:sldId id="2305" r:id="rId30"/>
    <p:sldId id="1587" r:id="rId31"/>
    <p:sldId id="2304" r:id="rId32"/>
    <p:sldId id="2306" r:id="rId33"/>
    <p:sldId id="1612" r:id="rId34"/>
    <p:sldId id="2308" r:id="rId35"/>
    <p:sldId id="1613" r:id="rId36"/>
    <p:sldId id="1614" r:id="rId37"/>
    <p:sldId id="1619" r:id="rId38"/>
    <p:sldId id="1620" r:id="rId39"/>
    <p:sldId id="2309" r:id="rId40"/>
    <p:sldId id="1615" r:id="rId41"/>
    <p:sldId id="2310" r:id="rId42"/>
    <p:sldId id="2287" r:id="rId43"/>
    <p:sldId id="1618" r:id="rId44"/>
    <p:sldId id="2311" r:id="rId45"/>
    <p:sldId id="2286" r:id="rId46"/>
    <p:sldId id="2294" r:id="rId47"/>
    <p:sldId id="2303" r:id="rId48"/>
    <p:sldId id="2312" r:id="rId49"/>
    <p:sldId id="2313" r:id="rId50"/>
    <p:sldId id="2282" r:id="rId51"/>
    <p:sldId id="2283" r:id="rId52"/>
    <p:sldId id="2295" r:id="rId53"/>
    <p:sldId id="2285" r:id="rId54"/>
    <p:sldId id="2296" r:id="rId55"/>
    <p:sldId id="2284" r:id="rId56"/>
    <p:sldId id="2297" r:id="rId57"/>
    <p:sldId id="2298" r:id="rId58"/>
    <p:sldId id="2299" r:id="rId59"/>
    <p:sldId id="2300" r:id="rId60"/>
    <p:sldId id="2293" r:id="rId61"/>
    <p:sldId id="2301" r:id="rId62"/>
    <p:sldId id="2302" r:id="rId63"/>
    <p:sldId id="1610" r:id="rId64"/>
    <p:sldId id="1611" r:id="rId65"/>
    <p:sldId id="1608" r:id="rId66"/>
    <p:sldId id="1609" r:id="rId67"/>
  </p:sldIdLst>
  <p:sldSz cx="12192000" cy="6858000"/>
  <p:notesSz cx="6858000" cy="9144000"/>
  <p:embeddedFontLst>
    <p:embeddedFont>
      <p:font typeface="G마켓 산스 TTF Medium" panose="02000000000000000000" pitchFamily="2" charset="-127"/>
      <p:regular r:id="rId70"/>
    </p:embeddedFont>
    <p:embeddedFont>
      <p:font typeface="KoPub돋움체 Medium" panose="02020603020101020101" pitchFamily="18" charset="-127"/>
      <p:regular r:id="rId71"/>
    </p:embeddedFont>
    <p:embeddedFont>
      <p:font typeface="Microsoft GothicNeo" panose="020B0500000101010101" pitchFamily="50" charset="-127"/>
      <p:regular r:id="rId72"/>
      <p:bold r:id="rId73"/>
    </p:embeddedFont>
    <p:embeddedFont>
      <p:font typeface="Poppins" panose="00000500000000000000" pitchFamily="2" charset="0"/>
      <p:regular r:id="rId74"/>
      <p:bold r:id="rId75"/>
      <p:italic r:id="rId76"/>
      <p:boldItalic r:id="rId7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4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842" autoAdjust="0"/>
  </p:normalViewPr>
  <p:slideViewPr>
    <p:cSldViewPr snapToGrid="0">
      <p:cViewPr>
        <p:scale>
          <a:sx n="50" d="100"/>
          <a:sy n="50" d="100"/>
        </p:scale>
        <p:origin x="2116" y="632"/>
      </p:cViewPr>
      <p:guideLst/>
    </p:cSldViewPr>
  </p:slideViewPr>
  <p:outlineViewPr>
    <p:cViewPr>
      <p:scale>
        <a:sx n="33" d="100"/>
        <a:sy n="33" d="100"/>
      </p:scale>
      <p:origin x="0" y="-277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1790" y="6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5.fntdata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handoutMaster" Target="handoutMasters/handoutMaster1.xml"/><Relationship Id="rId77" Type="http://schemas.openxmlformats.org/officeDocument/2006/relationships/font" Target="fonts/font8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3.fntdata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1.fntdata"/><Relationship Id="rId75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4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7.fntdata"/><Relationship Id="rId7" Type="http://schemas.openxmlformats.org/officeDocument/2006/relationships/slide" Target="slides/slide5.xml"/><Relationship Id="rId71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6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D77AAA-E3E7-46F4-B095-D5AFF771327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05799C6-74C2-4189-A692-0E115CE5DC79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1: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 기초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AEE6EBF-B9A4-4987-AB11-89D63D6F13F6}" type="parTrans" cxnId="{9C08CEB7-C9C6-44B5-A6B8-CD2CDC7F85BE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7AF0EF32-0766-4385-9EF7-24B6187AA373}" type="sibTrans" cxnId="{9C08CEB7-C9C6-44B5-A6B8-CD2CDC7F85BE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42BF014-BE24-4050-BE8B-4A6AFBBFB8AB}">
      <dgm:prSet/>
      <dgm:spPr/>
      <dgm:t>
        <a:bodyPr/>
        <a:lstStyle/>
        <a:p>
          <a:r>
            <a:rPr lang="ko-KR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기초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LLM</a:t>
          </a:r>
          <a:r>
            <a:rPr lang="ko-KR" alt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의 원리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 실습</a:t>
          </a:r>
          <a:endParaRPr lang="en-US" dirty="0">
            <a:solidFill>
              <a:schemeClr val="tx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B0764BE-6617-42D0-A21E-35E348EB83FD}" type="parTrans" cxnId="{742E89B7-A226-48F1-8E38-4C0CB45820C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162AAD5-41CB-4041-919D-9E8BDADD2B80}" type="sibTrans" cxnId="{742E89B7-A226-48F1-8E38-4C0CB45820CC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2C3C4E4-A41F-4D74-9E92-CA56602638D5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2: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기반 데이터 분석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8A065AF-A506-412F-A83D-3AC16745E0E3}" type="parTrans" cxnId="{5BEA914A-4DEB-44C3-B7D5-695586A15D5D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5A61A7BA-E589-49A6-A894-86802E6B5BB1}" type="sibTrans" cxnId="{5BEA914A-4DEB-44C3-B7D5-695586A15D5D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657B317-40B5-4E30-9958-255270D0E66D}">
      <dgm:prSet/>
      <dgm:spPr/>
      <dgm:t>
        <a:bodyPr/>
        <a:lstStyle/>
        <a:p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Pandas, Matplotlib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5B41C54-14CB-47F6-ACF4-C5AEE8AAAABF}" type="parTrans" cxnId="{FC84436C-F425-425A-B992-BF1B7955634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3D3001C7-17AA-410C-8766-F1AE96698700}" type="sibTrans" cxnId="{FC84436C-F425-425A-B992-BF1B79556346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22920C1-4F8C-4B0E-98CF-5D03F988219F}">
      <dgm:prSet/>
      <dgm:spPr/>
      <dgm:t>
        <a:bodyPr/>
        <a:lstStyle/>
        <a:p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3: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 활용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4F503EB1-8462-4D32-BEF5-0AB1BE740E00}" type="parTrans" cxnId="{9022DA45-B9E8-46EB-872B-EE74A762B5C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983E0928-C44C-48B8-9099-5D2BD5CB9B8D}" type="sibTrans" cxnId="{9022DA45-B9E8-46EB-872B-EE74A762B5C4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3D8C497-C62E-447B-8D43-9B282F6771BB}">
      <dgm:prSet/>
      <dgm:spPr/>
      <dgm:t>
        <a:bodyPr/>
        <a:lstStyle/>
        <a:p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도구 소개 및 활용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 템플릿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직무별 활용 실습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F9DC8873-C22D-45AD-BF30-CB9B57DFF70A}" type="parTrans" cxnId="{3F5AFA53-DBAE-4BE6-BA33-83DB9576E68B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64D3528-A8F7-4E47-9C9D-696924B4F574}" type="sibTrans" cxnId="{3F5AFA53-DBAE-4BE6-BA33-83DB9576E68B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030B3C7-5FB0-46EC-A96B-1B29E75A3EB9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문서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작성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및 </a:t>
          </a:r>
          <a:r>
            <a:rPr lang="en-US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자동화</a:t>
          </a:r>
          <a:r>
            <a:rPr 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ko-KR" altLang="en-US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실습</a:t>
          </a:r>
          <a:endParaRPr lang="en-US" dirty="0">
            <a:solidFill>
              <a:schemeClr val="tx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E5ED8F3B-D4E0-4297-8788-74655278482F}" type="parTrans" cxnId="{4409AB95-6C34-4CA8-A1D3-6EDB94899B6B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28A194B-5997-425F-9F8B-04996EAAB3E5}" type="sibTrans" cxnId="{4409AB95-6C34-4CA8-A1D3-6EDB94899B6B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2FEA164B-72BA-4105-9E2B-71E7F589E330}">
      <dgm:prSet/>
      <dgm:spPr/>
      <dgm:t>
        <a:bodyPr/>
        <a:lstStyle/>
        <a:p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보고서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회의록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사업계획서 작성 실습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428F1A9E-4BA3-41DE-83C3-D0B3010123B4}" type="parTrans" cxnId="{79F1A9E5-9C78-4A23-B704-F1775E150FB0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9E7B28A-B861-4406-8F74-6713C3980F29}" type="sibTrans" cxnId="{79F1A9E5-9C78-4A23-B704-F1775E150FB0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E536FEA-B5FF-403A-8CB8-207B0379C7AA}">
      <dgm:prSet/>
      <dgm:spPr/>
      <dgm:t>
        <a:bodyPr/>
        <a:lstStyle/>
        <a:p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홍보영상 콘텐츠 설계 실습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EB025A2B-8958-4FC9-BB2E-744E0662E72F}" type="parTrans" cxnId="{B85AA45A-671D-4CB3-AC6A-AAD3A617FC1F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51D5B10-7272-4FDF-B5C5-6D66920A8E3C}" type="sibTrans" cxnId="{B85AA45A-671D-4CB3-AC6A-AAD3A617FC1F}">
      <dgm:prSet/>
      <dgm:spPr/>
      <dgm:t>
        <a:bodyPr/>
        <a:lstStyle/>
        <a:p>
          <a:endParaRPr lang="en-US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09C81F0-7D13-4FD3-8367-8FE1BCC7B34B}" type="pres">
      <dgm:prSet presAssocID="{C8D77AAA-E3E7-46F4-B095-D5AFF7713273}" presName="linear" presStyleCnt="0">
        <dgm:presLayoutVars>
          <dgm:dir/>
          <dgm:animLvl val="lvl"/>
          <dgm:resizeHandles val="exact"/>
        </dgm:presLayoutVars>
      </dgm:prSet>
      <dgm:spPr/>
    </dgm:pt>
    <dgm:pt modelId="{1B3EEB0A-8008-44AF-9372-987DB616C938}" type="pres">
      <dgm:prSet presAssocID="{905799C6-74C2-4189-A692-0E115CE5DC79}" presName="parentLin" presStyleCnt="0"/>
      <dgm:spPr/>
    </dgm:pt>
    <dgm:pt modelId="{BFD4BF94-3C82-41EF-89B3-4A8B40944DB1}" type="pres">
      <dgm:prSet presAssocID="{905799C6-74C2-4189-A692-0E115CE5DC79}" presName="parentLeftMargin" presStyleLbl="node1" presStyleIdx="0" presStyleCnt="3"/>
      <dgm:spPr/>
    </dgm:pt>
    <dgm:pt modelId="{23F79F9E-B146-48B1-8E94-14C03EA3ED6A}" type="pres">
      <dgm:prSet presAssocID="{905799C6-74C2-4189-A692-0E115CE5DC7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7ED627C-AE2F-4A8A-A7AA-38E4E300D97A}" type="pres">
      <dgm:prSet presAssocID="{905799C6-74C2-4189-A692-0E115CE5DC79}" presName="negativeSpace" presStyleCnt="0"/>
      <dgm:spPr/>
    </dgm:pt>
    <dgm:pt modelId="{42563690-2F87-48EC-A560-20AC48D234AD}" type="pres">
      <dgm:prSet presAssocID="{905799C6-74C2-4189-A692-0E115CE5DC79}" presName="childText" presStyleLbl="conFgAcc1" presStyleIdx="0" presStyleCnt="3">
        <dgm:presLayoutVars>
          <dgm:bulletEnabled val="1"/>
        </dgm:presLayoutVars>
      </dgm:prSet>
      <dgm:spPr/>
    </dgm:pt>
    <dgm:pt modelId="{2569BA97-28ED-40D1-ABDA-C0B40A4BA466}" type="pres">
      <dgm:prSet presAssocID="{7AF0EF32-0766-4385-9EF7-24B6187AA373}" presName="spaceBetweenRectangles" presStyleCnt="0"/>
      <dgm:spPr/>
    </dgm:pt>
    <dgm:pt modelId="{EAC83CA0-AFE1-46B4-B4E2-60BDDF73519C}" type="pres">
      <dgm:prSet presAssocID="{62C3C4E4-A41F-4D74-9E92-CA56602638D5}" presName="parentLin" presStyleCnt="0"/>
      <dgm:spPr/>
    </dgm:pt>
    <dgm:pt modelId="{86F628C5-C968-4B82-90F0-858A72347D86}" type="pres">
      <dgm:prSet presAssocID="{62C3C4E4-A41F-4D74-9E92-CA56602638D5}" presName="parentLeftMargin" presStyleLbl="node1" presStyleIdx="0" presStyleCnt="3"/>
      <dgm:spPr/>
    </dgm:pt>
    <dgm:pt modelId="{80B871F0-0106-47B4-BA04-7EF5FD9C7AF5}" type="pres">
      <dgm:prSet presAssocID="{62C3C4E4-A41F-4D74-9E92-CA56602638D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C3830D-1739-41D0-85D9-59A6E665C069}" type="pres">
      <dgm:prSet presAssocID="{62C3C4E4-A41F-4D74-9E92-CA56602638D5}" presName="negativeSpace" presStyleCnt="0"/>
      <dgm:spPr/>
    </dgm:pt>
    <dgm:pt modelId="{470FDCE0-9D20-4C7B-A43D-ED1795FAF3AD}" type="pres">
      <dgm:prSet presAssocID="{62C3C4E4-A41F-4D74-9E92-CA56602638D5}" presName="childText" presStyleLbl="conFgAcc1" presStyleIdx="1" presStyleCnt="3">
        <dgm:presLayoutVars>
          <dgm:bulletEnabled val="1"/>
        </dgm:presLayoutVars>
      </dgm:prSet>
      <dgm:spPr/>
    </dgm:pt>
    <dgm:pt modelId="{827411B4-A5AB-4431-8131-D595C3719833}" type="pres">
      <dgm:prSet presAssocID="{5A61A7BA-E589-49A6-A894-86802E6B5BB1}" presName="spaceBetweenRectangles" presStyleCnt="0"/>
      <dgm:spPr/>
    </dgm:pt>
    <dgm:pt modelId="{884AEA19-700E-4767-8B26-C314D2B56DD0}" type="pres">
      <dgm:prSet presAssocID="{F22920C1-4F8C-4B0E-98CF-5D03F988219F}" presName="parentLin" presStyleCnt="0"/>
      <dgm:spPr/>
    </dgm:pt>
    <dgm:pt modelId="{2F2C308A-4816-4088-9C7C-0B3DE7B342CF}" type="pres">
      <dgm:prSet presAssocID="{F22920C1-4F8C-4B0E-98CF-5D03F988219F}" presName="parentLeftMargin" presStyleLbl="node1" presStyleIdx="1" presStyleCnt="3"/>
      <dgm:spPr/>
    </dgm:pt>
    <dgm:pt modelId="{991B8859-E680-4603-A651-EB9DB879C3A0}" type="pres">
      <dgm:prSet presAssocID="{F22920C1-4F8C-4B0E-98CF-5D03F988219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3FE9758-C059-4D78-BC66-5AD2A1AC44E7}" type="pres">
      <dgm:prSet presAssocID="{F22920C1-4F8C-4B0E-98CF-5D03F988219F}" presName="negativeSpace" presStyleCnt="0"/>
      <dgm:spPr/>
    </dgm:pt>
    <dgm:pt modelId="{03BEDFD7-A55C-4ED8-8BE1-14504C4C9CE9}" type="pres">
      <dgm:prSet presAssocID="{F22920C1-4F8C-4B0E-98CF-5D03F988219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D03A310-26FC-4A94-AC68-4BAFD8433DD7}" type="presOf" srcId="{C030B3C7-5FB0-46EC-A96B-1B29E75A3EB9}" destId="{42563690-2F87-48EC-A560-20AC48D234AD}" srcOrd="0" destOrd="1" presId="urn:microsoft.com/office/officeart/2005/8/layout/list1"/>
    <dgm:cxn modelId="{52E5511A-FB65-48C3-86C6-855B79B1FBDB}" type="presOf" srcId="{C8D77AAA-E3E7-46F4-B095-D5AFF7713273}" destId="{009C81F0-7D13-4FD3-8367-8FE1BCC7B34B}" srcOrd="0" destOrd="0" presId="urn:microsoft.com/office/officeart/2005/8/layout/list1"/>
    <dgm:cxn modelId="{005C6031-46B6-4557-8055-244A7590E084}" type="presOf" srcId="{0E536FEA-B5FF-403A-8CB8-207B0379C7AA}" destId="{470FDCE0-9D20-4C7B-A43D-ED1795FAF3AD}" srcOrd="0" destOrd="1" presId="urn:microsoft.com/office/officeart/2005/8/layout/list1"/>
    <dgm:cxn modelId="{8F5D2165-E69B-4002-A960-1D75A494BECC}" type="presOf" srcId="{C657B317-40B5-4E30-9958-255270D0E66D}" destId="{470FDCE0-9D20-4C7B-A43D-ED1795FAF3AD}" srcOrd="0" destOrd="0" presId="urn:microsoft.com/office/officeart/2005/8/layout/list1"/>
    <dgm:cxn modelId="{9022DA45-B9E8-46EB-872B-EE74A762B5C4}" srcId="{C8D77AAA-E3E7-46F4-B095-D5AFF7713273}" destId="{F22920C1-4F8C-4B0E-98CF-5D03F988219F}" srcOrd="2" destOrd="0" parTransId="{4F503EB1-8462-4D32-BEF5-0AB1BE740E00}" sibTransId="{983E0928-C44C-48B8-9099-5D2BD5CB9B8D}"/>
    <dgm:cxn modelId="{5BEA914A-4DEB-44C3-B7D5-695586A15D5D}" srcId="{C8D77AAA-E3E7-46F4-B095-D5AFF7713273}" destId="{62C3C4E4-A41F-4D74-9E92-CA56602638D5}" srcOrd="1" destOrd="0" parTransId="{88A065AF-A506-412F-A83D-3AC16745E0E3}" sibTransId="{5A61A7BA-E589-49A6-A894-86802E6B5BB1}"/>
    <dgm:cxn modelId="{FC84436C-F425-425A-B992-BF1B79556346}" srcId="{62C3C4E4-A41F-4D74-9E92-CA56602638D5}" destId="{C657B317-40B5-4E30-9958-255270D0E66D}" srcOrd="0" destOrd="0" parTransId="{35B41C54-14CB-47F6-ACF4-C5AEE8AAAABF}" sibTransId="{3D3001C7-17AA-410C-8766-F1AE96698700}"/>
    <dgm:cxn modelId="{98544151-CB3F-4831-BACE-BA0C1B8B81B4}" type="presOf" srcId="{2FEA164B-72BA-4105-9E2B-71E7F589E330}" destId="{03BEDFD7-A55C-4ED8-8BE1-14504C4C9CE9}" srcOrd="0" destOrd="1" presId="urn:microsoft.com/office/officeart/2005/8/layout/list1"/>
    <dgm:cxn modelId="{3F5AFA53-DBAE-4BE6-BA33-83DB9576E68B}" srcId="{F22920C1-4F8C-4B0E-98CF-5D03F988219F}" destId="{23D8C497-C62E-447B-8D43-9B282F6771BB}" srcOrd="0" destOrd="0" parTransId="{F9DC8873-C22D-45AD-BF30-CB9B57DFF70A}" sibTransId="{064D3528-A8F7-4E47-9C9D-696924B4F574}"/>
    <dgm:cxn modelId="{B85AA45A-671D-4CB3-AC6A-AAD3A617FC1F}" srcId="{62C3C4E4-A41F-4D74-9E92-CA56602638D5}" destId="{0E536FEA-B5FF-403A-8CB8-207B0379C7AA}" srcOrd="1" destOrd="0" parTransId="{EB025A2B-8958-4FC9-BB2E-744E0662E72F}" sibTransId="{C51D5B10-7272-4FDF-B5C5-6D66920A8E3C}"/>
    <dgm:cxn modelId="{A020298D-DF3C-4DAA-B3A8-5C7A77169885}" type="presOf" srcId="{905799C6-74C2-4189-A692-0E115CE5DC79}" destId="{23F79F9E-B146-48B1-8E94-14C03EA3ED6A}" srcOrd="1" destOrd="0" presId="urn:microsoft.com/office/officeart/2005/8/layout/list1"/>
    <dgm:cxn modelId="{7AE8D592-4D7D-43B0-8D99-4C0036018030}" type="presOf" srcId="{C42BF014-BE24-4050-BE8B-4A6AFBBFB8AB}" destId="{42563690-2F87-48EC-A560-20AC48D234AD}" srcOrd="0" destOrd="0" presId="urn:microsoft.com/office/officeart/2005/8/layout/list1"/>
    <dgm:cxn modelId="{4409AB95-6C34-4CA8-A1D3-6EDB94899B6B}" srcId="{905799C6-74C2-4189-A692-0E115CE5DC79}" destId="{C030B3C7-5FB0-46EC-A96B-1B29E75A3EB9}" srcOrd="1" destOrd="0" parTransId="{E5ED8F3B-D4E0-4297-8788-74655278482F}" sibTransId="{228A194B-5997-425F-9F8B-04996EAAB3E5}"/>
    <dgm:cxn modelId="{595780AD-45D0-4C0C-98BF-91127841F404}" type="presOf" srcId="{62C3C4E4-A41F-4D74-9E92-CA56602638D5}" destId="{86F628C5-C968-4B82-90F0-858A72347D86}" srcOrd="0" destOrd="0" presId="urn:microsoft.com/office/officeart/2005/8/layout/list1"/>
    <dgm:cxn modelId="{742E89B7-A226-48F1-8E38-4C0CB45820CC}" srcId="{905799C6-74C2-4189-A692-0E115CE5DC79}" destId="{C42BF014-BE24-4050-BE8B-4A6AFBBFB8AB}" srcOrd="0" destOrd="0" parTransId="{FB0764BE-6617-42D0-A21E-35E348EB83FD}" sibTransId="{3162AAD5-41CB-4041-919D-9E8BDADD2B80}"/>
    <dgm:cxn modelId="{9C08CEB7-C9C6-44B5-A6B8-CD2CDC7F85BE}" srcId="{C8D77AAA-E3E7-46F4-B095-D5AFF7713273}" destId="{905799C6-74C2-4189-A692-0E115CE5DC79}" srcOrd="0" destOrd="0" parTransId="{0AEE6EBF-B9A4-4987-AB11-89D63D6F13F6}" sibTransId="{7AF0EF32-0766-4385-9EF7-24B6187AA373}"/>
    <dgm:cxn modelId="{A8DCC5B9-6A39-49E6-B3D0-61EC042F8742}" type="presOf" srcId="{F22920C1-4F8C-4B0E-98CF-5D03F988219F}" destId="{991B8859-E680-4603-A651-EB9DB879C3A0}" srcOrd="1" destOrd="0" presId="urn:microsoft.com/office/officeart/2005/8/layout/list1"/>
    <dgm:cxn modelId="{AE95C7BB-7B16-4E2C-8032-E1B2FF3420A1}" type="presOf" srcId="{905799C6-74C2-4189-A692-0E115CE5DC79}" destId="{BFD4BF94-3C82-41EF-89B3-4A8B40944DB1}" srcOrd="0" destOrd="0" presId="urn:microsoft.com/office/officeart/2005/8/layout/list1"/>
    <dgm:cxn modelId="{8BFB28D1-3567-4D20-9C2A-17E9620E71C2}" type="presOf" srcId="{23D8C497-C62E-447B-8D43-9B282F6771BB}" destId="{03BEDFD7-A55C-4ED8-8BE1-14504C4C9CE9}" srcOrd="0" destOrd="0" presId="urn:microsoft.com/office/officeart/2005/8/layout/list1"/>
    <dgm:cxn modelId="{5560B3D4-FD9E-445B-9CA5-067D6B321043}" type="presOf" srcId="{62C3C4E4-A41F-4D74-9E92-CA56602638D5}" destId="{80B871F0-0106-47B4-BA04-7EF5FD9C7AF5}" srcOrd="1" destOrd="0" presId="urn:microsoft.com/office/officeart/2005/8/layout/list1"/>
    <dgm:cxn modelId="{BDF1F0E2-23D1-4ACD-A41C-5183CB23E88D}" type="presOf" srcId="{F22920C1-4F8C-4B0E-98CF-5D03F988219F}" destId="{2F2C308A-4816-4088-9C7C-0B3DE7B342CF}" srcOrd="0" destOrd="0" presId="urn:microsoft.com/office/officeart/2005/8/layout/list1"/>
    <dgm:cxn modelId="{79F1A9E5-9C78-4A23-B704-F1775E150FB0}" srcId="{F22920C1-4F8C-4B0E-98CF-5D03F988219F}" destId="{2FEA164B-72BA-4105-9E2B-71E7F589E330}" srcOrd="1" destOrd="0" parTransId="{428F1A9E-4BA3-41DE-83C3-D0B3010123B4}" sibTransId="{69E7B28A-B861-4406-8F74-6713C3980F29}"/>
    <dgm:cxn modelId="{F871EF3F-780E-45BB-94C1-72159C54EE41}" type="presParOf" srcId="{009C81F0-7D13-4FD3-8367-8FE1BCC7B34B}" destId="{1B3EEB0A-8008-44AF-9372-987DB616C938}" srcOrd="0" destOrd="0" presId="urn:microsoft.com/office/officeart/2005/8/layout/list1"/>
    <dgm:cxn modelId="{617BEACB-22B6-4963-9AB0-099DA357D81D}" type="presParOf" srcId="{1B3EEB0A-8008-44AF-9372-987DB616C938}" destId="{BFD4BF94-3C82-41EF-89B3-4A8B40944DB1}" srcOrd="0" destOrd="0" presId="urn:microsoft.com/office/officeart/2005/8/layout/list1"/>
    <dgm:cxn modelId="{B2B17832-76C2-4378-A5C5-4E77B4D65B82}" type="presParOf" srcId="{1B3EEB0A-8008-44AF-9372-987DB616C938}" destId="{23F79F9E-B146-48B1-8E94-14C03EA3ED6A}" srcOrd="1" destOrd="0" presId="urn:microsoft.com/office/officeart/2005/8/layout/list1"/>
    <dgm:cxn modelId="{9A4AE36C-1BDD-43FC-9289-D3138B5005DF}" type="presParOf" srcId="{009C81F0-7D13-4FD3-8367-8FE1BCC7B34B}" destId="{67ED627C-AE2F-4A8A-A7AA-38E4E300D97A}" srcOrd="1" destOrd="0" presId="urn:microsoft.com/office/officeart/2005/8/layout/list1"/>
    <dgm:cxn modelId="{94A4C478-E265-4E72-835E-BFA1582771F5}" type="presParOf" srcId="{009C81F0-7D13-4FD3-8367-8FE1BCC7B34B}" destId="{42563690-2F87-48EC-A560-20AC48D234AD}" srcOrd="2" destOrd="0" presId="urn:microsoft.com/office/officeart/2005/8/layout/list1"/>
    <dgm:cxn modelId="{5A9F9C7B-194E-4777-B106-2627D03529AC}" type="presParOf" srcId="{009C81F0-7D13-4FD3-8367-8FE1BCC7B34B}" destId="{2569BA97-28ED-40D1-ABDA-C0B40A4BA466}" srcOrd="3" destOrd="0" presId="urn:microsoft.com/office/officeart/2005/8/layout/list1"/>
    <dgm:cxn modelId="{DA80E7C3-61BF-4981-8465-F2ADD1FD9B50}" type="presParOf" srcId="{009C81F0-7D13-4FD3-8367-8FE1BCC7B34B}" destId="{EAC83CA0-AFE1-46B4-B4E2-60BDDF73519C}" srcOrd="4" destOrd="0" presId="urn:microsoft.com/office/officeart/2005/8/layout/list1"/>
    <dgm:cxn modelId="{242BC02A-1244-4249-80AB-25FB7CE81FCA}" type="presParOf" srcId="{EAC83CA0-AFE1-46B4-B4E2-60BDDF73519C}" destId="{86F628C5-C968-4B82-90F0-858A72347D86}" srcOrd="0" destOrd="0" presId="urn:microsoft.com/office/officeart/2005/8/layout/list1"/>
    <dgm:cxn modelId="{CBF38EDA-E9BB-473C-ADE3-C11715F82303}" type="presParOf" srcId="{EAC83CA0-AFE1-46B4-B4E2-60BDDF73519C}" destId="{80B871F0-0106-47B4-BA04-7EF5FD9C7AF5}" srcOrd="1" destOrd="0" presId="urn:microsoft.com/office/officeart/2005/8/layout/list1"/>
    <dgm:cxn modelId="{ABB9806C-4369-47B8-9F56-E3453BC50B83}" type="presParOf" srcId="{009C81F0-7D13-4FD3-8367-8FE1BCC7B34B}" destId="{F5C3830D-1739-41D0-85D9-59A6E665C069}" srcOrd="5" destOrd="0" presId="urn:microsoft.com/office/officeart/2005/8/layout/list1"/>
    <dgm:cxn modelId="{4F0FF7EF-03E1-4AA1-A38B-955C06B51675}" type="presParOf" srcId="{009C81F0-7D13-4FD3-8367-8FE1BCC7B34B}" destId="{470FDCE0-9D20-4C7B-A43D-ED1795FAF3AD}" srcOrd="6" destOrd="0" presId="urn:microsoft.com/office/officeart/2005/8/layout/list1"/>
    <dgm:cxn modelId="{C42FD682-27A1-4035-9E99-1B23119904FE}" type="presParOf" srcId="{009C81F0-7D13-4FD3-8367-8FE1BCC7B34B}" destId="{827411B4-A5AB-4431-8131-D595C3719833}" srcOrd="7" destOrd="0" presId="urn:microsoft.com/office/officeart/2005/8/layout/list1"/>
    <dgm:cxn modelId="{F36A882F-0A92-4FB0-8CD8-D515A24CE18D}" type="presParOf" srcId="{009C81F0-7D13-4FD3-8367-8FE1BCC7B34B}" destId="{884AEA19-700E-4767-8B26-C314D2B56DD0}" srcOrd="8" destOrd="0" presId="urn:microsoft.com/office/officeart/2005/8/layout/list1"/>
    <dgm:cxn modelId="{2DDB9801-F879-4782-982B-979B67F70FC9}" type="presParOf" srcId="{884AEA19-700E-4767-8B26-C314D2B56DD0}" destId="{2F2C308A-4816-4088-9C7C-0B3DE7B342CF}" srcOrd="0" destOrd="0" presId="urn:microsoft.com/office/officeart/2005/8/layout/list1"/>
    <dgm:cxn modelId="{5B5DB753-ACFF-49DD-A9A6-B8EE98B718E9}" type="presParOf" srcId="{884AEA19-700E-4767-8B26-C314D2B56DD0}" destId="{991B8859-E680-4603-A651-EB9DB879C3A0}" srcOrd="1" destOrd="0" presId="urn:microsoft.com/office/officeart/2005/8/layout/list1"/>
    <dgm:cxn modelId="{8F8FB747-3B31-4E23-BBFB-114EDC4E80E5}" type="presParOf" srcId="{009C81F0-7D13-4FD3-8367-8FE1BCC7B34B}" destId="{D3FE9758-C059-4D78-BC66-5AD2A1AC44E7}" srcOrd="9" destOrd="0" presId="urn:microsoft.com/office/officeart/2005/8/layout/list1"/>
    <dgm:cxn modelId="{AE1A410E-3E4C-4563-A1E8-42FDC9ABEDD0}" type="presParOf" srcId="{009C81F0-7D13-4FD3-8367-8FE1BCC7B34B}" destId="{03BEDFD7-A55C-4ED8-8BE1-14504C4C9CE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B9C82D-CA25-4909-87EC-964BDFAEC2CD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4CC5296-2F9E-4C1B-8F81-2B74D8A0565B}">
      <dgm:prSet/>
      <dgm:spPr/>
      <dgm:t>
        <a:bodyPr/>
        <a:lstStyle/>
        <a:p>
          <a:r>
            <a:rPr lang="en-US" b="1" dirty="0" err="1"/>
            <a:t>Vrew</a:t>
          </a:r>
          <a:endParaRPr lang="en-US" dirty="0"/>
        </a:p>
      </dgm:t>
    </dgm:pt>
    <dgm:pt modelId="{5ABC1A61-A14F-4D08-9020-D0363E2C34D2}" type="parTrans" cxnId="{5587D47F-57DF-4724-A066-B9892636A671}">
      <dgm:prSet/>
      <dgm:spPr/>
      <dgm:t>
        <a:bodyPr/>
        <a:lstStyle/>
        <a:p>
          <a:endParaRPr lang="en-US"/>
        </a:p>
      </dgm:t>
    </dgm:pt>
    <dgm:pt modelId="{897E3E5E-CE97-4BDE-B904-A25C8E17295E}" type="sibTrans" cxnId="{5587D47F-57DF-4724-A066-B9892636A671}">
      <dgm:prSet/>
      <dgm:spPr/>
      <dgm:t>
        <a:bodyPr/>
        <a:lstStyle/>
        <a:p>
          <a:endParaRPr lang="en-US"/>
        </a:p>
      </dgm:t>
    </dgm:pt>
    <dgm:pt modelId="{BFA92F56-EA75-4C6D-AAF2-8416D4B04B63}">
      <dgm:prSet/>
      <dgm:spPr/>
      <dgm:t>
        <a:bodyPr/>
        <a:lstStyle/>
        <a:p>
          <a:r>
            <a:rPr lang="en-US" b="1"/>
            <a:t>CapCut</a:t>
          </a:r>
          <a:endParaRPr lang="en-US"/>
        </a:p>
      </dgm:t>
    </dgm:pt>
    <dgm:pt modelId="{2B2CEBAA-4204-4F0A-9D8C-CF8A0ABDBF64}" type="parTrans" cxnId="{A54AE985-E962-48E4-8B54-4E83E3508EC2}">
      <dgm:prSet/>
      <dgm:spPr/>
      <dgm:t>
        <a:bodyPr/>
        <a:lstStyle/>
        <a:p>
          <a:endParaRPr lang="en-US"/>
        </a:p>
      </dgm:t>
    </dgm:pt>
    <dgm:pt modelId="{B349590C-7288-4EF7-A590-71A56370A226}" type="sibTrans" cxnId="{A54AE985-E962-48E4-8B54-4E83E3508EC2}">
      <dgm:prSet/>
      <dgm:spPr/>
      <dgm:t>
        <a:bodyPr/>
        <a:lstStyle/>
        <a:p>
          <a:endParaRPr lang="en-US"/>
        </a:p>
      </dgm:t>
    </dgm:pt>
    <dgm:pt modelId="{13EF0EFD-519C-463D-AC99-05CFBAE02EA6}">
      <dgm:prSet/>
      <dgm:spPr/>
      <dgm:t>
        <a:bodyPr/>
        <a:lstStyle/>
        <a:p>
          <a:r>
            <a:rPr lang="en-US" b="1"/>
            <a:t>Filmora AI </a:t>
          </a:r>
          <a:endParaRPr lang="en-US"/>
        </a:p>
      </dgm:t>
    </dgm:pt>
    <dgm:pt modelId="{8D91B2B1-080D-4D25-BB25-0E23440FBFCA}" type="parTrans" cxnId="{CF22861B-E611-44A9-811E-825C00CA877E}">
      <dgm:prSet/>
      <dgm:spPr/>
      <dgm:t>
        <a:bodyPr/>
        <a:lstStyle/>
        <a:p>
          <a:endParaRPr lang="en-US"/>
        </a:p>
      </dgm:t>
    </dgm:pt>
    <dgm:pt modelId="{A2C277AD-2996-4905-A495-3A65AF1C5FC0}" type="sibTrans" cxnId="{CF22861B-E611-44A9-811E-825C00CA877E}">
      <dgm:prSet/>
      <dgm:spPr/>
      <dgm:t>
        <a:bodyPr/>
        <a:lstStyle/>
        <a:p>
          <a:endParaRPr lang="en-US"/>
        </a:p>
      </dgm:t>
    </dgm:pt>
    <dgm:pt modelId="{496EA002-2FCF-46F0-9E14-1F94D8093B2D}">
      <dgm:prSet/>
      <dgm:spPr/>
      <dgm:t>
        <a:bodyPr/>
        <a:lstStyle/>
        <a:p>
          <a:r>
            <a:rPr lang="en-US" b="1"/>
            <a:t>Pictory </a:t>
          </a:r>
          <a:endParaRPr lang="en-US"/>
        </a:p>
      </dgm:t>
    </dgm:pt>
    <dgm:pt modelId="{1BC409A6-9AA2-487C-8201-35E39C9A493A}" type="parTrans" cxnId="{DBF012CA-5949-4E0D-BE2F-B0BCD4D4BE83}">
      <dgm:prSet/>
      <dgm:spPr/>
      <dgm:t>
        <a:bodyPr/>
        <a:lstStyle/>
        <a:p>
          <a:endParaRPr lang="en-US"/>
        </a:p>
      </dgm:t>
    </dgm:pt>
    <dgm:pt modelId="{67D5C335-24BA-4234-AF7F-B885F5B0FAC5}" type="sibTrans" cxnId="{DBF012CA-5949-4E0D-BE2F-B0BCD4D4BE83}">
      <dgm:prSet/>
      <dgm:spPr/>
      <dgm:t>
        <a:bodyPr/>
        <a:lstStyle/>
        <a:p>
          <a:endParaRPr lang="en-US"/>
        </a:p>
      </dgm:t>
    </dgm:pt>
    <dgm:pt modelId="{B0765A48-639F-4D3B-8B1A-43C143A21761}">
      <dgm:prSet/>
      <dgm:spPr/>
      <dgm:t>
        <a:bodyPr/>
        <a:lstStyle/>
        <a:p>
          <a:r>
            <a:rPr lang="en-US" b="1"/>
            <a:t>Canva</a:t>
          </a:r>
          <a:endParaRPr lang="en-US"/>
        </a:p>
      </dgm:t>
    </dgm:pt>
    <dgm:pt modelId="{92CFA938-0721-4C97-B50F-D7831A2ECF92}" type="parTrans" cxnId="{13F7339F-C5DF-4197-8D45-1BDD547B46D5}">
      <dgm:prSet/>
      <dgm:spPr/>
      <dgm:t>
        <a:bodyPr/>
        <a:lstStyle/>
        <a:p>
          <a:endParaRPr lang="en-US"/>
        </a:p>
      </dgm:t>
    </dgm:pt>
    <dgm:pt modelId="{B030C210-775E-4755-92B9-84602401EF25}" type="sibTrans" cxnId="{13F7339F-C5DF-4197-8D45-1BDD547B46D5}">
      <dgm:prSet/>
      <dgm:spPr/>
      <dgm:t>
        <a:bodyPr/>
        <a:lstStyle/>
        <a:p>
          <a:endParaRPr lang="en-US"/>
        </a:p>
      </dgm:t>
    </dgm:pt>
    <dgm:pt modelId="{817BC756-72C6-449C-BBCA-3FC478065968}">
      <dgm:prSet/>
      <dgm:spPr/>
      <dgm:t>
        <a:bodyPr/>
        <a:lstStyle/>
        <a:p>
          <a:r>
            <a:rPr lang="en-US" b="1"/>
            <a:t>GenApe</a:t>
          </a:r>
          <a:endParaRPr lang="en-US"/>
        </a:p>
      </dgm:t>
    </dgm:pt>
    <dgm:pt modelId="{C354B522-BC5D-4AEC-80A9-282CB343890A}" type="parTrans" cxnId="{62B7E056-6E34-4718-B38B-F8080495B166}">
      <dgm:prSet/>
      <dgm:spPr/>
      <dgm:t>
        <a:bodyPr/>
        <a:lstStyle/>
        <a:p>
          <a:endParaRPr lang="en-US"/>
        </a:p>
      </dgm:t>
    </dgm:pt>
    <dgm:pt modelId="{5022C363-31B3-4DF9-B284-E8B862B56847}" type="sibTrans" cxnId="{62B7E056-6E34-4718-B38B-F8080495B166}">
      <dgm:prSet/>
      <dgm:spPr/>
      <dgm:t>
        <a:bodyPr/>
        <a:lstStyle/>
        <a:p>
          <a:endParaRPr lang="en-US"/>
        </a:p>
      </dgm:t>
    </dgm:pt>
    <dgm:pt modelId="{E0228BAD-A99F-4D5A-8FD3-CD1EFDBFD6CE}" type="pres">
      <dgm:prSet presAssocID="{CEB9C82D-CA25-4909-87EC-964BDFAEC2CD}" presName="diagram" presStyleCnt="0">
        <dgm:presLayoutVars>
          <dgm:dir/>
          <dgm:resizeHandles val="exact"/>
        </dgm:presLayoutVars>
      </dgm:prSet>
      <dgm:spPr/>
    </dgm:pt>
    <dgm:pt modelId="{3729DB95-B799-4996-A352-114B8B45ECF3}" type="pres">
      <dgm:prSet presAssocID="{54CC5296-2F9E-4C1B-8F81-2B74D8A0565B}" presName="node" presStyleLbl="node1" presStyleIdx="0" presStyleCnt="6">
        <dgm:presLayoutVars>
          <dgm:bulletEnabled val="1"/>
        </dgm:presLayoutVars>
      </dgm:prSet>
      <dgm:spPr/>
    </dgm:pt>
    <dgm:pt modelId="{D5E5BABA-910B-49A8-BA8B-52C26680398F}" type="pres">
      <dgm:prSet presAssocID="{897E3E5E-CE97-4BDE-B904-A25C8E17295E}" presName="sibTrans" presStyleCnt="0"/>
      <dgm:spPr/>
    </dgm:pt>
    <dgm:pt modelId="{81959291-A15C-409A-B42A-3429C63588F2}" type="pres">
      <dgm:prSet presAssocID="{BFA92F56-EA75-4C6D-AAF2-8416D4B04B63}" presName="node" presStyleLbl="node1" presStyleIdx="1" presStyleCnt="6">
        <dgm:presLayoutVars>
          <dgm:bulletEnabled val="1"/>
        </dgm:presLayoutVars>
      </dgm:prSet>
      <dgm:spPr/>
    </dgm:pt>
    <dgm:pt modelId="{C4D770E3-BD6D-4DC6-8D07-5D77DF3F5C8C}" type="pres">
      <dgm:prSet presAssocID="{B349590C-7288-4EF7-A590-71A56370A226}" presName="sibTrans" presStyleCnt="0"/>
      <dgm:spPr/>
    </dgm:pt>
    <dgm:pt modelId="{BD28E052-C28F-4132-87D4-702D56E92FA2}" type="pres">
      <dgm:prSet presAssocID="{13EF0EFD-519C-463D-AC99-05CFBAE02EA6}" presName="node" presStyleLbl="node1" presStyleIdx="2" presStyleCnt="6">
        <dgm:presLayoutVars>
          <dgm:bulletEnabled val="1"/>
        </dgm:presLayoutVars>
      </dgm:prSet>
      <dgm:spPr/>
    </dgm:pt>
    <dgm:pt modelId="{52730937-A58E-448C-8C17-C7F72EB9B6DC}" type="pres">
      <dgm:prSet presAssocID="{A2C277AD-2996-4905-A495-3A65AF1C5FC0}" presName="sibTrans" presStyleCnt="0"/>
      <dgm:spPr/>
    </dgm:pt>
    <dgm:pt modelId="{42EEFE83-3FDB-4F0B-BF53-C9C0F35A7366}" type="pres">
      <dgm:prSet presAssocID="{496EA002-2FCF-46F0-9E14-1F94D8093B2D}" presName="node" presStyleLbl="node1" presStyleIdx="3" presStyleCnt="6">
        <dgm:presLayoutVars>
          <dgm:bulletEnabled val="1"/>
        </dgm:presLayoutVars>
      </dgm:prSet>
      <dgm:spPr/>
    </dgm:pt>
    <dgm:pt modelId="{CF91EFCC-A377-4153-9C33-B968172729C7}" type="pres">
      <dgm:prSet presAssocID="{67D5C335-24BA-4234-AF7F-B885F5B0FAC5}" presName="sibTrans" presStyleCnt="0"/>
      <dgm:spPr/>
    </dgm:pt>
    <dgm:pt modelId="{1A6D97DB-3C40-4AFD-89A0-04FC549AAD5B}" type="pres">
      <dgm:prSet presAssocID="{B0765A48-639F-4D3B-8B1A-43C143A21761}" presName="node" presStyleLbl="node1" presStyleIdx="4" presStyleCnt="6">
        <dgm:presLayoutVars>
          <dgm:bulletEnabled val="1"/>
        </dgm:presLayoutVars>
      </dgm:prSet>
      <dgm:spPr/>
    </dgm:pt>
    <dgm:pt modelId="{8C6E03B3-2857-41BB-AE0D-1A1EA514D11F}" type="pres">
      <dgm:prSet presAssocID="{B030C210-775E-4755-92B9-84602401EF25}" presName="sibTrans" presStyleCnt="0"/>
      <dgm:spPr/>
    </dgm:pt>
    <dgm:pt modelId="{CAF0ECD9-69E6-48D0-BEF7-8EFC787BFC0A}" type="pres">
      <dgm:prSet presAssocID="{817BC756-72C6-449C-BBCA-3FC478065968}" presName="node" presStyleLbl="node1" presStyleIdx="5" presStyleCnt="6">
        <dgm:presLayoutVars>
          <dgm:bulletEnabled val="1"/>
        </dgm:presLayoutVars>
      </dgm:prSet>
      <dgm:spPr/>
    </dgm:pt>
  </dgm:ptLst>
  <dgm:cxnLst>
    <dgm:cxn modelId="{506F6003-8A47-40D0-92A9-D90684653F3C}" type="presOf" srcId="{54CC5296-2F9E-4C1B-8F81-2B74D8A0565B}" destId="{3729DB95-B799-4996-A352-114B8B45ECF3}" srcOrd="0" destOrd="0" presId="urn:microsoft.com/office/officeart/2005/8/layout/default"/>
    <dgm:cxn modelId="{A885E207-3CCC-449E-976E-12D2496ED117}" type="presOf" srcId="{13EF0EFD-519C-463D-AC99-05CFBAE02EA6}" destId="{BD28E052-C28F-4132-87D4-702D56E92FA2}" srcOrd="0" destOrd="0" presId="urn:microsoft.com/office/officeart/2005/8/layout/default"/>
    <dgm:cxn modelId="{CF22861B-E611-44A9-811E-825C00CA877E}" srcId="{CEB9C82D-CA25-4909-87EC-964BDFAEC2CD}" destId="{13EF0EFD-519C-463D-AC99-05CFBAE02EA6}" srcOrd="2" destOrd="0" parTransId="{8D91B2B1-080D-4D25-BB25-0E23440FBFCA}" sibTransId="{A2C277AD-2996-4905-A495-3A65AF1C5FC0}"/>
    <dgm:cxn modelId="{6D177927-72E1-4976-BD92-B9E1D04DFD28}" type="presOf" srcId="{B0765A48-639F-4D3B-8B1A-43C143A21761}" destId="{1A6D97DB-3C40-4AFD-89A0-04FC549AAD5B}" srcOrd="0" destOrd="0" presId="urn:microsoft.com/office/officeart/2005/8/layout/default"/>
    <dgm:cxn modelId="{A234D866-14F7-4DCB-AF67-FF9D67C9CB2E}" type="presOf" srcId="{817BC756-72C6-449C-BBCA-3FC478065968}" destId="{CAF0ECD9-69E6-48D0-BEF7-8EFC787BFC0A}" srcOrd="0" destOrd="0" presId="urn:microsoft.com/office/officeart/2005/8/layout/default"/>
    <dgm:cxn modelId="{62B7E056-6E34-4718-B38B-F8080495B166}" srcId="{CEB9C82D-CA25-4909-87EC-964BDFAEC2CD}" destId="{817BC756-72C6-449C-BBCA-3FC478065968}" srcOrd="5" destOrd="0" parTransId="{C354B522-BC5D-4AEC-80A9-282CB343890A}" sibTransId="{5022C363-31B3-4DF9-B284-E8B862B56847}"/>
    <dgm:cxn modelId="{5587D47F-57DF-4724-A066-B9892636A671}" srcId="{CEB9C82D-CA25-4909-87EC-964BDFAEC2CD}" destId="{54CC5296-2F9E-4C1B-8F81-2B74D8A0565B}" srcOrd="0" destOrd="0" parTransId="{5ABC1A61-A14F-4D08-9020-D0363E2C34D2}" sibTransId="{897E3E5E-CE97-4BDE-B904-A25C8E17295E}"/>
    <dgm:cxn modelId="{A54AE985-E962-48E4-8B54-4E83E3508EC2}" srcId="{CEB9C82D-CA25-4909-87EC-964BDFAEC2CD}" destId="{BFA92F56-EA75-4C6D-AAF2-8416D4B04B63}" srcOrd="1" destOrd="0" parTransId="{2B2CEBAA-4204-4F0A-9D8C-CF8A0ABDBF64}" sibTransId="{B349590C-7288-4EF7-A590-71A56370A226}"/>
    <dgm:cxn modelId="{13F7339F-C5DF-4197-8D45-1BDD547B46D5}" srcId="{CEB9C82D-CA25-4909-87EC-964BDFAEC2CD}" destId="{B0765A48-639F-4D3B-8B1A-43C143A21761}" srcOrd="4" destOrd="0" parTransId="{92CFA938-0721-4C97-B50F-D7831A2ECF92}" sibTransId="{B030C210-775E-4755-92B9-84602401EF25}"/>
    <dgm:cxn modelId="{DFBF25B0-2631-44A4-8327-37DECFD62F9E}" type="presOf" srcId="{CEB9C82D-CA25-4909-87EC-964BDFAEC2CD}" destId="{E0228BAD-A99F-4D5A-8FD3-CD1EFDBFD6CE}" srcOrd="0" destOrd="0" presId="urn:microsoft.com/office/officeart/2005/8/layout/default"/>
    <dgm:cxn modelId="{DBF012CA-5949-4E0D-BE2F-B0BCD4D4BE83}" srcId="{CEB9C82D-CA25-4909-87EC-964BDFAEC2CD}" destId="{496EA002-2FCF-46F0-9E14-1F94D8093B2D}" srcOrd="3" destOrd="0" parTransId="{1BC409A6-9AA2-487C-8201-35E39C9A493A}" sibTransId="{67D5C335-24BA-4234-AF7F-B885F5B0FAC5}"/>
    <dgm:cxn modelId="{F6903DE7-7D7F-4F4F-9BA8-0F40F05FE6B2}" type="presOf" srcId="{BFA92F56-EA75-4C6D-AAF2-8416D4B04B63}" destId="{81959291-A15C-409A-B42A-3429C63588F2}" srcOrd="0" destOrd="0" presId="urn:microsoft.com/office/officeart/2005/8/layout/default"/>
    <dgm:cxn modelId="{03342FF7-A844-4466-A386-84CBC9AE30EC}" type="presOf" srcId="{496EA002-2FCF-46F0-9E14-1F94D8093B2D}" destId="{42EEFE83-3FDB-4F0B-BF53-C9C0F35A7366}" srcOrd="0" destOrd="0" presId="urn:microsoft.com/office/officeart/2005/8/layout/default"/>
    <dgm:cxn modelId="{826AF223-5B09-421B-8F2D-D83ACE3FA3E6}" type="presParOf" srcId="{E0228BAD-A99F-4D5A-8FD3-CD1EFDBFD6CE}" destId="{3729DB95-B799-4996-A352-114B8B45ECF3}" srcOrd="0" destOrd="0" presId="urn:microsoft.com/office/officeart/2005/8/layout/default"/>
    <dgm:cxn modelId="{791C2EBC-BA73-4108-B4C2-0348E73F3173}" type="presParOf" srcId="{E0228BAD-A99F-4D5A-8FD3-CD1EFDBFD6CE}" destId="{D5E5BABA-910B-49A8-BA8B-52C26680398F}" srcOrd="1" destOrd="0" presId="urn:microsoft.com/office/officeart/2005/8/layout/default"/>
    <dgm:cxn modelId="{72004CDC-6D18-463B-A98C-294B237C044A}" type="presParOf" srcId="{E0228BAD-A99F-4D5A-8FD3-CD1EFDBFD6CE}" destId="{81959291-A15C-409A-B42A-3429C63588F2}" srcOrd="2" destOrd="0" presId="urn:microsoft.com/office/officeart/2005/8/layout/default"/>
    <dgm:cxn modelId="{F89DCF9E-7D60-4BA0-A24A-183C2916B82D}" type="presParOf" srcId="{E0228BAD-A99F-4D5A-8FD3-CD1EFDBFD6CE}" destId="{C4D770E3-BD6D-4DC6-8D07-5D77DF3F5C8C}" srcOrd="3" destOrd="0" presId="urn:microsoft.com/office/officeart/2005/8/layout/default"/>
    <dgm:cxn modelId="{D1B1DB59-674F-4FD4-AA16-73AA5389F859}" type="presParOf" srcId="{E0228BAD-A99F-4D5A-8FD3-CD1EFDBFD6CE}" destId="{BD28E052-C28F-4132-87D4-702D56E92FA2}" srcOrd="4" destOrd="0" presId="urn:microsoft.com/office/officeart/2005/8/layout/default"/>
    <dgm:cxn modelId="{61EDBFBB-0CE0-4977-ABD8-4F059F00364B}" type="presParOf" srcId="{E0228BAD-A99F-4D5A-8FD3-CD1EFDBFD6CE}" destId="{52730937-A58E-448C-8C17-C7F72EB9B6DC}" srcOrd="5" destOrd="0" presId="urn:microsoft.com/office/officeart/2005/8/layout/default"/>
    <dgm:cxn modelId="{E08E827E-AB5F-42EB-869D-9F962645C210}" type="presParOf" srcId="{E0228BAD-A99F-4D5A-8FD3-CD1EFDBFD6CE}" destId="{42EEFE83-3FDB-4F0B-BF53-C9C0F35A7366}" srcOrd="6" destOrd="0" presId="urn:microsoft.com/office/officeart/2005/8/layout/default"/>
    <dgm:cxn modelId="{2ABE40D0-5CDC-42E1-B462-C8E7CD3E7D27}" type="presParOf" srcId="{E0228BAD-A99F-4D5A-8FD3-CD1EFDBFD6CE}" destId="{CF91EFCC-A377-4153-9C33-B968172729C7}" srcOrd="7" destOrd="0" presId="urn:microsoft.com/office/officeart/2005/8/layout/default"/>
    <dgm:cxn modelId="{62D7E3C8-2096-4A80-811C-34BDB1DAD373}" type="presParOf" srcId="{E0228BAD-A99F-4D5A-8FD3-CD1EFDBFD6CE}" destId="{1A6D97DB-3C40-4AFD-89A0-04FC549AAD5B}" srcOrd="8" destOrd="0" presId="urn:microsoft.com/office/officeart/2005/8/layout/default"/>
    <dgm:cxn modelId="{19B56BE8-89ED-4BE7-B65C-4B2880489196}" type="presParOf" srcId="{E0228BAD-A99F-4D5A-8FD3-CD1EFDBFD6CE}" destId="{8C6E03B3-2857-41BB-AE0D-1A1EA514D11F}" srcOrd="9" destOrd="0" presId="urn:microsoft.com/office/officeart/2005/8/layout/default"/>
    <dgm:cxn modelId="{F7EC1F67-3922-4126-84E1-4DCBA1E8208C}" type="presParOf" srcId="{E0228BAD-A99F-4D5A-8FD3-CD1EFDBFD6CE}" destId="{CAF0ECD9-69E6-48D0-BEF7-8EFC787BFC0A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69B7F3-FF24-4BC2-A2F3-D6B68A86547C}" type="doc">
      <dgm:prSet loTypeId="urn:microsoft.com/office/officeart/2005/8/layout/hList1" loCatId="list" qsTypeId="urn:microsoft.com/office/officeart/2005/8/quickstyle/simple1" qsCatId="simple" csTypeId="urn:microsoft.com/office/officeart/2005/8/colors/colorful1#6" csCatId="colorful" phldr="1"/>
      <dgm:spPr/>
      <dgm:t>
        <a:bodyPr/>
        <a:lstStyle/>
        <a:p>
          <a:endParaRPr lang="en-US"/>
        </a:p>
      </dgm:t>
    </dgm:pt>
    <dgm:pt modelId="{4057225B-2DEF-4D71-8FB3-105E0BC14863}">
      <dgm:prSet/>
      <dgm:spPr/>
      <dgm:t>
        <a:bodyPr/>
        <a:lstStyle/>
        <a:p>
          <a:pPr rtl="0"/>
          <a:r>
            <a:rPr lang="en-US" b="0" i="0"/>
            <a:t>Popular Python libraries</a:t>
          </a:r>
          <a:endParaRPr lang="en-US"/>
        </a:p>
      </dgm:t>
    </dgm:pt>
    <dgm:pt modelId="{406AE912-C92E-4374-BA6A-8C3C4C3C2904}" type="parTrans" cxnId="{9A42C638-9E56-4004-BA44-2FCC6545B818}">
      <dgm:prSet/>
      <dgm:spPr/>
      <dgm:t>
        <a:bodyPr/>
        <a:lstStyle/>
        <a:p>
          <a:endParaRPr lang="en-US"/>
        </a:p>
      </dgm:t>
    </dgm:pt>
    <dgm:pt modelId="{F3F7372D-2666-4D36-814D-37067B1B23A2}" type="sibTrans" cxnId="{9A42C638-9E56-4004-BA44-2FCC6545B818}">
      <dgm:prSet/>
      <dgm:spPr/>
      <dgm:t>
        <a:bodyPr/>
        <a:lstStyle/>
        <a:p>
          <a:endParaRPr lang="en-US"/>
        </a:p>
      </dgm:t>
    </dgm:pt>
    <dgm:pt modelId="{7DAA41E5-536B-44D2-BFBD-05E23833A182}">
      <dgm:prSet/>
      <dgm:spPr/>
      <dgm:t>
        <a:bodyPr/>
        <a:lstStyle/>
        <a:p>
          <a:pPr rtl="0"/>
          <a:r>
            <a:rPr lang="en-US" b="0" i="0"/>
            <a:t>NumPy</a:t>
          </a:r>
          <a:endParaRPr lang="en-US"/>
        </a:p>
      </dgm:t>
    </dgm:pt>
    <dgm:pt modelId="{D64F0C4E-52D8-45F1-92E3-D66D6028F2AF}" type="parTrans" cxnId="{151069F2-B4AB-4BC8-B3F4-FCDA85FB5E5D}">
      <dgm:prSet/>
      <dgm:spPr/>
      <dgm:t>
        <a:bodyPr/>
        <a:lstStyle/>
        <a:p>
          <a:endParaRPr lang="en-US"/>
        </a:p>
      </dgm:t>
    </dgm:pt>
    <dgm:pt modelId="{BB58A81A-B7E7-4048-A3A9-6186C5532FE6}" type="sibTrans" cxnId="{151069F2-B4AB-4BC8-B3F4-FCDA85FB5E5D}">
      <dgm:prSet/>
      <dgm:spPr/>
      <dgm:t>
        <a:bodyPr/>
        <a:lstStyle/>
        <a:p>
          <a:endParaRPr lang="en-US"/>
        </a:p>
      </dgm:t>
    </dgm:pt>
    <dgm:pt modelId="{33F2CC4A-EF03-4745-92E6-F07B962A3B6C}">
      <dgm:prSet/>
      <dgm:spPr/>
      <dgm:t>
        <a:bodyPr/>
        <a:lstStyle/>
        <a:p>
          <a:pPr rtl="0"/>
          <a:r>
            <a:rPr lang="en-US" b="0" i="0"/>
            <a:t>SciPy</a:t>
          </a:r>
          <a:endParaRPr lang="en-US"/>
        </a:p>
      </dgm:t>
    </dgm:pt>
    <dgm:pt modelId="{327FF7B0-C312-4397-A0BB-FBA192216667}" type="parTrans" cxnId="{C91322CC-4862-4F99-9C9C-07A1A429D4B2}">
      <dgm:prSet/>
      <dgm:spPr/>
      <dgm:t>
        <a:bodyPr/>
        <a:lstStyle/>
        <a:p>
          <a:endParaRPr lang="en-US"/>
        </a:p>
      </dgm:t>
    </dgm:pt>
    <dgm:pt modelId="{43E3F5DA-8BCE-43E6-AFEC-908F67358A45}" type="sibTrans" cxnId="{C91322CC-4862-4F99-9C9C-07A1A429D4B2}">
      <dgm:prSet/>
      <dgm:spPr/>
      <dgm:t>
        <a:bodyPr/>
        <a:lstStyle/>
        <a:p>
          <a:endParaRPr lang="en-US"/>
        </a:p>
      </dgm:t>
    </dgm:pt>
    <dgm:pt modelId="{5CE1BFAD-AF15-46D0-A01A-304C7FB49956}">
      <dgm:prSet/>
      <dgm:spPr/>
      <dgm:t>
        <a:bodyPr/>
        <a:lstStyle/>
        <a:p>
          <a:pPr rtl="0"/>
          <a:r>
            <a:rPr lang="en-US" b="1" i="0" dirty="0"/>
            <a:t>Pandas</a:t>
          </a:r>
          <a:endParaRPr lang="en-US" b="1" dirty="0"/>
        </a:p>
      </dgm:t>
    </dgm:pt>
    <dgm:pt modelId="{8D7081B1-5B04-4AA6-91A6-1E2D5FE4A673}" type="parTrans" cxnId="{02EDA383-6D14-44DF-99CE-685C0A851852}">
      <dgm:prSet/>
      <dgm:spPr/>
      <dgm:t>
        <a:bodyPr/>
        <a:lstStyle/>
        <a:p>
          <a:endParaRPr lang="en-US"/>
        </a:p>
      </dgm:t>
    </dgm:pt>
    <dgm:pt modelId="{8B86F533-C04B-411D-920C-EA53E6EA04F9}" type="sibTrans" cxnId="{02EDA383-6D14-44DF-99CE-685C0A851852}">
      <dgm:prSet/>
      <dgm:spPr/>
      <dgm:t>
        <a:bodyPr/>
        <a:lstStyle/>
        <a:p>
          <a:endParaRPr lang="en-US"/>
        </a:p>
      </dgm:t>
    </dgm:pt>
    <dgm:pt modelId="{2E3BEF97-889E-4FB3-BDC1-397C3AAD138E}">
      <dgm:prSet/>
      <dgm:spPr/>
      <dgm:t>
        <a:bodyPr/>
        <a:lstStyle/>
        <a:p>
          <a:pPr rtl="0"/>
          <a:r>
            <a:rPr lang="en-US" b="0" i="0" dirty="0" err="1"/>
            <a:t>SciKit</a:t>
          </a:r>
          <a:r>
            <a:rPr lang="en-US" b="0" i="0" dirty="0"/>
            <a:t>-Learn</a:t>
          </a:r>
          <a:endParaRPr lang="en-US" dirty="0"/>
        </a:p>
      </dgm:t>
    </dgm:pt>
    <dgm:pt modelId="{C7DBF88C-7B72-43DC-BF87-6A602A01907F}" type="parTrans" cxnId="{C50B209C-7924-4D00-BBBF-107AFFE7F41F}">
      <dgm:prSet/>
      <dgm:spPr/>
      <dgm:t>
        <a:bodyPr/>
        <a:lstStyle/>
        <a:p>
          <a:endParaRPr lang="en-US"/>
        </a:p>
      </dgm:t>
    </dgm:pt>
    <dgm:pt modelId="{E42F5D7C-3593-4C0C-A90E-9D729C5F52FC}" type="sibTrans" cxnId="{C50B209C-7924-4D00-BBBF-107AFFE7F41F}">
      <dgm:prSet/>
      <dgm:spPr/>
      <dgm:t>
        <a:bodyPr/>
        <a:lstStyle/>
        <a:p>
          <a:endParaRPr lang="en-US"/>
        </a:p>
      </dgm:t>
    </dgm:pt>
    <dgm:pt modelId="{9C30DA26-AD8B-4442-ADB3-B5CACB0F6184}">
      <dgm:prSet/>
      <dgm:spPr/>
      <dgm:t>
        <a:bodyPr/>
        <a:lstStyle/>
        <a:p>
          <a:pPr rtl="0"/>
          <a:r>
            <a:rPr lang="en-US" b="0" i="0"/>
            <a:t>Visualization libraries</a:t>
          </a:r>
          <a:endParaRPr lang="en-US"/>
        </a:p>
      </dgm:t>
    </dgm:pt>
    <dgm:pt modelId="{4C80E9A5-5C1C-4433-A80C-05BBED864256}" type="parTrans" cxnId="{48980B96-6A7D-438B-9EB0-AEAB53105D21}">
      <dgm:prSet/>
      <dgm:spPr/>
      <dgm:t>
        <a:bodyPr/>
        <a:lstStyle/>
        <a:p>
          <a:endParaRPr lang="en-US"/>
        </a:p>
      </dgm:t>
    </dgm:pt>
    <dgm:pt modelId="{230A0918-89EE-49C8-9588-DB16D99EBEFB}" type="sibTrans" cxnId="{48980B96-6A7D-438B-9EB0-AEAB53105D21}">
      <dgm:prSet/>
      <dgm:spPr/>
      <dgm:t>
        <a:bodyPr/>
        <a:lstStyle/>
        <a:p>
          <a:endParaRPr lang="en-US"/>
        </a:p>
      </dgm:t>
    </dgm:pt>
    <dgm:pt modelId="{768388B3-C4FB-4779-A5A9-F074B9F949DF}">
      <dgm:prSet/>
      <dgm:spPr/>
      <dgm:t>
        <a:bodyPr/>
        <a:lstStyle/>
        <a:p>
          <a:pPr rtl="0"/>
          <a:r>
            <a:rPr lang="en-US" b="1" i="0" dirty="0" err="1"/>
            <a:t>Matplotlib</a:t>
          </a:r>
          <a:endParaRPr lang="en-US" b="1" dirty="0"/>
        </a:p>
      </dgm:t>
    </dgm:pt>
    <dgm:pt modelId="{E88A4E51-C1B4-4BD8-87DF-16FAF19DB56B}" type="parTrans" cxnId="{21163AE7-6FCF-43ED-B9CD-B8143F73D4E1}">
      <dgm:prSet/>
      <dgm:spPr/>
      <dgm:t>
        <a:bodyPr/>
        <a:lstStyle/>
        <a:p>
          <a:endParaRPr lang="en-US"/>
        </a:p>
      </dgm:t>
    </dgm:pt>
    <dgm:pt modelId="{5BAECBB6-1C95-4096-98B2-1B573369156C}" type="sibTrans" cxnId="{21163AE7-6FCF-43ED-B9CD-B8143F73D4E1}">
      <dgm:prSet/>
      <dgm:spPr/>
      <dgm:t>
        <a:bodyPr/>
        <a:lstStyle/>
        <a:p>
          <a:endParaRPr lang="en-US"/>
        </a:p>
      </dgm:t>
    </dgm:pt>
    <dgm:pt modelId="{93603719-1793-4839-BD07-A0E691934E14}">
      <dgm:prSet/>
      <dgm:spPr/>
      <dgm:t>
        <a:bodyPr/>
        <a:lstStyle/>
        <a:p>
          <a:pPr rtl="0"/>
          <a:r>
            <a:rPr lang="en-US" b="0" i="0" dirty="0" err="1"/>
            <a:t>Seaborn</a:t>
          </a:r>
          <a:endParaRPr lang="en-US" dirty="0"/>
        </a:p>
      </dgm:t>
    </dgm:pt>
    <dgm:pt modelId="{7CD6A989-B756-4079-9D5E-70176F466F82}" type="parTrans" cxnId="{BF1E9F58-299E-4419-9B19-9B891C96F8CA}">
      <dgm:prSet/>
      <dgm:spPr/>
      <dgm:t>
        <a:bodyPr/>
        <a:lstStyle/>
        <a:p>
          <a:endParaRPr lang="en-US"/>
        </a:p>
      </dgm:t>
    </dgm:pt>
    <dgm:pt modelId="{B0811220-0D40-4AB1-AA79-4B4A768B8F38}" type="sibTrans" cxnId="{BF1E9F58-299E-4419-9B19-9B891C96F8CA}">
      <dgm:prSet/>
      <dgm:spPr/>
      <dgm:t>
        <a:bodyPr/>
        <a:lstStyle/>
        <a:p>
          <a:endParaRPr lang="en-US"/>
        </a:p>
      </dgm:t>
    </dgm:pt>
    <dgm:pt modelId="{BFA8E88A-37AB-434F-8911-4FFB81B2C49B}" type="pres">
      <dgm:prSet presAssocID="{6E69B7F3-FF24-4BC2-A2F3-D6B68A86547C}" presName="Name0" presStyleCnt="0">
        <dgm:presLayoutVars>
          <dgm:dir/>
          <dgm:animLvl val="lvl"/>
          <dgm:resizeHandles val="exact"/>
        </dgm:presLayoutVars>
      </dgm:prSet>
      <dgm:spPr/>
    </dgm:pt>
    <dgm:pt modelId="{8D85210E-5A49-4FC5-8BB8-451006A5E588}" type="pres">
      <dgm:prSet presAssocID="{4057225B-2DEF-4D71-8FB3-105E0BC14863}" presName="composite" presStyleCnt="0"/>
      <dgm:spPr/>
    </dgm:pt>
    <dgm:pt modelId="{584EF98B-B21C-412C-B8A4-90A737BEBD51}" type="pres">
      <dgm:prSet presAssocID="{4057225B-2DEF-4D71-8FB3-105E0BC14863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02DFE52-763A-4AFF-9358-A690900393AD}" type="pres">
      <dgm:prSet presAssocID="{4057225B-2DEF-4D71-8FB3-105E0BC14863}" presName="desTx" presStyleLbl="alignAccFollowNode1" presStyleIdx="0" presStyleCnt="2">
        <dgm:presLayoutVars>
          <dgm:bulletEnabled val="1"/>
        </dgm:presLayoutVars>
      </dgm:prSet>
      <dgm:spPr/>
    </dgm:pt>
    <dgm:pt modelId="{E7624D1B-6E6F-4495-B521-E7D5BC585864}" type="pres">
      <dgm:prSet presAssocID="{F3F7372D-2666-4D36-814D-37067B1B23A2}" presName="space" presStyleCnt="0"/>
      <dgm:spPr/>
    </dgm:pt>
    <dgm:pt modelId="{FC7539DA-91CE-4DA8-AB23-D121115EA652}" type="pres">
      <dgm:prSet presAssocID="{9C30DA26-AD8B-4442-ADB3-B5CACB0F6184}" presName="composite" presStyleCnt="0"/>
      <dgm:spPr/>
    </dgm:pt>
    <dgm:pt modelId="{90220FF3-C483-4CB5-A6B1-6D2264741FB5}" type="pres">
      <dgm:prSet presAssocID="{9C30DA26-AD8B-4442-ADB3-B5CACB0F618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35645F2-A323-4EA8-95D0-1A5C3E630CDD}" type="pres">
      <dgm:prSet presAssocID="{9C30DA26-AD8B-4442-ADB3-B5CACB0F6184}" presName="desTx" presStyleLbl="alignAccFollowNode1" presStyleIdx="1" presStyleCnt="2" custLinFactNeighborX="1105" custLinFactNeighborY="1084">
        <dgm:presLayoutVars>
          <dgm:bulletEnabled val="1"/>
        </dgm:presLayoutVars>
      </dgm:prSet>
      <dgm:spPr/>
    </dgm:pt>
  </dgm:ptLst>
  <dgm:cxnLst>
    <dgm:cxn modelId="{4B48FA05-73E3-4A44-99AB-BFEA183368F5}" type="presOf" srcId="{6E69B7F3-FF24-4BC2-A2F3-D6B68A86547C}" destId="{BFA8E88A-37AB-434F-8911-4FFB81B2C49B}" srcOrd="0" destOrd="0" presId="urn:microsoft.com/office/officeart/2005/8/layout/hList1"/>
    <dgm:cxn modelId="{98547409-75CE-4042-9E9A-CF1D994EA169}" type="presOf" srcId="{2E3BEF97-889E-4FB3-BDC1-397C3AAD138E}" destId="{202DFE52-763A-4AFF-9358-A690900393AD}" srcOrd="0" destOrd="3" presId="urn:microsoft.com/office/officeart/2005/8/layout/hList1"/>
    <dgm:cxn modelId="{2593F81C-A6BD-40C9-883E-A1FA0E5B0213}" type="presOf" srcId="{4057225B-2DEF-4D71-8FB3-105E0BC14863}" destId="{584EF98B-B21C-412C-B8A4-90A737BEBD51}" srcOrd="0" destOrd="0" presId="urn:microsoft.com/office/officeart/2005/8/layout/hList1"/>
    <dgm:cxn modelId="{9A42C638-9E56-4004-BA44-2FCC6545B818}" srcId="{6E69B7F3-FF24-4BC2-A2F3-D6B68A86547C}" destId="{4057225B-2DEF-4D71-8FB3-105E0BC14863}" srcOrd="0" destOrd="0" parTransId="{406AE912-C92E-4374-BA6A-8C3C4C3C2904}" sibTransId="{F3F7372D-2666-4D36-814D-37067B1B23A2}"/>
    <dgm:cxn modelId="{13E3EF3A-5B95-4F59-93F6-240E9410D43D}" type="presOf" srcId="{768388B3-C4FB-4779-A5A9-F074B9F949DF}" destId="{B35645F2-A323-4EA8-95D0-1A5C3E630CDD}" srcOrd="0" destOrd="0" presId="urn:microsoft.com/office/officeart/2005/8/layout/hList1"/>
    <dgm:cxn modelId="{43F7943F-24B2-4353-BD15-5A09C728D4C9}" type="presOf" srcId="{5CE1BFAD-AF15-46D0-A01A-304C7FB49956}" destId="{202DFE52-763A-4AFF-9358-A690900393AD}" srcOrd="0" destOrd="2" presId="urn:microsoft.com/office/officeart/2005/8/layout/hList1"/>
    <dgm:cxn modelId="{BF1E9F58-299E-4419-9B19-9B891C96F8CA}" srcId="{9C30DA26-AD8B-4442-ADB3-B5CACB0F6184}" destId="{93603719-1793-4839-BD07-A0E691934E14}" srcOrd="1" destOrd="0" parTransId="{7CD6A989-B756-4079-9D5E-70176F466F82}" sibTransId="{B0811220-0D40-4AB1-AA79-4B4A768B8F38}"/>
    <dgm:cxn modelId="{02EDA383-6D14-44DF-99CE-685C0A851852}" srcId="{4057225B-2DEF-4D71-8FB3-105E0BC14863}" destId="{5CE1BFAD-AF15-46D0-A01A-304C7FB49956}" srcOrd="2" destOrd="0" parTransId="{8D7081B1-5B04-4AA6-91A6-1E2D5FE4A673}" sibTransId="{8B86F533-C04B-411D-920C-EA53E6EA04F9}"/>
    <dgm:cxn modelId="{48980B96-6A7D-438B-9EB0-AEAB53105D21}" srcId="{6E69B7F3-FF24-4BC2-A2F3-D6B68A86547C}" destId="{9C30DA26-AD8B-4442-ADB3-B5CACB0F6184}" srcOrd="1" destOrd="0" parTransId="{4C80E9A5-5C1C-4433-A80C-05BBED864256}" sibTransId="{230A0918-89EE-49C8-9588-DB16D99EBEFB}"/>
    <dgm:cxn modelId="{C50B209C-7924-4D00-BBBF-107AFFE7F41F}" srcId="{4057225B-2DEF-4D71-8FB3-105E0BC14863}" destId="{2E3BEF97-889E-4FB3-BDC1-397C3AAD138E}" srcOrd="3" destOrd="0" parTransId="{C7DBF88C-7B72-43DC-BF87-6A602A01907F}" sibTransId="{E42F5D7C-3593-4C0C-A90E-9D729C5F52FC}"/>
    <dgm:cxn modelId="{3CF4CCC2-E5AD-4EBB-8890-15A610224493}" type="presOf" srcId="{33F2CC4A-EF03-4745-92E6-F07B962A3B6C}" destId="{202DFE52-763A-4AFF-9358-A690900393AD}" srcOrd="0" destOrd="1" presId="urn:microsoft.com/office/officeart/2005/8/layout/hList1"/>
    <dgm:cxn modelId="{8062BDC7-0008-4BF1-B354-7806F85EA3A2}" type="presOf" srcId="{9C30DA26-AD8B-4442-ADB3-B5CACB0F6184}" destId="{90220FF3-C483-4CB5-A6B1-6D2264741FB5}" srcOrd="0" destOrd="0" presId="urn:microsoft.com/office/officeart/2005/8/layout/hList1"/>
    <dgm:cxn modelId="{C91322CC-4862-4F99-9C9C-07A1A429D4B2}" srcId="{4057225B-2DEF-4D71-8FB3-105E0BC14863}" destId="{33F2CC4A-EF03-4745-92E6-F07B962A3B6C}" srcOrd="1" destOrd="0" parTransId="{327FF7B0-C312-4397-A0BB-FBA192216667}" sibTransId="{43E3F5DA-8BCE-43E6-AFEC-908F67358A45}"/>
    <dgm:cxn modelId="{A82F1BDF-431F-4C96-8449-93A1E9A454EA}" type="presOf" srcId="{7DAA41E5-536B-44D2-BFBD-05E23833A182}" destId="{202DFE52-763A-4AFF-9358-A690900393AD}" srcOrd="0" destOrd="0" presId="urn:microsoft.com/office/officeart/2005/8/layout/hList1"/>
    <dgm:cxn modelId="{21163AE7-6FCF-43ED-B9CD-B8143F73D4E1}" srcId="{9C30DA26-AD8B-4442-ADB3-B5CACB0F6184}" destId="{768388B3-C4FB-4779-A5A9-F074B9F949DF}" srcOrd="0" destOrd="0" parTransId="{E88A4E51-C1B4-4BD8-87DF-16FAF19DB56B}" sibTransId="{5BAECBB6-1C95-4096-98B2-1B573369156C}"/>
    <dgm:cxn modelId="{90A335EE-CE94-4F5F-A7D0-1E5C2DC4E32B}" type="presOf" srcId="{93603719-1793-4839-BD07-A0E691934E14}" destId="{B35645F2-A323-4EA8-95D0-1A5C3E630CDD}" srcOrd="0" destOrd="1" presId="urn:microsoft.com/office/officeart/2005/8/layout/hList1"/>
    <dgm:cxn modelId="{151069F2-B4AB-4BC8-B3F4-FCDA85FB5E5D}" srcId="{4057225B-2DEF-4D71-8FB3-105E0BC14863}" destId="{7DAA41E5-536B-44D2-BFBD-05E23833A182}" srcOrd="0" destOrd="0" parTransId="{D64F0C4E-52D8-45F1-92E3-D66D6028F2AF}" sibTransId="{BB58A81A-B7E7-4048-A3A9-6186C5532FE6}"/>
    <dgm:cxn modelId="{AEC3D88D-0A61-44FF-8469-3326E5474339}" type="presParOf" srcId="{BFA8E88A-37AB-434F-8911-4FFB81B2C49B}" destId="{8D85210E-5A49-4FC5-8BB8-451006A5E588}" srcOrd="0" destOrd="0" presId="urn:microsoft.com/office/officeart/2005/8/layout/hList1"/>
    <dgm:cxn modelId="{A6E540E6-B644-4C63-A949-871D7FDB4E5E}" type="presParOf" srcId="{8D85210E-5A49-4FC5-8BB8-451006A5E588}" destId="{584EF98B-B21C-412C-B8A4-90A737BEBD51}" srcOrd="0" destOrd="0" presId="urn:microsoft.com/office/officeart/2005/8/layout/hList1"/>
    <dgm:cxn modelId="{C8E148FD-66BE-4528-BBF9-448AB02DB2CF}" type="presParOf" srcId="{8D85210E-5A49-4FC5-8BB8-451006A5E588}" destId="{202DFE52-763A-4AFF-9358-A690900393AD}" srcOrd="1" destOrd="0" presId="urn:microsoft.com/office/officeart/2005/8/layout/hList1"/>
    <dgm:cxn modelId="{4C38B28E-3D66-4D82-812A-30F1B6B92E0A}" type="presParOf" srcId="{BFA8E88A-37AB-434F-8911-4FFB81B2C49B}" destId="{E7624D1B-6E6F-4495-B521-E7D5BC585864}" srcOrd="1" destOrd="0" presId="urn:microsoft.com/office/officeart/2005/8/layout/hList1"/>
    <dgm:cxn modelId="{3DAE92F0-84B8-488D-9CB0-BD8D7B986E2C}" type="presParOf" srcId="{BFA8E88A-37AB-434F-8911-4FFB81B2C49B}" destId="{FC7539DA-91CE-4DA8-AB23-D121115EA652}" srcOrd="2" destOrd="0" presId="urn:microsoft.com/office/officeart/2005/8/layout/hList1"/>
    <dgm:cxn modelId="{CE570AEA-2E66-44C9-A581-64EC6FE162E1}" type="presParOf" srcId="{FC7539DA-91CE-4DA8-AB23-D121115EA652}" destId="{90220FF3-C483-4CB5-A6B1-6D2264741FB5}" srcOrd="0" destOrd="0" presId="urn:microsoft.com/office/officeart/2005/8/layout/hList1"/>
    <dgm:cxn modelId="{ACD03B9D-9739-4843-879F-E854017ADE19}" type="presParOf" srcId="{FC7539DA-91CE-4DA8-AB23-D121115EA652}" destId="{B35645F2-A323-4EA8-95D0-1A5C3E630CD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1910E1-9239-4A1D-AAE5-B068D6827A43}" type="doc">
      <dgm:prSet loTypeId="urn:microsoft.com/office/officeart/2005/8/layout/b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6459B9D-B699-4D8C-A08B-4294F1E46029}">
      <dgm:prSet/>
      <dgm:spPr/>
      <dgm:t>
        <a:bodyPr/>
        <a:lstStyle/>
        <a:p>
          <a:pPr algn="l" latinLnBrk="0"/>
          <a:r>
            <a:rPr lang="en-US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수집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74067FA2-A87F-4086-B471-FF277E03841A}" type="parTrans" cxnId="{2CAC5D22-5393-492A-B3E1-450B7C0F8063}">
      <dgm:prSet/>
      <dgm:spPr/>
      <dgm:t>
        <a:bodyPr/>
        <a:lstStyle/>
        <a:p>
          <a:endParaRPr lang="en-US"/>
        </a:p>
      </dgm:t>
    </dgm:pt>
    <dgm:pt modelId="{A0D7F006-6392-47F3-B0B4-5BA475CF7EB0}" type="sibTrans" cxnId="{2CAC5D22-5393-492A-B3E1-450B7C0F8063}">
      <dgm:prSet/>
      <dgm:spPr/>
      <dgm:t>
        <a:bodyPr/>
        <a:lstStyle/>
        <a:p>
          <a:endParaRPr lang="en-US"/>
        </a:p>
      </dgm:t>
    </dgm:pt>
    <dgm:pt modelId="{0C68CB00-404F-4B1B-A134-BC7E44AABA25}">
      <dgm:prSet/>
      <dgm:spPr/>
      <dgm:t>
        <a:bodyPr/>
        <a:lstStyle/>
        <a:p>
          <a:pPr algn="l" latinLnBrk="0"/>
          <a:r>
            <a:rPr lang="en-US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정제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CE9A8BC8-C944-44A3-8565-180C8B0D64F3}" type="parTrans" cxnId="{1AF9C908-2AC4-40B3-8323-089041D0FA77}">
      <dgm:prSet/>
      <dgm:spPr/>
      <dgm:t>
        <a:bodyPr/>
        <a:lstStyle/>
        <a:p>
          <a:endParaRPr lang="en-US"/>
        </a:p>
      </dgm:t>
    </dgm:pt>
    <dgm:pt modelId="{8BE85FEE-B355-494C-B569-1CB8D39D3ADA}" type="sibTrans" cxnId="{1AF9C908-2AC4-40B3-8323-089041D0FA77}">
      <dgm:prSet/>
      <dgm:spPr/>
      <dgm:t>
        <a:bodyPr/>
        <a:lstStyle/>
        <a:p>
          <a:endParaRPr lang="en-US"/>
        </a:p>
      </dgm:t>
    </dgm:pt>
    <dgm:pt modelId="{A1BFE61C-245F-4248-8757-274F32152358}">
      <dgm:prSet/>
      <dgm:spPr/>
      <dgm:t>
        <a:bodyPr/>
        <a:lstStyle/>
        <a:p>
          <a:pPr latinLnBrk="0"/>
          <a:r>
            <a:rPr lang="en-US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분석</a:t>
          </a:r>
          <a:r>
            <a: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및 시각화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DD713DDD-6C4C-4F4C-A22B-C7F78602F05F}" type="parTrans" cxnId="{C210970B-84D8-4DB4-A336-2264C3189332}">
      <dgm:prSet/>
      <dgm:spPr/>
      <dgm:t>
        <a:bodyPr/>
        <a:lstStyle/>
        <a:p>
          <a:endParaRPr lang="en-US"/>
        </a:p>
      </dgm:t>
    </dgm:pt>
    <dgm:pt modelId="{26656E05-55AE-4C05-939D-913C0B0875EC}" type="sibTrans" cxnId="{C210970B-84D8-4DB4-A336-2264C3189332}">
      <dgm:prSet/>
      <dgm:spPr/>
      <dgm:t>
        <a:bodyPr/>
        <a:lstStyle/>
        <a:p>
          <a:endParaRPr lang="en-US"/>
        </a:p>
      </dgm:t>
    </dgm:pt>
    <dgm:pt modelId="{B7F61A6D-5392-45E6-9768-CD1B2EDC9862}">
      <dgm:prSet/>
      <dgm:spPr/>
      <dgm:t>
        <a:bodyPr/>
        <a:lstStyle/>
        <a:p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인사이트 도출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B72D5DA-61B8-4C61-9AB1-76B573D1A08F}" type="parTrans" cxnId="{A408D40F-4982-423E-9E29-E45105A6A022}">
      <dgm:prSet/>
      <dgm:spPr/>
      <dgm:t>
        <a:bodyPr/>
        <a:lstStyle/>
        <a:p>
          <a:endParaRPr lang="en-US"/>
        </a:p>
      </dgm:t>
    </dgm:pt>
    <dgm:pt modelId="{3C6D073F-0587-4CF1-9503-1EBD3FEAC78D}" type="sibTrans" cxnId="{A408D40F-4982-423E-9E29-E45105A6A022}">
      <dgm:prSet/>
      <dgm:spPr/>
      <dgm:t>
        <a:bodyPr/>
        <a:lstStyle/>
        <a:p>
          <a:endParaRPr lang="en-US"/>
        </a:p>
      </dgm:t>
    </dgm:pt>
    <dgm:pt modelId="{4C5840ED-6682-4797-B3C4-BFBADAE61ACF}">
      <dgm:prSet/>
      <dgm:spPr/>
      <dgm:t>
        <a:bodyPr/>
        <a:lstStyle/>
        <a:p>
          <a:pPr algn="ctr" latinLnBrk="0">
            <a:buNone/>
          </a:pP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엑셀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CSV,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데이터베이스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9797D319-E6F2-4D1E-88A3-E3DCACCC1742}" type="parTrans" cxnId="{4EC27F46-0FEC-408D-AA8E-8AF6C767085C}">
      <dgm:prSet/>
      <dgm:spPr/>
      <dgm:t>
        <a:bodyPr/>
        <a:lstStyle/>
        <a:p>
          <a:endParaRPr lang="en-US"/>
        </a:p>
      </dgm:t>
    </dgm:pt>
    <dgm:pt modelId="{FBA9A6C3-3D23-4191-AF98-9C77B807898C}" type="sibTrans" cxnId="{4EC27F46-0FEC-408D-AA8E-8AF6C767085C}">
      <dgm:prSet/>
      <dgm:spPr/>
      <dgm:t>
        <a:bodyPr/>
        <a:lstStyle/>
        <a:p>
          <a:endParaRPr lang="en-US"/>
        </a:p>
      </dgm:t>
    </dgm:pt>
    <dgm:pt modelId="{C0DCE39A-D243-4C15-AA93-BBE092E9AD4A}">
      <dgm:prSet/>
      <dgm:spPr/>
      <dgm:t>
        <a:bodyPr/>
        <a:lstStyle/>
        <a:p>
          <a:pPr algn="ctr" latinLnBrk="0">
            <a:buNone/>
          </a:pP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결측치·이상치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탐색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데이터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BA8A1474-7613-4A51-A49F-B93F1423E799}" type="parTrans" cxnId="{7FD7AFDE-323D-4BC5-8F3E-EFE4942CBFC3}">
      <dgm:prSet/>
      <dgm:spPr/>
      <dgm:t>
        <a:bodyPr/>
        <a:lstStyle/>
        <a:p>
          <a:endParaRPr lang="en-US"/>
        </a:p>
      </dgm:t>
    </dgm:pt>
    <dgm:pt modelId="{7453A393-00A9-44EB-A9A6-94D47A573C3D}" type="sibTrans" cxnId="{7FD7AFDE-323D-4BC5-8F3E-EFE4942CBFC3}">
      <dgm:prSet/>
      <dgm:spPr/>
      <dgm:t>
        <a:bodyPr/>
        <a:lstStyle/>
        <a:p>
          <a:endParaRPr lang="en-US"/>
        </a:p>
      </dgm:t>
    </dgm:pt>
    <dgm:pt modelId="{1470AA39-C8C1-4A05-950C-6DF29A6897DA}">
      <dgm:prSet/>
      <dgm:spPr/>
      <dgm:t>
        <a:bodyPr/>
        <a:lstStyle/>
        <a:p>
          <a:pPr latinLnBrk="0">
            <a:buNone/>
          </a:pP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통계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분석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추세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분석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상관관계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탐색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그래프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40E2B571-FB97-4B87-A2E3-959F0488E231}" type="parTrans" cxnId="{AF32DD4D-5F61-4B1F-B138-9B731D4946AD}">
      <dgm:prSet/>
      <dgm:spPr/>
      <dgm:t>
        <a:bodyPr/>
        <a:lstStyle/>
        <a:p>
          <a:endParaRPr lang="en-US"/>
        </a:p>
      </dgm:t>
    </dgm:pt>
    <dgm:pt modelId="{4522F902-8BDA-4C2D-ADD0-AAE3609B5E25}" type="sibTrans" cxnId="{AF32DD4D-5F61-4B1F-B138-9B731D4946AD}">
      <dgm:prSet/>
      <dgm:spPr/>
      <dgm:t>
        <a:bodyPr/>
        <a:lstStyle/>
        <a:p>
          <a:endParaRPr lang="en-US"/>
        </a:p>
      </dgm:t>
    </dgm:pt>
    <dgm:pt modelId="{EBEA1E49-5B1B-4734-B4CD-64E075721AAF}">
      <dgm:prSet/>
      <dgm:spPr/>
      <dgm:t>
        <a:bodyPr/>
        <a:lstStyle/>
        <a:p>
          <a:pPr latinLnBrk="0">
            <a:buNone/>
          </a:pP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분석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결과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요약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대시보드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구성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보고서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초안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작성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96B92F4E-1256-4542-9310-CE0C9324FD8E}" type="parTrans" cxnId="{C2319711-FAA1-41F4-BEED-649AC6022265}">
      <dgm:prSet/>
      <dgm:spPr/>
      <dgm:t>
        <a:bodyPr/>
        <a:lstStyle/>
        <a:p>
          <a:endParaRPr lang="en-US"/>
        </a:p>
      </dgm:t>
    </dgm:pt>
    <dgm:pt modelId="{5D840320-838E-43A4-B7F0-E198E4F359A8}" type="sibTrans" cxnId="{C2319711-FAA1-41F4-BEED-649AC6022265}">
      <dgm:prSet/>
      <dgm:spPr/>
      <dgm:t>
        <a:bodyPr/>
        <a:lstStyle/>
        <a:p>
          <a:endParaRPr lang="en-US"/>
        </a:p>
      </dgm:t>
    </dgm:pt>
    <dgm:pt modelId="{C9211E85-FFF3-4F45-8E4E-3D282386537D}">
      <dgm:prSet/>
      <dgm:spPr/>
      <dgm:t>
        <a:bodyPr/>
        <a:lstStyle/>
        <a:p>
          <a:pPr latinLnBrk="0"/>
          <a:r>
            <a:rPr lang="en-US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서 및 의사결정 지원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84B0F1BC-E0C2-4F77-BFE8-36556BE0E7D9}" type="parTrans" cxnId="{56267D84-1364-4192-AB18-807544E264D8}">
      <dgm:prSet/>
      <dgm:spPr/>
      <dgm:t>
        <a:bodyPr/>
        <a:lstStyle/>
        <a:p>
          <a:endParaRPr lang="en-US"/>
        </a:p>
      </dgm:t>
    </dgm:pt>
    <dgm:pt modelId="{E7CF6A3D-D402-49E1-9829-A9C5E4DFEE6B}" type="sibTrans" cxnId="{56267D84-1364-4192-AB18-807544E264D8}">
      <dgm:prSet/>
      <dgm:spPr/>
      <dgm:t>
        <a:bodyPr/>
        <a:lstStyle/>
        <a:p>
          <a:endParaRPr lang="en-US"/>
        </a:p>
      </dgm:t>
    </dgm:pt>
    <dgm:pt modelId="{A22B7C11-65BC-4F7F-8A20-2C1585136E7E}">
      <dgm:prSet/>
      <dgm:spPr/>
      <dgm:t>
        <a:bodyPr/>
        <a:lstStyle/>
        <a:p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주요 원인 해석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패턴 발견</a:t>
          </a:r>
          <a:r>
            <a: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개선 방안 제안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628227FA-03D8-4CD7-AD5B-AEE37BEF11BC}" type="parTrans" cxnId="{AF05862E-F959-4A81-87FA-B5FAAC399333}">
      <dgm:prSet/>
      <dgm:spPr/>
      <dgm:t>
        <a:bodyPr/>
        <a:lstStyle/>
        <a:p>
          <a:endParaRPr lang="en-US"/>
        </a:p>
      </dgm:t>
    </dgm:pt>
    <dgm:pt modelId="{58444B0B-2C29-4BCC-8B36-8F22C78F61F8}" type="sibTrans" cxnId="{AF05862E-F959-4A81-87FA-B5FAAC399333}">
      <dgm:prSet/>
      <dgm:spPr/>
      <dgm:t>
        <a:bodyPr/>
        <a:lstStyle/>
        <a:p>
          <a:endParaRPr lang="en-US"/>
        </a:p>
      </dgm:t>
    </dgm:pt>
    <dgm:pt modelId="{9AC5E859-9259-4B0B-9318-DDF5125F5EE9}">
      <dgm:prSet/>
      <dgm:spPr/>
      <dgm:t>
        <a:bodyPr/>
        <a:lstStyle/>
        <a:p>
          <a:pPr algn="ctr" latinLnBrk="0">
            <a:buNone/>
          </a:pP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로그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설문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데이터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13859E8F-A225-4B3C-880C-6B3D024DF3CD}" type="parTrans" cxnId="{8B110325-EE63-4255-BE9B-9060AA6C0D6D}">
      <dgm:prSet/>
      <dgm:spPr/>
      <dgm:t>
        <a:bodyPr/>
        <a:lstStyle/>
        <a:p>
          <a:endParaRPr lang="en-US"/>
        </a:p>
      </dgm:t>
    </dgm:pt>
    <dgm:pt modelId="{0BB25331-843A-40A8-A0C1-1A2787C924B9}" type="sibTrans" cxnId="{8B110325-EE63-4255-BE9B-9060AA6C0D6D}">
      <dgm:prSet/>
      <dgm:spPr/>
      <dgm:t>
        <a:bodyPr/>
        <a:lstStyle/>
        <a:p>
          <a:endParaRPr lang="en-US"/>
        </a:p>
      </dgm:t>
    </dgm:pt>
    <dgm:pt modelId="{CC220FEF-6B5B-4566-8AD2-A5A71339ABE7}">
      <dgm:prSet/>
      <dgm:spPr/>
      <dgm:t>
        <a:bodyPr/>
        <a:lstStyle/>
        <a:p>
          <a:pPr algn="ctr" latinLnBrk="0">
            <a:buNone/>
          </a:pP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유형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파악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정제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코드</a:t>
          </a:r>
          <a:r>
            <a:rPr lang="en-US" b="0" i="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b="0" i="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</a:t>
          </a:r>
          <a:endParaRPr lang="en-US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gm:t>
    </dgm:pt>
    <dgm:pt modelId="{09D75FE8-BA1E-434A-B827-680524BAC787}" type="parTrans" cxnId="{C17B09B1-439F-4E60-BFE0-9A3E1B96307C}">
      <dgm:prSet/>
      <dgm:spPr/>
      <dgm:t>
        <a:bodyPr/>
        <a:lstStyle/>
        <a:p>
          <a:endParaRPr lang="en-US"/>
        </a:p>
      </dgm:t>
    </dgm:pt>
    <dgm:pt modelId="{76E8D1B7-2FDF-45D3-93CD-57527BE1A337}" type="sibTrans" cxnId="{C17B09B1-439F-4E60-BFE0-9A3E1B96307C}">
      <dgm:prSet/>
      <dgm:spPr/>
      <dgm:t>
        <a:bodyPr/>
        <a:lstStyle/>
        <a:p>
          <a:endParaRPr lang="en-US"/>
        </a:p>
      </dgm:t>
    </dgm:pt>
    <dgm:pt modelId="{156B02BE-9690-4C57-A9D1-28D372AA968D}" type="pres">
      <dgm:prSet presAssocID="{D01910E1-9239-4A1D-AAE5-B068D6827A43}" presName="Name0" presStyleCnt="0">
        <dgm:presLayoutVars>
          <dgm:dir/>
          <dgm:resizeHandles val="exact"/>
        </dgm:presLayoutVars>
      </dgm:prSet>
      <dgm:spPr/>
    </dgm:pt>
    <dgm:pt modelId="{43723E3B-4D6F-4B24-9346-7BEA145B447F}" type="pres">
      <dgm:prSet presAssocID="{56459B9D-B699-4D8C-A08B-4294F1E46029}" presName="node" presStyleLbl="node1" presStyleIdx="0" presStyleCnt="5" custLinFactNeighborX="-266" custLinFactNeighborY="1227">
        <dgm:presLayoutVars>
          <dgm:bulletEnabled val="1"/>
        </dgm:presLayoutVars>
      </dgm:prSet>
      <dgm:spPr/>
    </dgm:pt>
    <dgm:pt modelId="{C67CC947-8587-437E-9793-979DA8D89F40}" type="pres">
      <dgm:prSet presAssocID="{A0D7F006-6392-47F3-B0B4-5BA475CF7EB0}" presName="sibTrans" presStyleLbl="sibTrans1D1" presStyleIdx="0" presStyleCnt="4"/>
      <dgm:spPr/>
    </dgm:pt>
    <dgm:pt modelId="{5A1172C0-C889-4EC9-A682-8FB89E12CCEC}" type="pres">
      <dgm:prSet presAssocID="{A0D7F006-6392-47F3-B0B4-5BA475CF7EB0}" presName="connectorText" presStyleLbl="sibTrans1D1" presStyleIdx="0" presStyleCnt="4"/>
      <dgm:spPr/>
    </dgm:pt>
    <dgm:pt modelId="{3A88C261-AD07-4953-90F1-3B3239B1A5A2}" type="pres">
      <dgm:prSet presAssocID="{0C68CB00-404F-4B1B-A134-BC7E44AABA25}" presName="node" presStyleLbl="node1" presStyleIdx="1" presStyleCnt="5" custLinFactNeighborX="-266" custLinFactNeighborY="1227">
        <dgm:presLayoutVars>
          <dgm:bulletEnabled val="1"/>
        </dgm:presLayoutVars>
      </dgm:prSet>
      <dgm:spPr/>
    </dgm:pt>
    <dgm:pt modelId="{55112437-2FAC-4DD0-926A-580643B30445}" type="pres">
      <dgm:prSet presAssocID="{8BE85FEE-B355-494C-B569-1CB8D39D3ADA}" presName="sibTrans" presStyleLbl="sibTrans1D1" presStyleIdx="1" presStyleCnt="4"/>
      <dgm:spPr/>
    </dgm:pt>
    <dgm:pt modelId="{58EF455F-8AE3-457D-B484-45DCEFF060E7}" type="pres">
      <dgm:prSet presAssocID="{8BE85FEE-B355-494C-B569-1CB8D39D3ADA}" presName="connectorText" presStyleLbl="sibTrans1D1" presStyleIdx="1" presStyleCnt="4"/>
      <dgm:spPr/>
    </dgm:pt>
    <dgm:pt modelId="{85FAB93B-7F97-4FBE-8A2A-69668242D75F}" type="pres">
      <dgm:prSet presAssocID="{A1BFE61C-245F-4248-8757-274F32152358}" presName="node" presStyleLbl="node1" presStyleIdx="2" presStyleCnt="5" custLinFactNeighborX="-266" custLinFactNeighborY="1227">
        <dgm:presLayoutVars>
          <dgm:bulletEnabled val="1"/>
        </dgm:presLayoutVars>
      </dgm:prSet>
      <dgm:spPr/>
    </dgm:pt>
    <dgm:pt modelId="{4C3681DA-00D8-4443-A00C-C06FBDFCAE1D}" type="pres">
      <dgm:prSet presAssocID="{26656E05-55AE-4C05-939D-913C0B0875EC}" presName="sibTrans" presStyleLbl="sibTrans1D1" presStyleIdx="2" presStyleCnt="4"/>
      <dgm:spPr/>
    </dgm:pt>
    <dgm:pt modelId="{67E89443-4109-42F8-AD30-AD2F56FDE78F}" type="pres">
      <dgm:prSet presAssocID="{26656E05-55AE-4C05-939D-913C0B0875EC}" presName="connectorText" presStyleLbl="sibTrans1D1" presStyleIdx="2" presStyleCnt="4"/>
      <dgm:spPr/>
    </dgm:pt>
    <dgm:pt modelId="{34BF75E1-8654-4302-926E-9AC244CEEBCD}" type="pres">
      <dgm:prSet presAssocID="{B7F61A6D-5392-45E6-9768-CD1B2EDC9862}" presName="node" presStyleLbl="node1" presStyleIdx="3" presStyleCnt="5" custLinFactNeighborY="1227">
        <dgm:presLayoutVars>
          <dgm:bulletEnabled val="1"/>
        </dgm:presLayoutVars>
      </dgm:prSet>
      <dgm:spPr/>
    </dgm:pt>
    <dgm:pt modelId="{9EFF09FD-82BB-4CF4-A918-32D0C9659AB4}" type="pres">
      <dgm:prSet presAssocID="{3C6D073F-0587-4CF1-9503-1EBD3FEAC78D}" presName="sibTrans" presStyleLbl="sibTrans1D1" presStyleIdx="3" presStyleCnt="4"/>
      <dgm:spPr/>
    </dgm:pt>
    <dgm:pt modelId="{AB8F4662-2746-4542-B4AD-246A5BD71844}" type="pres">
      <dgm:prSet presAssocID="{3C6D073F-0587-4CF1-9503-1EBD3FEAC78D}" presName="connectorText" presStyleLbl="sibTrans1D1" presStyleIdx="3" presStyleCnt="4"/>
      <dgm:spPr/>
    </dgm:pt>
    <dgm:pt modelId="{A3349957-E595-49C5-A752-183132EB35DA}" type="pres">
      <dgm:prSet presAssocID="{C9211E85-FFF3-4F45-8E4E-3D282386537D}" presName="node" presStyleLbl="node1" presStyleIdx="4" presStyleCnt="5" custLinFactNeighborX="2337" custLinFactNeighborY="941">
        <dgm:presLayoutVars>
          <dgm:bulletEnabled val="1"/>
        </dgm:presLayoutVars>
      </dgm:prSet>
      <dgm:spPr/>
    </dgm:pt>
  </dgm:ptLst>
  <dgm:cxnLst>
    <dgm:cxn modelId="{1AF9C908-2AC4-40B3-8323-089041D0FA77}" srcId="{D01910E1-9239-4A1D-AAE5-B068D6827A43}" destId="{0C68CB00-404F-4B1B-A134-BC7E44AABA25}" srcOrd="1" destOrd="0" parTransId="{CE9A8BC8-C944-44A3-8565-180C8B0D64F3}" sibTransId="{8BE85FEE-B355-494C-B569-1CB8D39D3ADA}"/>
    <dgm:cxn modelId="{C210970B-84D8-4DB4-A336-2264C3189332}" srcId="{D01910E1-9239-4A1D-AAE5-B068D6827A43}" destId="{A1BFE61C-245F-4248-8757-274F32152358}" srcOrd="2" destOrd="0" parTransId="{DD713DDD-6C4C-4F4C-A22B-C7F78602F05F}" sibTransId="{26656E05-55AE-4C05-939D-913C0B0875EC}"/>
    <dgm:cxn modelId="{A408D40F-4982-423E-9E29-E45105A6A022}" srcId="{D01910E1-9239-4A1D-AAE5-B068D6827A43}" destId="{B7F61A6D-5392-45E6-9768-CD1B2EDC9862}" srcOrd="3" destOrd="0" parTransId="{0B72D5DA-61B8-4C61-9AB1-76B573D1A08F}" sibTransId="{3C6D073F-0587-4CF1-9503-1EBD3FEAC78D}"/>
    <dgm:cxn modelId="{C2319711-FAA1-41F4-BEED-649AC6022265}" srcId="{C9211E85-FFF3-4F45-8E4E-3D282386537D}" destId="{EBEA1E49-5B1B-4734-B4CD-64E075721AAF}" srcOrd="0" destOrd="0" parTransId="{96B92F4E-1256-4542-9310-CE0C9324FD8E}" sibTransId="{5D840320-838E-43A4-B7F0-E198E4F359A8}"/>
    <dgm:cxn modelId="{E636C011-7B18-4E60-B3E9-C2B7DDC51B9C}" type="presOf" srcId="{A22B7C11-65BC-4F7F-8A20-2C1585136E7E}" destId="{34BF75E1-8654-4302-926E-9AC244CEEBCD}" srcOrd="0" destOrd="1" presId="urn:microsoft.com/office/officeart/2005/8/layout/bProcess3"/>
    <dgm:cxn modelId="{2CAC5D22-5393-492A-B3E1-450B7C0F8063}" srcId="{D01910E1-9239-4A1D-AAE5-B068D6827A43}" destId="{56459B9D-B699-4D8C-A08B-4294F1E46029}" srcOrd="0" destOrd="0" parTransId="{74067FA2-A87F-4086-B471-FF277E03841A}" sibTransId="{A0D7F006-6392-47F3-B0B4-5BA475CF7EB0}"/>
    <dgm:cxn modelId="{8B110325-EE63-4255-BE9B-9060AA6C0D6D}" srcId="{56459B9D-B699-4D8C-A08B-4294F1E46029}" destId="{9AC5E859-9259-4B0B-9318-DDF5125F5EE9}" srcOrd="1" destOrd="0" parTransId="{13859E8F-A225-4B3C-880C-6B3D024DF3CD}" sibTransId="{0BB25331-843A-40A8-A0C1-1A2787C924B9}"/>
    <dgm:cxn modelId="{CA35D828-C158-40A2-8864-9B36A92CE851}" type="presOf" srcId="{9AC5E859-9259-4B0B-9318-DDF5125F5EE9}" destId="{43723E3B-4D6F-4B24-9346-7BEA145B447F}" srcOrd="0" destOrd="2" presId="urn:microsoft.com/office/officeart/2005/8/layout/bProcess3"/>
    <dgm:cxn modelId="{AF05862E-F959-4A81-87FA-B5FAAC399333}" srcId="{B7F61A6D-5392-45E6-9768-CD1B2EDC9862}" destId="{A22B7C11-65BC-4F7F-8A20-2C1585136E7E}" srcOrd="0" destOrd="0" parTransId="{628227FA-03D8-4CD7-AD5B-AEE37BEF11BC}" sibTransId="{58444B0B-2C29-4BCC-8B36-8F22C78F61F8}"/>
    <dgm:cxn modelId="{3A729431-8DAB-46AE-89CE-6BBD16D13AC4}" type="presOf" srcId="{3C6D073F-0587-4CF1-9503-1EBD3FEAC78D}" destId="{AB8F4662-2746-4542-B4AD-246A5BD71844}" srcOrd="1" destOrd="0" presId="urn:microsoft.com/office/officeart/2005/8/layout/bProcess3"/>
    <dgm:cxn modelId="{F3FC2639-5E8F-4445-9EA9-425F9A2E944B}" type="presOf" srcId="{26656E05-55AE-4C05-939D-913C0B0875EC}" destId="{67E89443-4109-42F8-AD30-AD2F56FDE78F}" srcOrd="1" destOrd="0" presId="urn:microsoft.com/office/officeart/2005/8/layout/bProcess3"/>
    <dgm:cxn modelId="{62196E5C-619C-405F-82EE-00ADBFDCA268}" type="presOf" srcId="{8BE85FEE-B355-494C-B569-1CB8D39D3ADA}" destId="{55112437-2FAC-4DD0-926A-580643B30445}" srcOrd="0" destOrd="0" presId="urn:microsoft.com/office/officeart/2005/8/layout/bProcess3"/>
    <dgm:cxn modelId="{4EC27F46-0FEC-408D-AA8E-8AF6C767085C}" srcId="{56459B9D-B699-4D8C-A08B-4294F1E46029}" destId="{4C5840ED-6682-4797-B3C4-BFBADAE61ACF}" srcOrd="0" destOrd="0" parTransId="{9797D319-E6F2-4D1E-88A3-E3DCACCC1742}" sibTransId="{FBA9A6C3-3D23-4191-AF98-9C77B807898C}"/>
    <dgm:cxn modelId="{DAC0B669-6F1E-4CE2-B31E-B6D5832B87C7}" type="presOf" srcId="{CC220FEF-6B5B-4566-8AD2-A5A71339ABE7}" destId="{3A88C261-AD07-4953-90F1-3B3239B1A5A2}" srcOrd="0" destOrd="2" presId="urn:microsoft.com/office/officeart/2005/8/layout/bProcess3"/>
    <dgm:cxn modelId="{0D90B84C-E1A2-483C-A7C6-063085E4CF87}" type="presOf" srcId="{3C6D073F-0587-4CF1-9503-1EBD3FEAC78D}" destId="{9EFF09FD-82BB-4CF4-A918-32D0C9659AB4}" srcOrd="0" destOrd="0" presId="urn:microsoft.com/office/officeart/2005/8/layout/bProcess3"/>
    <dgm:cxn modelId="{AF32DD4D-5F61-4B1F-B138-9B731D4946AD}" srcId="{A1BFE61C-245F-4248-8757-274F32152358}" destId="{1470AA39-C8C1-4A05-950C-6DF29A6897DA}" srcOrd="0" destOrd="0" parTransId="{40E2B571-FB97-4B87-A2E3-959F0488E231}" sibTransId="{4522F902-8BDA-4C2D-ADD0-AAE3609B5E25}"/>
    <dgm:cxn modelId="{68618C4F-1230-4D76-8AE2-D9F10B4A7C56}" type="presOf" srcId="{B7F61A6D-5392-45E6-9768-CD1B2EDC9862}" destId="{34BF75E1-8654-4302-926E-9AC244CEEBCD}" srcOrd="0" destOrd="0" presId="urn:microsoft.com/office/officeart/2005/8/layout/bProcess3"/>
    <dgm:cxn modelId="{AE354D72-258B-467D-B02F-BC602637BE47}" type="presOf" srcId="{A0D7F006-6392-47F3-B0B4-5BA475CF7EB0}" destId="{5A1172C0-C889-4EC9-A682-8FB89E12CCEC}" srcOrd="1" destOrd="0" presId="urn:microsoft.com/office/officeart/2005/8/layout/bProcess3"/>
    <dgm:cxn modelId="{4E1E597C-190E-4262-95D5-1BA591CF8CE9}" type="presOf" srcId="{4C5840ED-6682-4797-B3C4-BFBADAE61ACF}" destId="{43723E3B-4D6F-4B24-9346-7BEA145B447F}" srcOrd="0" destOrd="1" presId="urn:microsoft.com/office/officeart/2005/8/layout/bProcess3"/>
    <dgm:cxn modelId="{28FE527E-F37B-432A-A6E4-35A41752F457}" type="presOf" srcId="{0C68CB00-404F-4B1B-A134-BC7E44AABA25}" destId="{3A88C261-AD07-4953-90F1-3B3239B1A5A2}" srcOrd="0" destOrd="0" presId="urn:microsoft.com/office/officeart/2005/8/layout/bProcess3"/>
    <dgm:cxn modelId="{8B5D1D81-D77F-401E-900C-7B2150C8F39B}" type="presOf" srcId="{1470AA39-C8C1-4A05-950C-6DF29A6897DA}" destId="{85FAB93B-7F97-4FBE-8A2A-69668242D75F}" srcOrd="0" destOrd="1" presId="urn:microsoft.com/office/officeart/2005/8/layout/bProcess3"/>
    <dgm:cxn modelId="{56267D84-1364-4192-AB18-807544E264D8}" srcId="{D01910E1-9239-4A1D-AAE5-B068D6827A43}" destId="{C9211E85-FFF3-4F45-8E4E-3D282386537D}" srcOrd="4" destOrd="0" parTransId="{84B0F1BC-E0C2-4F77-BFE8-36556BE0E7D9}" sibTransId="{E7CF6A3D-D402-49E1-9829-A9C5E4DFEE6B}"/>
    <dgm:cxn modelId="{38A26B8F-A832-461F-8FB9-011550D63706}" type="presOf" srcId="{26656E05-55AE-4C05-939D-913C0B0875EC}" destId="{4C3681DA-00D8-4443-A00C-C06FBDFCAE1D}" srcOrd="0" destOrd="0" presId="urn:microsoft.com/office/officeart/2005/8/layout/bProcess3"/>
    <dgm:cxn modelId="{CE59CF92-7CD9-471A-9CBF-A673C75B834B}" type="presOf" srcId="{A1BFE61C-245F-4248-8757-274F32152358}" destId="{85FAB93B-7F97-4FBE-8A2A-69668242D75F}" srcOrd="0" destOrd="0" presId="urn:microsoft.com/office/officeart/2005/8/layout/bProcess3"/>
    <dgm:cxn modelId="{C2C6ED9E-D11B-42ED-ADA4-F0F5D2AC2D18}" type="presOf" srcId="{C0DCE39A-D243-4C15-AA93-BBE092E9AD4A}" destId="{3A88C261-AD07-4953-90F1-3B3239B1A5A2}" srcOrd="0" destOrd="1" presId="urn:microsoft.com/office/officeart/2005/8/layout/bProcess3"/>
    <dgm:cxn modelId="{B11FD2A5-EC2E-4EED-AA9D-EAE2BA62F99F}" type="presOf" srcId="{EBEA1E49-5B1B-4734-B4CD-64E075721AAF}" destId="{A3349957-E595-49C5-A752-183132EB35DA}" srcOrd="0" destOrd="1" presId="urn:microsoft.com/office/officeart/2005/8/layout/bProcess3"/>
    <dgm:cxn modelId="{48BC99A8-E311-415A-8353-EE1AB553DF57}" type="presOf" srcId="{56459B9D-B699-4D8C-A08B-4294F1E46029}" destId="{43723E3B-4D6F-4B24-9346-7BEA145B447F}" srcOrd="0" destOrd="0" presId="urn:microsoft.com/office/officeart/2005/8/layout/bProcess3"/>
    <dgm:cxn modelId="{C17B09B1-439F-4E60-BFE0-9A3E1B96307C}" srcId="{0C68CB00-404F-4B1B-A134-BC7E44AABA25}" destId="{CC220FEF-6B5B-4566-8AD2-A5A71339ABE7}" srcOrd="1" destOrd="0" parTransId="{09D75FE8-BA1E-434A-B827-680524BAC787}" sibTransId="{76E8D1B7-2FDF-45D3-93CD-57527BE1A337}"/>
    <dgm:cxn modelId="{14105EB3-8E95-4AE7-AC46-B0CD47865D7D}" type="presOf" srcId="{D01910E1-9239-4A1D-AAE5-B068D6827A43}" destId="{156B02BE-9690-4C57-A9D1-28D372AA968D}" srcOrd="0" destOrd="0" presId="urn:microsoft.com/office/officeart/2005/8/layout/bProcess3"/>
    <dgm:cxn modelId="{4CA5EEB4-4582-4276-80E8-01C1EF6726F0}" type="presOf" srcId="{A0D7F006-6392-47F3-B0B4-5BA475CF7EB0}" destId="{C67CC947-8587-437E-9793-979DA8D89F40}" srcOrd="0" destOrd="0" presId="urn:microsoft.com/office/officeart/2005/8/layout/bProcess3"/>
    <dgm:cxn modelId="{7FD7AFDE-323D-4BC5-8F3E-EFE4942CBFC3}" srcId="{0C68CB00-404F-4B1B-A134-BC7E44AABA25}" destId="{C0DCE39A-D243-4C15-AA93-BBE092E9AD4A}" srcOrd="0" destOrd="0" parTransId="{BA8A1474-7613-4A51-A49F-B93F1423E799}" sibTransId="{7453A393-00A9-44EB-A9A6-94D47A573C3D}"/>
    <dgm:cxn modelId="{4EF6F4E4-455F-4A7E-B74A-8FE65F85AEC7}" type="presOf" srcId="{C9211E85-FFF3-4F45-8E4E-3D282386537D}" destId="{A3349957-E595-49C5-A752-183132EB35DA}" srcOrd="0" destOrd="0" presId="urn:microsoft.com/office/officeart/2005/8/layout/bProcess3"/>
    <dgm:cxn modelId="{D5AD44EC-EB51-408A-AA33-A9BC4FDE5644}" type="presOf" srcId="{8BE85FEE-B355-494C-B569-1CB8D39D3ADA}" destId="{58EF455F-8AE3-457D-B484-45DCEFF060E7}" srcOrd="1" destOrd="0" presId="urn:microsoft.com/office/officeart/2005/8/layout/bProcess3"/>
    <dgm:cxn modelId="{21AC56D9-D848-41AA-BD13-32665E53A09E}" type="presParOf" srcId="{156B02BE-9690-4C57-A9D1-28D372AA968D}" destId="{43723E3B-4D6F-4B24-9346-7BEA145B447F}" srcOrd="0" destOrd="0" presId="urn:microsoft.com/office/officeart/2005/8/layout/bProcess3"/>
    <dgm:cxn modelId="{8D18292B-8CA3-4F98-A70A-879EE6491BE4}" type="presParOf" srcId="{156B02BE-9690-4C57-A9D1-28D372AA968D}" destId="{C67CC947-8587-437E-9793-979DA8D89F40}" srcOrd="1" destOrd="0" presId="urn:microsoft.com/office/officeart/2005/8/layout/bProcess3"/>
    <dgm:cxn modelId="{CBBA76AE-3603-4955-8764-20C90778E3A3}" type="presParOf" srcId="{C67CC947-8587-437E-9793-979DA8D89F40}" destId="{5A1172C0-C889-4EC9-A682-8FB89E12CCEC}" srcOrd="0" destOrd="0" presId="urn:microsoft.com/office/officeart/2005/8/layout/bProcess3"/>
    <dgm:cxn modelId="{658BA9CB-A698-4E17-89B6-2A651F56DC26}" type="presParOf" srcId="{156B02BE-9690-4C57-A9D1-28D372AA968D}" destId="{3A88C261-AD07-4953-90F1-3B3239B1A5A2}" srcOrd="2" destOrd="0" presId="urn:microsoft.com/office/officeart/2005/8/layout/bProcess3"/>
    <dgm:cxn modelId="{8F324A01-0693-460E-BE08-047958393890}" type="presParOf" srcId="{156B02BE-9690-4C57-A9D1-28D372AA968D}" destId="{55112437-2FAC-4DD0-926A-580643B30445}" srcOrd="3" destOrd="0" presId="urn:microsoft.com/office/officeart/2005/8/layout/bProcess3"/>
    <dgm:cxn modelId="{B50B44D7-2347-4681-A096-FB05A6858F2B}" type="presParOf" srcId="{55112437-2FAC-4DD0-926A-580643B30445}" destId="{58EF455F-8AE3-457D-B484-45DCEFF060E7}" srcOrd="0" destOrd="0" presId="urn:microsoft.com/office/officeart/2005/8/layout/bProcess3"/>
    <dgm:cxn modelId="{544DBDCA-3EAB-493F-B01B-AEDA46A2F07D}" type="presParOf" srcId="{156B02BE-9690-4C57-A9D1-28D372AA968D}" destId="{85FAB93B-7F97-4FBE-8A2A-69668242D75F}" srcOrd="4" destOrd="0" presId="urn:microsoft.com/office/officeart/2005/8/layout/bProcess3"/>
    <dgm:cxn modelId="{CBE556CA-A024-4772-B443-8FD2A55E0EC6}" type="presParOf" srcId="{156B02BE-9690-4C57-A9D1-28D372AA968D}" destId="{4C3681DA-00D8-4443-A00C-C06FBDFCAE1D}" srcOrd="5" destOrd="0" presId="urn:microsoft.com/office/officeart/2005/8/layout/bProcess3"/>
    <dgm:cxn modelId="{4BB6720F-5551-4F48-B310-2D26A6DC16A6}" type="presParOf" srcId="{4C3681DA-00D8-4443-A00C-C06FBDFCAE1D}" destId="{67E89443-4109-42F8-AD30-AD2F56FDE78F}" srcOrd="0" destOrd="0" presId="urn:microsoft.com/office/officeart/2005/8/layout/bProcess3"/>
    <dgm:cxn modelId="{76DABDCF-EE4E-4D10-BFA5-331A9B7A591D}" type="presParOf" srcId="{156B02BE-9690-4C57-A9D1-28D372AA968D}" destId="{34BF75E1-8654-4302-926E-9AC244CEEBCD}" srcOrd="6" destOrd="0" presId="urn:microsoft.com/office/officeart/2005/8/layout/bProcess3"/>
    <dgm:cxn modelId="{8984C2C1-C1BB-49B7-B392-179BCCC2472D}" type="presParOf" srcId="{156B02BE-9690-4C57-A9D1-28D372AA968D}" destId="{9EFF09FD-82BB-4CF4-A918-32D0C9659AB4}" srcOrd="7" destOrd="0" presId="urn:microsoft.com/office/officeart/2005/8/layout/bProcess3"/>
    <dgm:cxn modelId="{11699925-4C33-4473-BD2C-6072E28839F1}" type="presParOf" srcId="{9EFF09FD-82BB-4CF4-A918-32D0C9659AB4}" destId="{AB8F4662-2746-4542-B4AD-246A5BD71844}" srcOrd="0" destOrd="0" presId="urn:microsoft.com/office/officeart/2005/8/layout/bProcess3"/>
    <dgm:cxn modelId="{C1D4F608-76C9-4C70-8BDC-9B141E2D51F9}" type="presParOf" srcId="{156B02BE-9690-4C57-A9D1-28D372AA968D}" destId="{A3349957-E595-49C5-A752-183132EB35DA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563690-2F87-48EC-A560-20AC48D234AD}">
      <dsp:nvSpPr>
        <dsp:cNvPr id="0" name=""/>
        <dsp:cNvSpPr/>
      </dsp:nvSpPr>
      <dsp:spPr>
        <a:xfrm>
          <a:off x="0" y="271584"/>
          <a:ext cx="10515600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기초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LLM</a:t>
          </a:r>
          <a:r>
            <a:rPr lang="ko-KR" alt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의 원리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 실습</a:t>
          </a:r>
          <a:endParaRPr lang="en-US" sz="1700" kern="1200" dirty="0">
            <a:solidFill>
              <a:schemeClr val="tx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700" kern="1200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문서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700" kern="1200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작성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및 </a:t>
          </a:r>
          <a:r>
            <a:rPr lang="en-US" sz="1700" kern="1200" dirty="0" err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자동화</a:t>
          </a:r>
          <a:r>
            <a:rPr 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ko-KR" altLang="en-US" sz="1700" kern="12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실습</a:t>
          </a:r>
          <a:endParaRPr lang="en-US" sz="1700" kern="1200" dirty="0">
            <a:solidFill>
              <a:schemeClr val="tx1"/>
            </a:solidFill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0" y="271584"/>
        <a:ext cx="10515600" cy="1124550"/>
      </dsp:txXfrm>
    </dsp:sp>
    <dsp:sp modelId="{23F79F9E-B146-48B1-8E94-14C03EA3ED6A}">
      <dsp:nvSpPr>
        <dsp:cNvPr id="0" name=""/>
        <dsp:cNvSpPr/>
      </dsp:nvSpPr>
      <dsp:spPr>
        <a:xfrm>
          <a:off x="525780" y="20664"/>
          <a:ext cx="7360920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1: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 기초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550278" y="45162"/>
        <a:ext cx="7311924" cy="452844"/>
      </dsp:txXfrm>
    </dsp:sp>
    <dsp:sp modelId="{470FDCE0-9D20-4C7B-A43D-ED1795FAF3AD}">
      <dsp:nvSpPr>
        <dsp:cNvPr id="0" name=""/>
        <dsp:cNvSpPr/>
      </dsp:nvSpPr>
      <dsp:spPr>
        <a:xfrm>
          <a:off x="0" y="1738854"/>
          <a:ext cx="10515600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Pandas, Matplotlib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실습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홍보영상 콘텐츠 설계 실습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0" y="1738854"/>
        <a:ext cx="10515600" cy="1124550"/>
      </dsp:txXfrm>
    </dsp:sp>
    <dsp:sp modelId="{80B871F0-0106-47B4-BA04-7EF5FD9C7AF5}">
      <dsp:nvSpPr>
        <dsp:cNvPr id="0" name=""/>
        <dsp:cNvSpPr/>
      </dsp:nvSpPr>
      <dsp:spPr>
        <a:xfrm>
          <a:off x="525780" y="1487934"/>
          <a:ext cx="7360920" cy="5018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2: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기반 데이터 분석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550278" y="1512432"/>
        <a:ext cx="7311924" cy="452844"/>
      </dsp:txXfrm>
    </dsp:sp>
    <dsp:sp modelId="{03BEDFD7-A55C-4ED8-8BE1-14504C4C9CE9}">
      <dsp:nvSpPr>
        <dsp:cNvPr id="0" name=""/>
        <dsp:cNvSpPr/>
      </dsp:nvSpPr>
      <dsp:spPr>
        <a:xfrm>
          <a:off x="0" y="3206124"/>
          <a:ext cx="10515600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도구 소개 및 활용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프롬프트 템플릿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직무별 활용 실습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보고서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회의록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사업계획서 작성 실습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0" y="3206124"/>
        <a:ext cx="10515600" cy="1124550"/>
      </dsp:txXfrm>
    </dsp:sp>
    <dsp:sp modelId="{991B8859-E680-4603-A651-EB9DB879C3A0}">
      <dsp:nvSpPr>
        <dsp:cNvPr id="0" name=""/>
        <dsp:cNvSpPr/>
      </dsp:nvSpPr>
      <dsp:spPr>
        <a:xfrm>
          <a:off x="525780" y="2955204"/>
          <a:ext cx="7360920" cy="5018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Day 3: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생성형 </a:t>
          </a:r>
          <a:r>
            <a:rPr lang="en-US" altLang="ko-KR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AI </a:t>
          </a:r>
          <a:r>
            <a:rPr lang="ko-KR" altLang="en-US" sz="17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실무 활용</a:t>
          </a:r>
          <a:endParaRPr lang="en-US" sz="17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550278" y="2979702"/>
        <a:ext cx="7311924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9DB95-B799-4996-A352-114B8B45ECF3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b="1" kern="1200" dirty="0" err="1"/>
            <a:t>Vrew</a:t>
          </a:r>
          <a:endParaRPr lang="en-US" sz="5500" kern="1200" dirty="0"/>
        </a:p>
      </dsp:txBody>
      <dsp:txXfrm>
        <a:off x="0" y="39687"/>
        <a:ext cx="3286125" cy="1971675"/>
      </dsp:txXfrm>
    </dsp:sp>
    <dsp:sp modelId="{81959291-A15C-409A-B42A-3429C63588F2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b="1" kern="1200"/>
            <a:t>CapCut</a:t>
          </a:r>
          <a:endParaRPr lang="en-US" sz="5500" kern="1200"/>
        </a:p>
      </dsp:txBody>
      <dsp:txXfrm>
        <a:off x="3614737" y="39687"/>
        <a:ext cx="3286125" cy="1971675"/>
      </dsp:txXfrm>
    </dsp:sp>
    <dsp:sp modelId="{BD28E052-C28F-4132-87D4-702D56E92FA2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b="1" kern="1200"/>
            <a:t>Filmora AI </a:t>
          </a:r>
          <a:endParaRPr lang="en-US" sz="5500" kern="1200"/>
        </a:p>
      </dsp:txBody>
      <dsp:txXfrm>
        <a:off x="7229475" y="39687"/>
        <a:ext cx="3286125" cy="1971675"/>
      </dsp:txXfrm>
    </dsp:sp>
    <dsp:sp modelId="{42EEFE83-3FDB-4F0B-BF53-C9C0F35A7366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b="1" kern="1200"/>
            <a:t>Pictory </a:t>
          </a:r>
          <a:endParaRPr lang="en-US" sz="5500" kern="1200"/>
        </a:p>
      </dsp:txBody>
      <dsp:txXfrm>
        <a:off x="0" y="2339975"/>
        <a:ext cx="3286125" cy="1971675"/>
      </dsp:txXfrm>
    </dsp:sp>
    <dsp:sp modelId="{1A6D97DB-3C40-4AFD-89A0-04FC549AAD5B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b="1" kern="1200"/>
            <a:t>Canva</a:t>
          </a:r>
          <a:endParaRPr lang="en-US" sz="5500" kern="1200"/>
        </a:p>
      </dsp:txBody>
      <dsp:txXfrm>
        <a:off x="3614737" y="2339975"/>
        <a:ext cx="3286125" cy="1971675"/>
      </dsp:txXfrm>
    </dsp:sp>
    <dsp:sp modelId="{CAF0ECD9-69E6-48D0-BEF7-8EFC787BFC0A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b="1" kern="1200"/>
            <a:t>GenApe</a:t>
          </a:r>
          <a:endParaRPr lang="en-US" sz="5500" kern="1200"/>
        </a:p>
      </dsp:txBody>
      <dsp:txXfrm>
        <a:off x="7229475" y="2339975"/>
        <a:ext cx="3286125" cy="1971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EF98B-B21C-412C-B8A4-90A737BEBD51}">
      <dsp:nvSpPr>
        <dsp:cNvPr id="0" name=""/>
        <dsp:cNvSpPr/>
      </dsp:nvSpPr>
      <dsp:spPr>
        <a:xfrm>
          <a:off x="52" y="87613"/>
          <a:ext cx="5024561" cy="979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Popular Python libraries</a:t>
          </a:r>
          <a:endParaRPr lang="en-US" sz="3400" kern="1200"/>
        </a:p>
      </dsp:txBody>
      <dsp:txXfrm>
        <a:off x="52" y="87613"/>
        <a:ext cx="5024561" cy="979200"/>
      </dsp:txXfrm>
    </dsp:sp>
    <dsp:sp modelId="{202DFE52-763A-4AFF-9358-A690900393AD}">
      <dsp:nvSpPr>
        <dsp:cNvPr id="0" name=""/>
        <dsp:cNvSpPr/>
      </dsp:nvSpPr>
      <dsp:spPr>
        <a:xfrm>
          <a:off x="52" y="1066813"/>
          <a:ext cx="5024561" cy="26132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b="0" i="0" kern="1200"/>
            <a:t>NumPy</a:t>
          </a:r>
          <a:endParaRPr lang="en-US" sz="3400" kern="1200"/>
        </a:p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b="0" i="0" kern="1200"/>
            <a:t>SciPy</a:t>
          </a:r>
          <a:endParaRPr lang="en-US" sz="3400" kern="1200"/>
        </a:p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b="1" i="0" kern="1200" dirty="0"/>
            <a:t>Pandas</a:t>
          </a:r>
          <a:endParaRPr lang="en-US" sz="3400" b="1" kern="1200" dirty="0"/>
        </a:p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b="0" i="0" kern="1200" dirty="0" err="1"/>
            <a:t>SciKit</a:t>
          </a:r>
          <a:r>
            <a:rPr lang="en-US" sz="3400" b="0" i="0" kern="1200" dirty="0"/>
            <a:t>-Learn</a:t>
          </a:r>
          <a:endParaRPr lang="en-US" sz="3400" kern="1200" dirty="0"/>
        </a:p>
      </dsp:txBody>
      <dsp:txXfrm>
        <a:off x="52" y="1066813"/>
        <a:ext cx="5024561" cy="2613240"/>
      </dsp:txXfrm>
    </dsp:sp>
    <dsp:sp modelId="{90220FF3-C483-4CB5-A6B1-6D2264741FB5}">
      <dsp:nvSpPr>
        <dsp:cNvPr id="0" name=""/>
        <dsp:cNvSpPr/>
      </dsp:nvSpPr>
      <dsp:spPr>
        <a:xfrm>
          <a:off x="5728052" y="87613"/>
          <a:ext cx="5024561" cy="9792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Visualization libraries</a:t>
          </a:r>
          <a:endParaRPr lang="en-US" sz="3400" kern="1200"/>
        </a:p>
      </dsp:txBody>
      <dsp:txXfrm>
        <a:off x="5728052" y="87613"/>
        <a:ext cx="5024561" cy="979200"/>
      </dsp:txXfrm>
    </dsp:sp>
    <dsp:sp modelId="{B35645F2-A323-4EA8-95D0-1A5C3E630CDD}">
      <dsp:nvSpPr>
        <dsp:cNvPr id="0" name=""/>
        <dsp:cNvSpPr/>
      </dsp:nvSpPr>
      <dsp:spPr>
        <a:xfrm>
          <a:off x="5728105" y="1095141"/>
          <a:ext cx="5024561" cy="261324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b="1" i="0" kern="1200" dirty="0" err="1"/>
            <a:t>Matplotlib</a:t>
          </a:r>
          <a:endParaRPr lang="en-US" sz="3400" b="1" kern="1200" dirty="0"/>
        </a:p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b="0" i="0" kern="1200" dirty="0" err="1"/>
            <a:t>Seaborn</a:t>
          </a:r>
          <a:endParaRPr lang="en-US" sz="3400" kern="1200" dirty="0"/>
        </a:p>
      </dsp:txBody>
      <dsp:txXfrm>
        <a:off x="5728105" y="1095141"/>
        <a:ext cx="5024561" cy="26132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CC947-8587-437E-9793-979DA8D89F40}">
      <dsp:nvSpPr>
        <dsp:cNvPr id="0" name=""/>
        <dsp:cNvSpPr/>
      </dsp:nvSpPr>
      <dsp:spPr>
        <a:xfrm>
          <a:off x="2992350" y="1131969"/>
          <a:ext cx="6580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804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4156" y="1174246"/>
        <a:ext cx="34432" cy="6886"/>
      </dsp:txXfrm>
    </dsp:sp>
    <dsp:sp modelId="{43723E3B-4D6F-4B24-9346-7BEA145B447F}">
      <dsp:nvSpPr>
        <dsp:cNvPr id="0" name=""/>
        <dsp:cNvSpPr/>
      </dsp:nvSpPr>
      <dsp:spPr>
        <a:xfrm>
          <a:off x="0" y="279444"/>
          <a:ext cx="2994150" cy="17964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수집</a:t>
          </a:r>
          <a:endParaRPr lang="en-US" sz="21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ctr" defTabSz="7112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엑셀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CSV,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데이터베이스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endParaRPr lang="en-US" sz="16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ctr" defTabSz="7112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로그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설문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데이터</a:t>
          </a:r>
          <a:endParaRPr lang="en-US" sz="16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0" y="279444"/>
        <a:ext cx="2994150" cy="1796490"/>
      </dsp:txXfrm>
    </dsp:sp>
    <dsp:sp modelId="{55112437-2FAC-4DD0-926A-580643B30445}">
      <dsp:nvSpPr>
        <dsp:cNvPr id="0" name=""/>
        <dsp:cNvSpPr/>
      </dsp:nvSpPr>
      <dsp:spPr>
        <a:xfrm>
          <a:off x="6675145" y="1131969"/>
          <a:ext cx="6580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8054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86956" y="1174246"/>
        <a:ext cx="34432" cy="6886"/>
      </dsp:txXfrm>
    </dsp:sp>
    <dsp:sp modelId="{3A88C261-AD07-4953-90F1-3B3239B1A5A2}">
      <dsp:nvSpPr>
        <dsp:cNvPr id="0" name=""/>
        <dsp:cNvSpPr/>
      </dsp:nvSpPr>
      <dsp:spPr>
        <a:xfrm>
          <a:off x="3682795" y="279444"/>
          <a:ext cx="2994150" cy="179649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정제</a:t>
          </a:r>
          <a:endParaRPr lang="en-US" sz="21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ctr" defTabSz="7112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결측치·이상치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탐색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데이터</a:t>
          </a:r>
          <a:endParaRPr lang="en-US" sz="16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ctr" defTabSz="7112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유형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파악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정제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코드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</a:t>
          </a:r>
          <a:endParaRPr lang="en-US" sz="16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3682795" y="279444"/>
        <a:ext cx="2994150" cy="1796490"/>
      </dsp:txXfrm>
    </dsp:sp>
    <dsp:sp modelId="{4C3681DA-00D8-4443-A00C-C06FBDFCAE1D}">
      <dsp:nvSpPr>
        <dsp:cNvPr id="0" name=""/>
        <dsp:cNvSpPr/>
      </dsp:nvSpPr>
      <dsp:spPr>
        <a:xfrm>
          <a:off x="1505029" y="2074134"/>
          <a:ext cx="7357646" cy="658054"/>
        </a:xfrm>
        <a:custGeom>
          <a:avLst/>
          <a:gdLst/>
          <a:ahLst/>
          <a:cxnLst/>
          <a:rect l="0" t="0" r="0" b="0"/>
          <a:pathLst>
            <a:path>
              <a:moveTo>
                <a:pt x="7357646" y="0"/>
              </a:moveTo>
              <a:lnTo>
                <a:pt x="7357646" y="346127"/>
              </a:lnTo>
              <a:lnTo>
                <a:pt x="0" y="346127"/>
              </a:lnTo>
              <a:lnTo>
                <a:pt x="0" y="65805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99107" y="2399718"/>
        <a:ext cx="369490" cy="6886"/>
      </dsp:txXfrm>
    </dsp:sp>
    <dsp:sp modelId="{85FAB93B-7F97-4FBE-8A2A-69668242D75F}">
      <dsp:nvSpPr>
        <dsp:cNvPr id="0" name=""/>
        <dsp:cNvSpPr/>
      </dsp:nvSpPr>
      <dsp:spPr>
        <a:xfrm>
          <a:off x="7365600" y="279444"/>
          <a:ext cx="2994150" cy="179649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분석</a:t>
          </a:r>
          <a:r>
            <a:rPr lang="en-US" sz="21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ko-KR" altLang="en-US" sz="21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및 시각화</a:t>
          </a:r>
          <a:endParaRPr lang="en-US" sz="21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7112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통계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분석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추세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분석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상관관계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탐색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그래프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생성</a:t>
          </a:r>
          <a:endParaRPr lang="en-US" sz="16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7365600" y="279444"/>
        <a:ext cx="2994150" cy="1796490"/>
      </dsp:txXfrm>
    </dsp:sp>
    <dsp:sp modelId="{9EFF09FD-82BB-4CF4-A918-32D0C9659AB4}">
      <dsp:nvSpPr>
        <dsp:cNvPr id="0" name=""/>
        <dsp:cNvSpPr/>
      </dsp:nvSpPr>
      <dsp:spPr>
        <a:xfrm>
          <a:off x="3000304" y="3611976"/>
          <a:ext cx="7280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50857"/>
              </a:moveTo>
              <a:lnTo>
                <a:pt x="381114" y="50857"/>
              </a:lnTo>
              <a:lnTo>
                <a:pt x="381114" y="45720"/>
              </a:lnTo>
              <a:lnTo>
                <a:pt x="728028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45352" y="3654253"/>
        <a:ext cx="37932" cy="6886"/>
      </dsp:txXfrm>
    </dsp:sp>
    <dsp:sp modelId="{34BF75E1-8654-4302-926E-9AC244CEEBCD}">
      <dsp:nvSpPr>
        <dsp:cNvPr id="0" name=""/>
        <dsp:cNvSpPr/>
      </dsp:nvSpPr>
      <dsp:spPr>
        <a:xfrm>
          <a:off x="7954" y="2764589"/>
          <a:ext cx="2994150" cy="179649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1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인사이트 도출</a:t>
          </a:r>
          <a:endParaRPr lang="en-US" sz="21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주요 원인 해석</a:t>
          </a:r>
          <a:r>
            <a:rPr lang="en-US" altLang="ko-KR" sz="16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sz="16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패턴 발견</a:t>
          </a:r>
          <a:r>
            <a:rPr lang="en-US" altLang="ko-KR" sz="16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ko-KR" altLang="en-US" sz="16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개선 방안 제안</a:t>
          </a:r>
          <a:endParaRPr lang="en-US" sz="16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7954" y="2764589"/>
        <a:ext cx="2994150" cy="1796490"/>
      </dsp:txXfrm>
    </dsp:sp>
    <dsp:sp modelId="{A3349957-E595-49C5-A752-183132EB35DA}">
      <dsp:nvSpPr>
        <dsp:cNvPr id="0" name=""/>
        <dsp:cNvSpPr/>
      </dsp:nvSpPr>
      <dsp:spPr>
        <a:xfrm>
          <a:off x="3760732" y="2759451"/>
          <a:ext cx="2994150" cy="179649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</a:t>
          </a:r>
          <a:r>
            <a:rPr lang="ko-KR" altLang="en-US" sz="210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서 및 의사결정 지원</a:t>
          </a:r>
          <a:endParaRPr lang="en-US" sz="21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  <a:p>
          <a:pPr marL="171450" lvl="1" indent="-171450" algn="l" defTabSz="7112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분석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결과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요약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대시보드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구성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,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보고서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초안</a:t>
          </a:r>
          <a:r>
            <a:rPr lang="en-US" sz="1600" b="0" i="0" kern="1200" dirty="0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 </a:t>
          </a:r>
          <a:r>
            <a:rPr lang="en-US" sz="1600" b="0" i="0" kern="1200" dirty="0" err="1">
              <a:latin typeface="G마켓 산스 TTF Medium" panose="02000000000000000000" pitchFamily="2" charset="-127"/>
              <a:ea typeface="G마켓 산스 TTF Medium" panose="02000000000000000000" pitchFamily="2" charset="-127"/>
            </a:rPr>
            <a:t>작성</a:t>
          </a:r>
          <a:endParaRPr lang="en-US" sz="1600" kern="1200" dirty="0">
            <a:latin typeface="G마켓 산스 TTF Medium" panose="02000000000000000000" pitchFamily="2" charset="-127"/>
            <a:ea typeface="G마켓 산스 TTF Medium" panose="02000000000000000000" pitchFamily="2" charset="-127"/>
          </a:endParaRPr>
        </a:p>
      </dsp:txBody>
      <dsp:txXfrm>
        <a:off x="3760732" y="2759451"/>
        <a:ext cx="2994150" cy="1796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7895AC-283E-0AC0-2427-7E7D463EE0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B17A75-8CAF-08F0-2BF6-B84FF43851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CD1A3-7324-4EAF-AA62-1886360CE1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918E4-62F8-971E-221B-A429D8FB72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10B5C-31DA-FFB8-96BF-4643744676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10CE8-203C-4F3C-9B01-4B12EED6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440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C9257-8587-44C9-8E60-55DF048BAC2C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068A2-42FE-4F8A-946F-EC43CCFCA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2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AI </a:t>
            </a:r>
            <a:r>
              <a:rPr lang="ko-KR" altLang="en-US" dirty="0"/>
              <a:t>기반 기획안 작성</a:t>
            </a:r>
            <a:r>
              <a:rPr lang="en-US" altLang="ko-KR" dirty="0"/>
              <a:t>, </a:t>
            </a:r>
            <a:r>
              <a:rPr lang="ko-KR" altLang="en-US" dirty="0"/>
              <a:t>분석 자동화</a:t>
            </a:r>
            <a:r>
              <a:rPr lang="en-US" altLang="ko-KR" dirty="0"/>
              <a:t>, </a:t>
            </a:r>
            <a:r>
              <a:rPr lang="ko-KR" altLang="en-US" dirty="0"/>
              <a:t>보고서 자동화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92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C4336-8D0B-1061-EE07-6D1D09A81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E2C48-96DE-7E1D-53DA-383D41947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B24ED-DAEB-3D43-1219-A27DD76FF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7DA3A-2820-89FF-671F-F8AC03A8A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19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Vrew</a:t>
            </a:r>
            <a:r>
              <a:rPr lang="en-US" dirty="0"/>
              <a:t>, </a:t>
            </a:r>
            <a:r>
              <a:rPr lang="en-US" dirty="0" err="1"/>
              <a:t>Capcut</a:t>
            </a:r>
            <a:r>
              <a:rPr lang="en-US" dirty="0"/>
              <a:t>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1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32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8303-57AD-3E61-C47E-0767C92C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EE7DB-1BC3-646C-53E0-78B4935C8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DBB74-D59F-DDA4-C262-80DCD43A9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CCBF1-1F64-E193-26DD-940A57ED6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5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https://video.pictory.ai/v2/preview/1028001623492184308411752163151996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02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32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10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32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08A3E-59C7-CC57-4774-9CC1167D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96378A-3173-F1A1-A102-ED61B2366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C0CCA8-88BD-C834-98E1-2EF0BAB59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FE257B-ACE9-890C-FFA5-3D2C8DF13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5FC9A-A1D5-41EE-AEAA-DD22231E41A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227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BD972-3431-8996-CFAE-E896D8970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4048C-0F8C-F205-C784-0673F511F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D3600-E772-681A-2976-B8DC5197C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endParaRPr lang="ko-KR" altLang="en-US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82579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C446B-B17B-3B1D-0864-DD4E8A491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BCB0D2-9EDF-397B-A61D-9DAEDDEC3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27D44D-FEDE-55EC-0D6B-0F4FD0533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AF7721-6925-CCCE-8AB9-E7F7A9980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5FC9A-A1D5-41EE-AEAA-DD22231E41AA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777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255C2-CE37-E673-856E-97C8DB0F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0979BF-40E8-8213-9D88-212A2BA76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4A3AE6-1FD7-6083-5E71-F69594841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9723B5-612B-1FBD-48BA-72A229BC3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5FC9A-A1D5-41EE-AEAA-DD22231E41AA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2430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70887-E42A-3425-1077-A02709B8D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BD9699-61E0-A4D8-CD42-58A12A86C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B1A2CF-6A57-DD53-6E97-F60CF62EA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AB1ADF-9005-8C98-86BA-A4E6AEA0E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5FC9A-A1D5-41EE-AEAA-DD22231E41AA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5126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E0033-854E-C6FF-0E9D-DBA68C255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87C587-9B82-DF55-FA10-599E41A52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45EB5D-F604-906E-CE75-AECE4ACA2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5B42F5-167B-74B0-418F-2BD2F8012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5FC9A-A1D5-41EE-AEAA-DD22231E41AA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136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068A2-42FE-4F8A-946F-EC43CCFCA66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3820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839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40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37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72760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28" y="796698"/>
            <a:ext cx="6854371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35451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716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80717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5800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68651C4C-4AD1-19DA-CC78-BEC58707B5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5800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630785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2832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704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295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02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84804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538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70AFB9-F87E-11AC-2B32-B5178FE34E78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1442" y="268927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919352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414779-4CEE-EEAD-8A66-EE043E90B44F}"/>
              </a:ext>
            </a:extLst>
          </p:cNvPr>
          <p:cNvSpPr/>
          <p:nvPr userDrawn="1"/>
        </p:nvSpPr>
        <p:spPr>
          <a:xfrm>
            <a:off x="1611313" y="3215390"/>
            <a:ext cx="2638398" cy="36426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4235A04-C2C9-A7DC-3FE5-1E7D27C0E1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" y="2627313"/>
            <a:ext cx="2525713" cy="33162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7104C814-4179-5378-738C-F0AEB2D153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4326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655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15">
          <p15:clr>
            <a:srgbClr val="FBAE40"/>
          </p15:clr>
        </p15:guide>
        <p15:guide id="9" pos="2167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B883CC-094E-7039-9807-58F11002611B}"/>
              </a:ext>
            </a:extLst>
          </p:cNvPr>
          <p:cNvSpPr/>
          <p:nvPr userDrawn="1"/>
        </p:nvSpPr>
        <p:spPr>
          <a:xfrm>
            <a:off x="0" y="0"/>
            <a:ext cx="5358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DDBBAD-B928-4819-64F5-80A5AECD71C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81500" y="2171699"/>
            <a:ext cx="2971800" cy="45497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8B3586BE-78C6-E426-9F3C-F59381E5CD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4081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632">
          <p15:clr>
            <a:srgbClr val="FBAE40"/>
          </p15:clr>
        </p15:guide>
        <p15:guide id="6" orient="horz" pos="1368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2760">
          <p15:clr>
            <a:srgbClr val="FBAE40"/>
          </p15:clr>
        </p15:guide>
        <p15:guide id="11" pos="7159">
          <p15:clr>
            <a:srgbClr val="FBAE40"/>
          </p15:clr>
        </p15:guide>
        <p15:guide id="12" pos="672">
          <p15:clr>
            <a:srgbClr val="FBAE40"/>
          </p15:clr>
        </p15:guide>
        <p15:guide id="14" orient="horz" pos="2448">
          <p15:clr>
            <a:srgbClr val="FBAE40"/>
          </p15:clr>
        </p15:guide>
        <p15:guide id="15" pos="70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949CF9-AE80-D4A2-E0FC-126A4E8ECBC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46" y="4618037"/>
            <a:ext cx="9314540" cy="1325563"/>
          </a:xfrm>
        </p:spPr>
        <p:txBody>
          <a:bodyPr anchor="b">
            <a:noAutofit/>
          </a:bodyPr>
          <a:lstStyle>
            <a:lvl1pPr algn="r"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7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9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61991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560">
          <p15:clr>
            <a:srgbClr val="FBAE40"/>
          </p15:clr>
        </p15:guide>
        <p15:guide id="7" orient="horz" pos="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502920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5029200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048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960C-86A7-6728-9263-973B76A8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265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02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24232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72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2pPr>
            <a:lvl3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3pPr>
            <a:lvl4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4pPr>
            <a:lvl5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764DE79-268F-4C1A-8933-263129D2AF90}" type="datetimeFigureOut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539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65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2pPr>
            <a:lvl3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3pPr>
            <a:lvl4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4pPr>
            <a:lvl5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2pPr>
            <a:lvl3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3pPr>
            <a:lvl4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4pPr>
            <a:lvl5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764DE79-268F-4C1A-8933-263129D2AF90}" type="datetimeFigureOut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53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475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498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503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66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61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90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933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1F6D-45D4-E601-7C2F-E062159D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15B99-FC10-1D79-0B7C-CC368C008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50694"/>
            <a:ext cx="5181600" cy="403153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1BB50-E98F-AA22-2E73-4D8EBE330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50694"/>
            <a:ext cx="5181600" cy="403153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3D4E75-10C5-EEFC-8313-DCF99FE548F9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8200" y="1506204"/>
            <a:ext cx="10515600" cy="104449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57308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20710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28" y="796698"/>
            <a:ext cx="6854371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35451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716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80717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5800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68651C4C-4AD1-19DA-CC78-BEC58707B5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5800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4244064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2832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704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295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35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4C769-5B6E-5C22-9516-5D7BE462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190F5-D493-CE67-ED1B-D761BFA6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225E-A593-BBE5-FA35-2952DE6D5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812C0-D4F0-C345-96B4-1E8B918506AC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30E95-9162-1956-4897-1AA052698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0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>
              <a:lumMod val="85000"/>
              <a:lumOff val="15000"/>
            </a:schemeClr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>
              <a:lumMod val="85000"/>
              <a:lumOff val="15000"/>
            </a:schemeClr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>
              <a:lumMod val="85000"/>
              <a:lumOff val="15000"/>
            </a:schemeClr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>
              <a:lumMod val="85000"/>
              <a:lumOff val="15000"/>
            </a:schemeClr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>
              <a:lumMod val="85000"/>
              <a:lumOff val="15000"/>
            </a:schemeClr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44">
          <p15:clr>
            <a:srgbClr val="F26B43"/>
          </p15:clr>
        </p15:guide>
        <p15:guide id="4" pos="7416">
          <p15:clr>
            <a:srgbClr val="F26B43"/>
          </p15:clr>
        </p15:guide>
        <p15:guide id="5" pos="3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812C0-D4F0-C345-96B4-1E8B918506AC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03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778" r:id="rId12"/>
    <p:sldLayoutId id="2147483774" r:id="rId13"/>
    <p:sldLayoutId id="2147483776" r:id="rId14"/>
    <p:sldLayoutId id="214748377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understanding-the-four-types-of-artificial-intelligenc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chatgpt.com/s/t_6ad6207129e08191a10876f64ed1e7ab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chatgpt.com/s/t_6ad6207129e08191a10876f64ed1e7ab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kosis.kr/search/search.do" TargetMode="External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4F1F-67FA-0C3D-A93E-0F74A982E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711237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[AI </a:t>
            </a:r>
            <a:r>
              <a:rPr lang="en-US" sz="2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리터러시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교육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ABAEF4-AC9C-3618-C111-C5F9850C2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2333" y="945923"/>
            <a:ext cx="9144000" cy="1427162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생성형 </a:t>
            </a:r>
            <a:r>
              <a:rPr lang="en-US" altLang="ko-K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활용</a:t>
            </a:r>
            <a:endParaRPr lang="en-US" altLang="ko-KR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실무역량 강화 교육</a:t>
            </a:r>
            <a:endParaRPr lang="en-US" altLang="ko-KR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63C892-9246-B4AF-E256-0C1F8C31E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235" y="5976601"/>
            <a:ext cx="2121009" cy="7112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845EA8-F1FE-E42F-1E8E-C78EC685837C}"/>
              </a:ext>
            </a:extLst>
          </p:cNvPr>
          <p:cNvSpPr txBox="1"/>
          <p:nvPr/>
        </p:nvSpPr>
        <p:spPr>
          <a:xfrm>
            <a:off x="2894177" y="2146569"/>
            <a:ext cx="6549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ko-KR" b="1" dirty="0">
                <a:solidFill>
                  <a:schemeClr val="bg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DAY 2 </a:t>
            </a:r>
            <a:r>
              <a:rPr lang="ko-KR" altLang="en-US" b="1" dirty="0">
                <a:solidFill>
                  <a:schemeClr val="bg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생성형 </a:t>
            </a:r>
            <a:r>
              <a:rPr lang="en-US" altLang="ko-KR" b="1" dirty="0">
                <a:solidFill>
                  <a:schemeClr val="bg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b="1" dirty="0">
                <a:solidFill>
                  <a:schemeClr val="bg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기반 데이터 분석</a:t>
            </a:r>
            <a:endParaRPr lang="en-US" b="1" dirty="0">
              <a:solidFill>
                <a:schemeClr val="bg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endParaRPr lang="en-US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96B143-2289-9C46-A0CF-3FA05014D98B}"/>
              </a:ext>
            </a:extLst>
          </p:cNvPr>
          <p:cNvSpPr txBox="1"/>
          <p:nvPr/>
        </p:nvSpPr>
        <p:spPr>
          <a:xfrm>
            <a:off x="4433515" y="6101386"/>
            <a:ext cx="4036717" cy="461665"/>
          </a:xfrm>
          <a:prstGeom prst="rect">
            <a:avLst/>
          </a:prstGeom>
          <a:solidFill>
            <a:schemeClr val="bg1">
              <a:alpha val="51000"/>
            </a:schemeClr>
          </a:solidFill>
        </p:spPr>
        <p:txBody>
          <a:bodyPr wrap="square">
            <a:spAutoFit/>
          </a:bodyPr>
          <a:lstStyle/>
          <a:p>
            <a:pPr lvl="0" algn="ctr"/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김효정 강사</a:t>
            </a:r>
            <a:endParaRPr lang="en-US" sz="2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185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499E8-E613-BC72-3A24-B71FBE71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8AB0C-9751-4715-BACC-E461B7CF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활용 실무역량 강화 교육</a:t>
            </a:r>
            <a:endParaRPr lang="en-US" altLang="ko-KR" dirty="0"/>
          </a:p>
        </p:txBody>
      </p:sp>
      <p:graphicFrame>
        <p:nvGraphicFramePr>
          <p:cNvPr id="13" name="Content Placeholder 10">
            <a:extLst>
              <a:ext uri="{FF2B5EF4-FFF2-40B4-BE49-F238E27FC236}">
                <a16:creationId xmlns:a16="http://schemas.microsoft.com/office/drawing/2014/main" id="{586DA4C0-E55D-27DA-A364-2A70C7D6D5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6229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1924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6096B-852D-43B8-B155-470B8C629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2762-3F54-7D1D-D744-3B641FEF6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B5F20-93C6-2BCB-9126-9C005919E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>
            <a:normAutofit/>
          </a:bodyPr>
          <a:lstStyle/>
          <a:p>
            <a:r>
              <a:rPr lang="ko-KR" altLang="en-US" sz="4000" dirty="0"/>
              <a:t>홍보영상 콘텐츠 설계 실습</a:t>
            </a:r>
            <a:endParaRPr lang="en-US" sz="4000" dirty="0"/>
          </a:p>
          <a:p>
            <a:r>
              <a:rPr lang="en-US" sz="4000" dirty="0"/>
              <a:t>Pandas, Matplotlib </a:t>
            </a:r>
            <a:r>
              <a:rPr lang="ko-KR" altLang="en-US" sz="4000" dirty="0"/>
              <a:t>실습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7796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F3E3A-C13D-764A-1F35-8568AC76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홍보 영상 콘텐츠 설계 실습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7B555C4-514E-3711-90CA-6DD02D362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기관 홍보를 위한 짧은 영상 콘텐츠를 생성형 </a:t>
            </a:r>
            <a:r>
              <a:rPr lang="en-US" altLang="ko-KR" dirty="0"/>
              <a:t>AI</a:t>
            </a:r>
            <a:r>
              <a:rPr lang="ko-KR" altLang="en-US" dirty="0"/>
              <a:t>로 제작하려 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다음 조건에 따라 텍스트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음성</a:t>
            </a:r>
            <a:r>
              <a:rPr lang="en-US" altLang="ko-KR" dirty="0"/>
              <a:t>(TTS) </a:t>
            </a:r>
            <a:r>
              <a:rPr lang="ko-KR" altLang="en-US" dirty="0"/>
              <a:t>구성 요소를 </a:t>
            </a:r>
            <a:r>
              <a:rPr lang="ko-KR" altLang="en-US" dirty="0" err="1"/>
              <a:t>설계하시오</a:t>
            </a:r>
            <a:endParaRPr lang="en-US" altLang="ko-KR" dirty="0"/>
          </a:p>
          <a:p>
            <a:pPr lvl="1"/>
            <a:r>
              <a:rPr lang="ko-KR" altLang="en-US" dirty="0"/>
              <a:t>기관 이름</a:t>
            </a:r>
            <a:r>
              <a:rPr lang="en-US" altLang="ko-KR" dirty="0"/>
              <a:t>: </a:t>
            </a:r>
            <a:r>
              <a:rPr lang="ko-KR" altLang="en-US" dirty="0" err="1"/>
              <a:t>성남여성인력개발센터</a:t>
            </a:r>
            <a:endParaRPr lang="en-US" altLang="ko-KR" dirty="0"/>
          </a:p>
          <a:p>
            <a:pPr lvl="1"/>
            <a:r>
              <a:rPr lang="ko-KR" altLang="en-US" dirty="0"/>
              <a:t>콘셉트</a:t>
            </a:r>
            <a:r>
              <a:rPr lang="en-US" altLang="ko-KR" dirty="0"/>
              <a:t>: </a:t>
            </a:r>
            <a:r>
              <a:rPr lang="ko-KR" altLang="en-US" dirty="0"/>
              <a:t>감성적이면서도 진취적인 느낌</a:t>
            </a:r>
          </a:p>
          <a:p>
            <a:pPr lvl="1"/>
            <a:r>
              <a:rPr lang="ko-KR" altLang="en-US" dirty="0"/>
              <a:t>주요 콘텐츠</a:t>
            </a:r>
            <a:r>
              <a:rPr lang="en-US" altLang="ko-KR" dirty="0"/>
              <a:t>: </a:t>
            </a:r>
            <a:r>
              <a:rPr lang="ko-KR" altLang="en-US" dirty="0" err="1"/>
              <a:t>인트로</a:t>
            </a:r>
            <a:r>
              <a:rPr lang="ko-KR" altLang="en-US" dirty="0"/>
              <a:t> 문구</a:t>
            </a:r>
            <a:r>
              <a:rPr lang="en-US" altLang="ko-KR" dirty="0"/>
              <a:t>, </a:t>
            </a:r>
            <a:r>
              <a:rPr lang="ko-KR" altLang="en-US" dirty="0"/>
              <a:t>이미지 스타일</a:t>
            </a:r>
            <a:r>
              <a:rPr lang="en-US" altLang="ko-KR" dirty="0"/>
              <a:t>, </a:t>
            </a:r>
            <a:r>
              <a:rPr lang="ko-KR" altLang="en-US" dirty="0"/>
              <a:t>배경 음악 또는 </a:t>
            </a:r>
            <a:r>
              <a:rPr lang="en-US" altLang="ko-KR" dirty="0"/>
              <a:t>TTS </a:t>
            </a:r>
            <a:r>
              <a:rPr lang="ko-KR" altLang="en-US" dirty="0"/>
              <a:t>문구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124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401A2-772A-DA6C-CECE-F41358DB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r>
              <a:rPr lang="ko-KR" altLang="en-US" dirty="0"/>
              <a:t>예상 출력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5283E0-FCA7-987D-9738-2A13EFDDF2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37487" y="1488729"/>
            <a:ext cx="5419959" cy="487796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B96FF4C-68BD-03E8-11EB-E5D69EB79E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096000" y="1315773"/>
            <a:ext cx="5924712" cy="53692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8CE641-38C1-B613-DEB5-E30118DEDCB7}"/>
              </a:ext>
            </a:extLst>
          </p:cNvPr>
          <p:cNvSpPr txBox="1"/>
          <p:nvPr/>
        </p:nvSpPr>
        <p:spPr>
          <a:xfrm>
            <a:off x="5059359" y="491309"/>
            <a:ext cx="647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https://chatgpt.com/s/t_6ad6207129e08191a10876f64ed1e7ab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2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22752-8635-657B-9C77-6610A8FA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686B-C97D-3621-8151-0EB9BDE55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r>
              <a:rPr lang="ko-KR" altLang="en-US" dirty="0"/>
              <a:t>예상 출력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AAEA961-97BD-D172-D320-2D2C6B572FF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76187" y="1321357"/>
            <a:ext cx="5882102" cy="4351338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83219F-3C2D-563E-80AA-A3C55B11F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21357"/>
            <a:ext cx="5181600" cy="4855606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전체</a:t>
            </a:r>
            <a:r>
              <a:rPr lang="en-US" dirty="0"/>
              <a:t> TTS </a:t>
            </a:r>
            <a:r>
              <a:rPr lang="en-US" dirty="0" err="1"/>
              <a:t>대본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 err="1"/>
              <a:t>잠시</a:t>
            </a:r>
            <a:r>
              <a:rPr lang="en-US" dirty="0"/>
              <a:t> </a:t>
            </a:r>
            <a:r>
              <a:rPr lang="en-US" dirty="0" err="1"/>
              <a:t>멈춰</a:t>
            </a:r>
            <a:r>
              <a:rPr lang="en-US" dirty="0"/>
              <a:t> </a:t>
            </a:r>
            <a:r>
              <a:rPr lang="en-US" dirty="0" err="1"/>
              <a:t>있던</a:t>
            </a:r>
            <a:r>
              <a:rPr lang="en-US" dirty="0"/>
              <a:t> </a:t>
            </a:r>
            <a:r>
              <a:rPr lang="en-US" dirty="0" err="1"/>
              <a:t>꿈도</a:t>
            </a:r>
            <a:r>
              <a:rPr lang="en-US" dirty="0"/>
              <a:t>, </a:t>
            </a:r>
            <a:r>
              <a:rPr lang="en-US" dirty="0" err="1"/>
              <a:t>다시</a:t>
            </a:r>
            <a:r>
              <a:rPr lang="en-US" dirty="0"/>
              <a:t> </a:t>
            </a:r>
            <a:r>
              <a:rPr lang="en-US" dirty="0" err="1"/>
              <a:t>시작할</a:t>
            </a:r>
            <a:r>
              <a:rPr lang="en-US" dirty="0"/>
              <a:t> 수 </a:t>
            </a:r>
            <a:r>
              <a:rPr lang="en-US" dirty="0" err="1"/>
              <a:t>있습니다</a:t>
            </a:r>
            <a:r>
              <a:rPr lang="en-US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새로운</a:t>
            </a:r>
            <a:r>
              <a:rPr lang="en-US" dirty="0"/>
              <a:t> </a:t>
            </a:r>
            <a:r>
              <a:rPr lang="en-US" dirty="0" err="1"/>
              <a:t>배움으로</a:t>
            </a:r>
            <a:r>
              <a:rPr lang="en-US" dirty="0"/>
              <a:t> </a:t>
            </a:r>
            <a:r>
              <a:rPr lang="en-US" dirty="0" err="1"/>
              <a:t>나만의</a:t>
            </a:r>
            <a:r>
              <a:rPr lang="en-US" dirty="0"/>
              <a:t> </a:t>
            </a:r>
            <a:r>
              <a:rPr lang="en-US" dirty="0" err="1"/>
              <a:t>가능성을</a:t>
            </a:r>
            <a:r>
              <a:rPr lang="en-US" dirty="0"/>
              <a:t> </a:t>
            </a:r>
            <a:r>
              <a:rPr lang="en-US" dirty="0" err="1"/>
              <a:t>키우고</a:t>
            </a:r>
            <a:r>
              <a:rPr lang="en-US" dirty="0"/>
              <a:t>, </a:t>
            </a:r>
            <a:r>
              <a:rPr lang="en-US" dirty="0" err="1"/>
              <a:t>나의</a:t>
            </a:r>
            <a:r>
              <a:rPr lang="en-US" dirty="0"/>
              <a:t> </a:t>
            </a:r>
            <a:r>
              <a:rPr lang="en-US" dirty="0" err="1"/>
              <a:t>경험을</a:t>
            </a:r>
            <a:r>
              <a:rPr lang="en-US" dirty="0"/>
              <a:t> </a:t>
            </a:r>
            <a:r>
              <a:rPr lang="en-US" dirty="0" err="1"/>
              <a:t>새로운</a:t>
            </a:r>
            <a:r>
              <a:rPr lang="en-US" dirty="0"/>
              <a:t> </a:t>
            </a:r>
            <a:r>
              <a:rPr lang="en-US" dirty="0" err="1"/>
              <a:t>기회로</a:t>
            </a:r>
            <a:r>
              <a:rPr lang="en-US" dirty="0"/>
              <a:t> </a:t>
            </a:r>
            <a:r>
              <a:rPr lang="en-US" dirty="0" err="1"/>
              <a:t>연결하는</a:t>
            </a:r>
            <a:r>
              <a:rPr lang="en-US" dirty="0"/>
              <a:t> </a:t>
            </a:r>
            <a:r>
              <a:rPr lang="en-US" dirty="0" err="1"/>
              <a:t>시간</a:t>
            </a:r>
            <a:r>
              <a:rPr lang="en-US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작은</a:t>
            </a:r>
            <a:r>
              <a:rPr lang="en-US" dirty="0"/>
              <a:t> </a:t>
            </a:r>
            <a:r>
              <a:rPr lang="en-US" dirty="0" err="1"/>
              <a:t>도전이</a:t>
            </a:r>
            <a:r>
              <a:rPr lang="en-US" dirty="0"/>
              <a:t> </a:t>
            </a:r>
            <a:r>
              <a:rPr lang="en-US" dirty="0" err="1"/>
              <a:t>모여</a:t>
            </a:r>
            <a:r>
              <a:rPr lang="en-US" dirty="0"/>
              <a:t>, 더 큰 </a:t>
            </a:r>
            <a:r>
              <a:rPr lang="en-US" dirty="0" err="1"/>
              <a:t>내일을</a:t>
            </a:r>
            <a:r>
              <a:rPr lang="en-US" dirty="0"/>
              <a:t> </a:t>
            </a:r>
            <a:r>
              <a:rPr lang="en-US" dirty="0" err="1"/>
              <a:t>만듭니다</a:t>
            </a:r>
            <a:r>
              <a:rPr lang="en-US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여성의</a:t>
            </a:r>
            <a:r>
              <a:rPr lang="en-US" dirty="0"/>
              <a:t> </a:t>
            </a:r>
            <a:r>
              <a:rPr lang="en-US" dirty="0" err="1"/>
              <a:t>꿈과</a:t>
            </a:r>
            <a:r>
              <a:rPr lang="en-US" dirty="0"/>
              <a:t> </a:t>
            </a:r>
            <a:r>
              <a:rPr lang="en-US" dirty="0" err="1"/>
              <a:t>성장을</a:t>
            </a:r>
            <a:r>
              <a:rPr lang="en-US" dirty="0"/>
              <a:t> </a:t>
            </a:r>
            <a:r>
              <a:rPr lang="en-US" dirty="0" err="1"/>
              <a:t>함께하는</a:t>
            </a:r>
            <a:r>
              <a:rPr lang="en-US" dirty="0"/>
              <a:t> 곳. </a:t>
            </a:r>
            <a:r>
              <a:rPr lang="en-US" dirty="0" err="1"/>
              <a:t>성남여성인력개발센터</a:t>
            </a:r>
            <a:r>
              <a:rPr lang="en-US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당신의</a:t>
            </a:r>
            <a:r>
              <a:rPr lang="en-US" dirty="0"/>
              <a:t> </a:t>
            </a:r>
            <a:r>
              <a:rPr lang="en-US" dirty="0" err="1"/>
              <a:t>새로운</a:t>
            </a:r>
            <a:r>
              <a:rPr lang="en-US" dirty="0"/>
              <a:t> </a:t>
            </a:r>
            <a:r>
              <a:rPr lang="en-US" dirty="0" err="1"/>
              <a:t>시작을</a:t>
            </a:r>
            <a:r>
              <a:rPr lang="en-US" dirty="0"/>
              <a:t> </a:t>
            </a:r>
            <a:r>
              <a:rPr lang="en-US" dirty="0" err="1"/>
              <a:t>응원합니다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배경음악 생성 프롬프트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dirty="0"/>
              <a:t>Create a 40-second inspirational cinematic instrumental soundtrack for a Korean women's career development center promotional video. Begin with gentle emotional piano and warm ambient textures. Gradually introduce uplifting strings, subtle percussion, and a confident rhythmic pulse. Build toward an empowering and hopeful climax, then finish with a warm, elegant piano resolution. The mood should feel compassionate, progressive, trustworthy, and empowering. Modern documentary advertising style, polished production, no vocals, no lyrics, no dramatic tension. Leave space for Korean voice-over narration.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8964A1-2A48-BC55-7792-E07C7759201D}"/>
              </a:ext>
            </a:extLst>
          </p:cNvPr>
          <p:cNvSpPr txBox="1"/>
          <p:nvPr/>
        </p:nvSpPr>
        <p:spPr>
          <a:xfrm>
            <a:off x="5059359" y="491309"/>
            <a:ext cx="647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https://chatgpt.com/s/t_6ad6207129e08191a10876f64ed1e7ab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5CEFE7-0635-FAF7-7FEA-06C203EF2183}"/>
              </a:ext>
            </a:extLst>
          </p:cNvPr>
          <p:cNvSpPr txBox="1"/>
          <p:nvPr/>
        </p:nvSpPr>
        <p:spPr>
          <a:xfrm>
            <a:off x="9245868" y="5991348"/>
            <a:ext cx="2107932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Gemini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</a:t>
            </a:r>
            <a:r>
              <a:rPr 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이용해 음악생성</a:t>
            </a: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863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FBF6-81D9-A3B1-0B03-E4E18503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영상 제작 </a:t>
            </a:r>
            <a:r>
              <a:rPr lang="en-US" altLang="ko-KR" dirty="0"/>
              <a:t>AI </a:t>
            </a:r>
            <a:r>
              <a:rPr lang="ko-KR" altLang="en-US" dirty="0"/>
              <a:t>도구들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B25D31-7DF1-B732-A6F8-471C189904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0784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49F12-7804-BA25-0273-198F76B7D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FCB3-BD2C-B7CE-874C-2BD3188D2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25" y="4572000"/>
            <a:ext cx="10481771" cy="1037880"/>
          </a:xfrm>
          <a:solidFill>
            <a:schemeClr val="tx1">
              <a:alpha val="52000"/>
            </a:schemeClr>
          </a:solidFill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altLang="ko-K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Pandas</a:t>
            </a:r>
            <a:r>
              <a:rPr lang="ko-KR" altLang="en-U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를 이용한 </a:t>
            </a:r>
            <a:r>
              <a:rPr lang="ko-KR" altLang="en-US" sz="5400" dirty="0">
                <a:solidFill>
                  <a:schemeClr val="bg1"/>
                </a:solidFill>
              </a:rPr>
              <a:t>데이터 분석 실습</a:t>
            </a:r>
            <a:endParaRPr lang="en-US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552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분석 및 시각화를 위한 </a:t>
            </a:r>
            <a:br>
              <a:rPr lang="en-US" altLang="ko-KR" dirty="0"/>
            </a:br>
            <a:r>
              <a:rPr lang="ko-KR" altLang="en-US" dirty="0"/>
              <a:t>파이썬 라이브러리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677333" y="2010833"/>
          <a:ext cx="10752667" cy="3767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2669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Pandas </a:t>
            </a:r>
            <a:r>
              <a:rPr lang="ko-KR" altLang="en-US" dirty="0" err="1"/>
              <a:t>팬다스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19C4B3-BD05-187E-ACF8-9A9F00FF7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The Pandas library is built on NumPy and provides easy-to-use data structures and data analysis tools for the Python programming language. </a:t>
            </a:r>
            <a:r>
              <a:rPr lang="ko-KR" altLang="en-US" dirty="0" err="1"/>
              <a:t>넘파이</a:t>
            </a:r>
            <a:r>
              <a:rPr lang="ko-KR" altLang="en-US" dirty="0"/>
              <a:t> 위에 만들어진 라이브러리로 데이터 분석을 위해 사용하기 편한 데이터 구조를 제공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dirty="0"/>
              <a:t>You can install Pandas using pip. </a:t>
            </a:r>
            <a:r>
              <a:rPr lang="ko-KR" altLang="en-US" dirty="0"/>
              <a:t>피아이피를 이용하여 설치할 수 있음</a:t>
            </a:r>
            <a:endParaRPr lang="en-US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pip install pandas</a:t>
            </a:r>
          </a:p>
          <a:p>
            <a:pPr>
              <a:lnSpc>
                <a:spcPct val="120000"/>
              </a:lnSpc>
            </a:pPr>
            <a:r>
              <a:rPr lang="en-US" dirty="0"/>
              <a:t>Can also update your Pandas to a newer version.  </a:t>
            </a:r>
            <a:r>
              <a:rPr lang="ko-KR" altLang="en-US" dirty="0"/>
              <a:t>업데이트 할 때</a:t>
            </a:r>
            <a:endParaRPr lang="en-US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pip install pandas --upgrade</a:t>
            </a:r>
          </a:p>
          <a:p>
            <a:pPr>
              <a:lnSpc>
                <a:spcPct val="120000"/>
              </a:lnSpc>
            </a:pPr>
            <a:r>
              <a:rPr lang="en-US" dirty="0"/>
              <a:t>Then import the library into your script. </a:t>
            </a:r>
            <a:r>
              <a:rPr lang="ko-KR" altLang="en-US" dirty="0"/>
              <a:t>라이브러리를 코드 안에서 </a:t>
            </a:r>
            <a:r>
              <a:rPr lang="ko-KR" altLang="en-US" dirty="0" err="1"/>
              <a:t>임포트</a:t>
            </a:r>
            <a:endParaRPr lang="en-US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  <a:endParaRPr lang="en-US" sz="2500" dirty="0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080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6269B9C-50F3-3270-4520-E44E6115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근무시간 분석을 위한 코드 생성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75C83-C4FE-A5EC-7092-6CBDF8B85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noFill/>
        </p:spPr>
        <p:txBody>
          <a:bodyPr/>
          <a:lstStyle/>
          <a:p>
            <a:r>
              <a:rPr lang="ko-KR" altLang="en-US" dirty="0"/>
              <a:t>직원 근무시간을 관리하기 위해 근태 로그 파일 </a:t>
            </a:r>
            <a:r>
              <a:rPr lang="en-US" altLang="ko-KR" dirty="0"/>
              <a:t>attendance.csv</a:t>
            </a:r>
            <a:r>
              <a:rPr lang="ko-KR" altLang="en-US" dirty="0"/>
              <a:t>가 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파일에는 </a:t>
            </a:r>
            <a:r>
              <a:rPr lang="en-US" altLang="ko-KR" dirty="0"/>
              <a:t>Name, Date, </a:t>
            </a:r>
            <a:r>
              <a:rPr lang="en-US" altLang="ko-KR" dirty="0" err="1"/>
              <a:t>Check_in</a:t>
            </a:r>
            <a:r>
              <a:rPr lang="en-US" altLang="ko-KR" dirty="0"/>
              <a:t>, </a:t>
            </a:r>
            <a:r>
              <a:rPr lang="en-US" altLang="ko-KR" dirty="0" err="1"/>
              <a:t>Check_out</a:t>
            </a:r>
            <a:r>
              <a:rPr lang="en-US" altLang="ko-KR" dirty="0"/>
              <a:t> </a:t>
            </a:r>
            <a:r>
              <a:rPr lang="ko-KR" altLang="en-US" dirty="0"/>
              <a:t>컬럼이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요구사항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CSV </a:t>
            </a:r>
            <a:r>
              <a:rPr lang="ko-KR" altLang="en-US" dirty="0"/>
              <a:t>파일을 읽고</a:t>
            </a:r>
            <a:r>
              <a:rPr lang="en-US" altLang="ko-KR" dirty="0"/>
              <a:t>,</a:t>
            </a:r>
          </a:p>
          <a:p>
            <a:pPr lvl="1"/>
            <a:r>
              <a:rPr lang="ko-KR" altLang="en-US" dirty="0"/>
              <a:t>각 직원별로 평균 근무 시간</a:t>
            </a:r>
            <a:r>
              <a:rPr lang="en-US" altLang="ko-KR" dirty="0"/>
              <a:t>(</a:t>
            </a:r>
            <a:r>
              <a:rPr lang="ko-KR" altLang="en-US" dirty="0"/>
              <a:t>시간 단위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ko-KR" altLang="en-US" dirty="0" err="1"/>
              <a:t>계산하시오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결과를 </a:t>
            </a:r>
            <a:r>
              <a:rPr lang="en-US" altLang="ko-KR" dirty="0"/>
              <a:t>staff_avg_hours.csv </a:t>
            </a:r>
            <a:r>
              <a:rPr lang="ko-KR" altLang="en-US" dirty="0"/>
              <a:t>파일로 저장하는 코드를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146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56FF-E0F8-A613-EA33-E84FC16A5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attendance.csv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8F00C-0F18-729F-6891-279FF733D300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Name,Date,Check_in,Check_out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김철수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,2023-01-01,09:00:00,17:00:00</a:t>
            </a:r>
          </a:p>
          <a:p>
            <a:pPr marL="0" indent="0">
              <a:buNone/>
            </a:pP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김영희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,2023-01-01,09:30:00,18:00:00</a:t>
            </a:r>
          </a:p>
          <a:p>
            <a:pPr marL="0" indent="0">
              <a:buNone/>
            </a:pP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김철수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,2023-01-02,08:45:00,17:15:00</a:t>
            </a:r>
          </a:p>
          <a:p>
            <a:pPr marL="0" indent="0">
              <a:buNone/>
            </a:pP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김영희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,2023-01-02,10:00:00,18:30:00</a:t>
            </a:r>
          </a:p>
          <a:p>
            <a:pPr marL="0" indent="0">
              <a:buNone/>
            </a:pP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박지민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,2023-01-01,09:00:00,17:30:00</a:t>
            </a:r>
          </a:p>
          <a:p>
            <a:pPr marL="0" indent="0">
              <a:buNone/>
            </a:pP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김철수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,2023-01-03,09:10:00,17:00:00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640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3CA51A-6DEC-8B6C-4C09-6FD8FEAA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attendance.csv </a:t>
            </a:r>
            <a:r>
              <a:rPr lang="ko-KR" altLang="en-US" dirty="0"/>
              <a:t>파일 읽기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3E126-C6C2-F727-010D-2E018251869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1. attendance.csv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 읽기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('attendance.csv')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print("✅ 'attendance.csv'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파일을 성공적으로 읽었습니다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!")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print("❌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오류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attendance.csv'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파일을 찾을 수 없어요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파일이 같은 폴더에 있는지 확인해주세요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.")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exit() 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파일이 없으면 프로그램을 종료해요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880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EC75-D603-7B54-69B7-978920E8E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0B46C2-F6E4-E671-E378-8CEAE44F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'</a:t>
            </a:r>
            <a:r>
              <a:rPr lang="en-US" dirty="0" err="1"/>
              <a:t>Check_in</a:t>
            </a:r>
            <a:r>
              <a:rPr lang="en-US" dirty="0"/>
              <a:t>'</a:t>
            </a:r>
            <a:r>
              <a:rPr lang="ko-KR" altLang="en-US" dirty="0"/>
              <a:t>과 </a:t>
            </a:r>
            <a:r>
              <a:rPr lang="en-US" altLang="ko-KR" dirty="0"/>
              <a:t>'</a:t>
            </a:r>
            <a:r>
              <a:rPr lang="en-US" dirty="0" err="1"/>
              <a:t>Check_out</a:t>
            </a:r>
            <a:r>
              <a:rPr lang="en-US" dirty="0"/>
              <a:t>' </a:t>
            </a:r>
            <a:r>
              <a:rPr lang="ko-KR" altLang="en-US" dirty="0"/>
              <a:t>시간을 </a:t>
            </a:r>
            <a:r>
              <a:rPr lang="en-US" dirty="0"/>
              <a:t>datetime </a:t>
            </a:r>
            <a:r>
              <a:rPr lang="ko-KR" altLang="en-US" dirty="0"/>
              <a:t>형식으로 변환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DC322-C689-9A92-0155-8C4C0B96A21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2. 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과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시간을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datetime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형식으로 변환하기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날짜와 시간을 합쳐서 정확한 시간 계산을 위해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datetime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객체로 만들어줘요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Check_in_datetime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pd.to_datetime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['Date'] + ' '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Check_out_datetime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pd.to_datetime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['Date'] + ' '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'])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59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E1823-68E9-E75D-6898-FBB885F6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AAF800-5977-72FF-5461-8EBD020B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근무 시간 계산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097E-63A7-E7BC-D3E0-3F7C6CA08A5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시간에서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시간을 빼서 근무 시간을 구해요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['Duration']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Check_out_datetime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'] -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Check_in_datetime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근무 시간을 시간 단위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float)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로 변환해요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 (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초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/ 3600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초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Working_Hours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['Duration'].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dt.total_seconds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/ 3600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513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92F44-CC07-5C03-BC35-9DFEDCFB1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7BE50E-A3C6-F15C-19B6-2D5127BC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ko-KR" altLang="en-US" dirty="0"/>
              <a:t>각 </a:t>
            </a:r>
            <a:r>
              <a:rPr lang="ko-KR" altLang="en-US" dirty="0" err="1"/>
              <a:t>직원별</a:t>
            </a:r>
            <a:r>
              <a:rPr lang="ko-KR" altLang="en-US" dirty="0"/>
              <a:t> 평균 근무 시간 계산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515C4-0571-0754-A937-3F14914134A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Name'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으로 그룹을 지어서 각 직원의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Working_Hours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평균을 구해요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average_hours_per_staff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('Name')['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Working_Hours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'].mean().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reset_index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컬럼 이름을 좀 더 명확하게 </a:t>
            </a:r>
            <a:r>
              <a:rPr lang="ko-KR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바꿔줄게요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average_hours_per_staff.rename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(columns={'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Working_Hours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': 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Average_Working_Hours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'},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</p:txBody>
      </p:sp>
    </p:spTree>
    <p:extLst>
      <p:ext uri="{BB962C8B-B14F-4D97-AF65-F5344CB8AC3E}">
        <p14:creationId xmlns:p14="http://schemas.microsoft.com/office/powerpoint/2010/main" val="2538365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5A89D-8650-BE98-E882-D68249826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D935C5-988A-0E3E-4DE1-816E2578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ko-KR" altLang="en-US" dirty="0"/>
              <a:t>결과를 </a:t>
            </a:r>
            <a:r>
              <a:rPr lang="en-US" dirty="0"/>
              <a:t>staff_avg_hours.csv </a:t>
            </a:r>
            <a:r>
              <a:rPr lang="ko-KR" altLang="en-US" dirty="0"/>
              <a:t>파일로 저장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55402B0-0D2D-1D05-2551-C39778B94C25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output_filename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'staff_avg_hours.csv'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average_hours_per_staff.to_csv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output_filename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index=False) # index=False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는 불필요한 인덱스 컬럼이 저장되지 않도록 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print(f"🎉 </a:t>
            </a:r>
            <a:r>
              <a:rPr lang="ko-KR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직원별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평균 근무 시간이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'{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output_filename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파일로 저장되었습니다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!")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print("\n---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결과 미리보기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---")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average_hours_per_staff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2287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CCA6D3-D41C-0CAB-F9AE-4CEFEE2A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예산 집행 내역 분석을 위한 코드 생성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1E93E97-9944-0000-09E5-33AE9ABE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교육행정 부서에서는 매년 예산 집행 내역을 </a:t>
            </a:r>
            <a:r>
              <a:rPr lang="en-US" altLang="ko-KR" dirty="0"/>
              <a:t>CSV </a:t>
            </a:r>
            <a:r>
              <a:rPr lang="ko-KR" altLang="en-US" dirty="0"/>
              <a:t>파일로 관리한다</a:t>
            </a:r>
            <a:r>
              <a:rPr lang="en-US" altLang="ko-KR" dirty="0"/>
              <a:t>. budget_2024.csv </a:t>
            </a:r>
            <a:r>
              <a:rPr lang="ko-KR" altLang="en-US" dirty="0"/>
              <a:t>파일에는 </a:t>
            </a:r>
            <a:r>
              <a:rPr lang="en-US" altLang="ko-KR" dirty="0"/>
              <a:t>Category, Allocated, Used </a:t>
            </a:r>
            <a:r>
              <a:rPr lang="ko-KR" altLang="en-US" dirty="0"/>
              <a:t>컬럼이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요구사항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CSV </a:t>
            </a:r>
            <a:r>
              <a:rPr lang="ko-KR" altLang="en-US" dirty="0"/>
              <a:t>파일을 불러와</a:t>
            </a:r>
            <a:r>
              <a:rPr lang="en-US" altLang="ko-KR" dirty="0"/>
              <a:t>,</a:t>
            </a:r>
          </a:p>
          <a:p>
            <a:pPr lvl="1"/>
            <a:r>
              <a:rPr lang="ko-KR" altLang="en-US" dirty="0"/>
              <a:t>각 항목별 잔여 예산</a:t>
            </a:r>
            <a:r>
              <a:rPr lang="en-US" altLang="ko-KR" dirty="0"/>
              <a:t>(Remaining = Allocated - Used)</a:t>
            </a:r>
            <a:r>
              <a:rPr lang="ko-KR" altLang="en-US" dirty="0"/>
              <a:t>을 계산하고</a:t>
            </a:r>
            <a:r>
              <a:rPr lang="en-US" altLang="ko-KR" dirty="0"/>
              <a:t>,</a:t>
            </a:r>
          </a:p>
          <a:p>
            <a:pPr lvl="1"/>
            <a:r>
              <a:rPr lang="ko-KR" altLang="en-US" dirty="0"/>
              <a:t>잔여 예산이 </a:t>
            </a:r>
            <a:r>
              <a:rPr lang="en-US" altLang="ko-KR" dirty="0"/>
              <a:t>0 </a:t>
            </a:r>
            <a:r>
              <a:rPr lang="ko-KR" altLang="en-US" dirty="0"/>
              <a:t>이하인 항목만 출력하는 코드를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787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51BEB-D484-9CF0-4106-04ADF034A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budget_2024.csv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58955-E5C7-8F20-8ADC-700191CF99F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Category,Allocated,Used</a:t>
            </a: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인건비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,10000000,9800000</a:t>
            </a:r>
          </a:p>
          <a:p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운영비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,5000000,5200000</a:t>
            </a:r>
          </a:p>
          <a:p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시설유지보수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,3000000,2900000</a:t>
            </a:r>
          </a:p>
          <a:p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교재비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,2000000,2000000</a:t>
            </a:r>
          </a:p>
          <a:p>
            <a:r>
              <a:rPr lang="ko-KR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홍보비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,1500000,1600000</a:t>
            </a:r>
          </a:p>
          <a:p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전기요금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,1000000,1050000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976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0FDDFF-BAD0-B88D-DC4F-152935F03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budget_2024.csv </a:t>
            </a:r>
            <a:r>
              <a:rPr lang="ko-KR" altLang="en-US" dirty="0"/>
              <a:t>파일 불러오기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564F8-12DD-EFBF-C213-F11100726393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'budget_2024.csv'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print(f"✅ '{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파일을 성공적으로 불러왔습니다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!")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print(f"❌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오류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'{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파일을 찾을 수 없어요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파일이 같은 폴더에 있는지 확인해주세요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.")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exit() 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파일이 없으면 프로그램을 종료해요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002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8BB0-D955-F233-8304-943C0021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6C932B-FA2B-254A-9D14-ED1BCE6BD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각 항목별 잔여 예산</a:t>
            </a:r>
            <a:r>
              <a:rPr lang="en-US" altLang="ko-KR" dirty="0"/>
              <a:t>(</a:t>
            </a:r>
            <a:r>
              <a:rPr lang="en-US" dirty="0"/>
              <a:t>Remaining) </a:t>
            </a:r>
            <a:r>
              <a:rPr lang="ko-KR" altLang="en-US" dirty="0"/>
              <a:t>계산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ABA3-7B39-8285-BB99-7C4B4C07038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Allocated'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에서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Used'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를 빼서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Remaining'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컬럼을 새로 만들어요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['Remaining']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['Allocated'] -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['Used']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print("\n---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각 항목별 잔여 예산 계산 결과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---")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[['Category', 'Allocated', 'Used', 'Remaining']]) 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계산된 잔여 예산까지 함께 보여줘요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452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8E2F2-604D-4959-1459-E359BAF4C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6297A2-6DA1-F0DF-B206-8D671B9A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잔여 예산이 </a:t>
            </a:r>
            <a:r>
              <a:rPr lang="en-US" altLang="ko-KR" dirty="0"/>
              <a:t>0 </a:t>
            </a:r>
            <a:r>
              <a:rPr lang="ko-KR" altLang="en-US" dirty="0"/>
              <a:t>이하인 항목만 출력하기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70EF4-6721-2F7B-1932-897B63A6FFD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Remaining'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컬럼의 값이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보다 작거나 같은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(0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이하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항목들만 필터링해요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즉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예산을 모두 사용했거나 초과 사용한 항목들을 찾는 거죠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insufficient_budget_items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['Remaining'] &lt;= 0]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print("\n---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잔여 예산이 부족하거나 모두 소진된 항목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Remaining &lt;= 0) ---")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not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insufficient_budget_items.empty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insufficient_budget_items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[['Category', 'Allocated', 'Used', 'Remaining']])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print("✨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잔여 예산이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이하인 항목이 없어요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!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모든 예산이 잘 관리되고 있네요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😊")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11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4863F0-D77D-01CB-4333-105660BBA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민원 처리 데이터 분석을 위한 코드 생성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5FFEF-BE6E-5C2D-A77B-FC1783395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민원 처리 데이터가 담긴 엑셀 파일 </a:t>
            </a:r>
            <a:r>
              <a:rPr lang="en-US" altLang="ko-KR" dirty="0"/>
              <a:t>complaints.xlsx</a:t>
            </a:r>
            <a:r>
              <a:rPr lang="ko-KR" altLang="en-US" dirty="0"/>
              <a:t>가 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파일에는 </a:t>
            </a:r>
            <a:r>
              <a:rPr lang="en-US" altLang="ko-KR" dirty="0"/>
              <a:t>Name, Department, Complaint, Date </a:t>
            </a:r>
            <a:r>
              <a:rPr lang="ko-KR" altLang="en-US" dirty="0"/>
              <a:t>컬럼이 포함되어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요구사항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파일을 불러오고</a:t>
            </a:r>
            <a:r>
              <a:rPr lang="en-US" altLang="ko-KR" dirty="0"/>
              <a:t>,</a:t>
            </a:r>
          </a:p>
          <a:p>
            <a:pPr lvl="1"/>
            <a:r>
              <a:rPr lang="ko-KR" altLang="en-US" dirty="0"/>
              <a:t>부서별 민원 건수를 집계한 후</a:t>
            </a:r>
            <a:r>
              <a:rPr lang="en-US" altLang="ko-KR" dirty="0"/>
              <a:t>,</a:t>
            </a:r>
          </a:p>
          <a:p>
            <a:pPr lvl="1"/>
            <a:r>
              <a:rPr lang="ko-KR" altLang="en-US" dirty="0"/>
              <a:t>결과를 </a:t>
            </a:r>
            <a:r>
              <a:rPr lang="en-US" altLang="ko-KR" dirty="0"/>
              <a:t>department_summary.xlsx</a:t>
            </a:r>
            <a:r>
              <a:rPr lang="ko-KR" altLang="en-US" dirty="0"/>
              <a:t>로 저장하는 코드를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1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EBE3-37CE-3D5C-DC0F-FA9A8535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complaints.xlsx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B56B85-8EFC-59AB-E46F-798C103F68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6009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0405216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201950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401416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23894819"/>
                    </a:ext>
                  </a:extLst>
                </a:gridCol>
              </a:tblGrid>
              <a:tr h="395576">
                <a:tc>
                  <a:txBody>
                    <a:bodyPr/>
                    <a:lstStyle/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2400" b="1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Name</a:t>
                      </a: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2400" b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Department</a:t>
                      </a: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2400" b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Complaint</a:t>
                      </a: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2400" b="1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Date</a:t>
                      </a:r>
                    </a:p>
                  </a:txBody>
                  <a:tcPr marL="56511" marR="56511" marT="28255" marB="28255" anchor="b"/>
                </a:tc>
                <a:extLst>
                  <a:ext uri="{0D108BD9-81ED-4DB2-BD59-A6C34878D82A}">
                    <a16:rowId xmlns:a16="http://schemas.microsoft.com/office/drawing/2014/main" val="4181862164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김민준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교무처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성적 정정 문의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2026-07-01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2326295317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이서연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학생지원팀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장학금 신청 문의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2026-07-01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928323202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박도현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교무처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수업 시간표 문의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2026-07-02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594619628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최유진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시설관리팀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에어컨 고장 신고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2026-07-02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90394094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정하윤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학생지원팀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학생증 재발급 문의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2026-07-03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017514383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김민준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시설관리팀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화장실 청소 요청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2026-07-03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389221947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이서연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교무처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ko-KR" altLang="en-US" sz="24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졸업 요건 문의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indent="0" algn="l" fontAlgn="base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2026-07-04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259107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454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3BCE8-80E5-3B9F-0624-C3079A01A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파일 불러오기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DD4ED60-66CB-C161-E933-B6E5E2EC03A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pPr marL="0" indent="0">
              <a:buNone/>
            </a:pP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입력 파일과 출력 파일 이름 설정</a:t>
            </a:r>
          </a:p>
          <a:p>
            <a:pPr marL="0" indent="0">
              <a:buNone/>
            </a:pP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input_file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'complaints.xlsx'</a:t>
            </a:r>
          </a:p>
          <a:p>
            <a:pPr marL="0" indent="0">
              <a:buNone/>
            </a:pP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output_file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'department_summary.xlsx'</a:t>
            </a:r>
          </a:p>
          <a:p>
            <a:pPr marL="0" indent="0">
              <a:buNone/>
            </a:pP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1. student_complaints.xlsx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 불러오기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try: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엑셀 파일 불러오기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첫 번째 시트 기준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pd.read_excel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input_file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print(f"✅ '{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input_file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}'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파일을 성공적으로 불러왔습니다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!")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except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FileNotFoundError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print(f"❌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오류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'{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input_file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}'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파일을 찾을 수 없어요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파일이 같은 폴더에 있는지 확인해주세요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.")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exit() 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파일이 없으면 프로그램을 종료해요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except Exception as e: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print(f"❌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파일을 불러오는 중 오류가 발생했어요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{e}")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exit()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72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8E20D-18FF-898D-59C1-1CE9CB2D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CFB4-E14B-12E9-0099-E299615B3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부서별 민원 건수 집계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71403-9279-8571-A27D-07FC75B9869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2.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부서별 민원 건수 집계하기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'Department'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컬럼을 기준으로 그룹화하고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각 그룹의 크기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(row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를 세어 민원 건수를 구해요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.size()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를 사용하면 각 그룹의 행 개수를 세어준답니다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department_counts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('Department').size().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reset_index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(name='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Complaint_Count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206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E00E-C4AF-A8D0-B753-6463F9D2D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94E9A-6514-82D2-2791-2CFF09BE3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결과를 파일로 저장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A680E-643D-FE61-8BD2-DAD0B1ECBFF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3.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결과를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department_summary.xlsx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파일로 저장하기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try: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#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to_excel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함수를 사용하여 엑셀 파일로 저장</a:t>
            </a:r>
          </a:p>
          <a:p>
            <a:pPr marL="0" indent="0">
              <a:buNone/>
            </a:pP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index=False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는 데이터프레임의 인덱스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순번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가 엑셀 파일에 저장되지 않도록 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department_counts.to_excel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output_file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index=False)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🎉 부서별 민원 건수가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'{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output_file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}'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파일로 성공적으로 저장되었습니다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!")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except Exception as e: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print(f"❌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결과를 엑셀 파일로 저장하는 중 오류가 발생했어요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{e}")</a:t>
            </a:r>
          </a:p>
          <a:p>
            <a:pPr marL="0" indent="0">
              <a:buNone/>
            </a:pP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print("\n---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부서별 민원 건수 집계 결과 미리보기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---")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department_counts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307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3E237-FAD7-8F01-B352-FE199ABB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2606-ABE9-D698-ACCF-F2BCE5B91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114" y="838199"/>
            <a:ext cx="10481771" cy="1001915"/>
          </a:xfrm>
          <a:solidFill>
            <a:schemeClr val="tx1">
              <a:alpha val="52000"/>
            </a:schemeClr>
          </a:solidFill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Matplotlib</a:t>
            </a:r>
            <a:r>
              <a:rPr lang="ko-KR" alt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를 이용한 </a:t>
            </a:r>
            <a:r>
              <a:rPr lang="ko-KR" altLang="en-US" sz="4800" dirty="0">
                <a:solidFill>
                  <a:schemeClr val="bg1"/>
                </a:solidFill>
              </a:rPr>
              <a:t>데이터 분석 실습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556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9543"/>
            <a:ext cx="10515600" cy="373241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 Python 2D plotting library which produces publication quality figures in a variety of hardcopy formats and interactive environments across platforms. </a:t>
            </a:r>
            <a:r>
              <a:rPr lang="ko-KR" altLang="en-US" dirty="0"/>
              <a:t>여러 플랫폼에 걸쳐 다양한 형식의 고퀄리티 </a:t>
            </a:r>
            <a:r>
              <a:rPr lang="en-US" dirty="0"/>
              <a:t>2D </a:t>
            </a:r>
            <a:r>
              <a:rPr lang="ko-KR" altLang="en-US" dirty="0"/>
              <a:t>그래프를 그리기 위한 파이썬 라이브러리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An art of how to turn numbers into useful knowledge. </a:t>
            </a:r>
            <a:r>
              <a:rPr lang="ko-KR" altLang="en-US" dirty="0"/>
              <a:t>숫자 정보를 더 유용한 정보로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dirty="0"/>
              <a:t>You can install matplotlib using pip. </a:t>
            </a:r>
            <a:r>
              <a:rPr lang="ko-KR" altLang="en-US" dirty="0"/>
              <a:t>피아이피를 이용해서 설치할 수 있음</a:t>
            </a:r>
            <a:endParaRPr lang="en-US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pip install matplotlib</a:t>
            </a:r>
          </a:p>
          <a:p>
            <a:pPr>
              <a:lnSpc>
                <a:spcPct val="120000"/>
              </a:lnSpc>
            </a:pPr>
            <a:r>
              <a:rPr lang="en-US" dirty="0"/>
              <a:t>Can also update your matplotlib to a newer version. </a:t>
            </a:r>
            <a:r>
              <a:rPr lang="ko-KR" altLang="en-US" dirty="0"/>
              <a:t>새로운 버전으로 업데이트할 수 있음</a:t>
            </a:r>
            <a:endParaRPr lang="en-US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pip install matplotlib –upgrade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Import the library into your script. </a:t>
            </a:r>
            <a:r>
              <a:rPr lang="ko-KR" altLang="en-US" dirty="0"/>
              <a:t>먼저 라이브러리를 코드 안에 </a:t>
            </a:r>
            <a:r>
              <a:rPr lang="ko-KR" altLang="en-US" dirty="0" err="1"/>
              <a:t>임포트</a:t>
            </a:r>
            <a:endParaRPr lang="en-US" altLang="ko-KR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altLang="en-US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alt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altLang="en-US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altLang="en-US" dirty="0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739" y="4980700"/>
            <a:ext cx="6883400" cy="165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6403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E44F8-1E08-8478-92EB-8B390E481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C837F-DE31-EDFD-1653-2C1BACDE81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94988" y="1545167"/>
            <a:ext cx="2565401" cy="3604684"/>
          </a:xfrm>
        </p:spPr>
        <p:txBody>
          <a:bodyPr>
            <a:norm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3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분석목적에 따른 차트 유형</a:t>
            </a:r>
            <a:endParaRPr lang="en-US" sz="3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8EC168-57E2-F1FE-3628-904750CC86D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290939" y="133351"/>
            <a:ext cx="9144000" cy="64283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048DB0-C5D6-3E58-50D4-2F4F3BD1F73D}"/>
              </a:ext>
            </a:extLst>
          </p:cNvPr>
          <p:cNvSpPr txBox="1"/>
          <p:nvPr/>
        </p:nvSpPr>
        <p:spPr>
          <a:xfrm>
            <a:off x="5205841" y="2238375"/>
            <a:ext cx="88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비교</a:t>
            </a: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6AF7D1-EC40-0071-DF4C-09173CC558F7}"/>
              </a:ext>
            </a:extLst>
          </p:cNvPr>
          <p:cNvSpPr txBox="1"/>
          <p:nvPr/>
        </p:nvSpPr>
        <p:spPr>
          <a:xfrm>
            <a:off x="2856341" y="3108327"/>
            <a:ext cx="88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관계</a:t>
            </a: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DF40E-5FE4-7E7A-E87E-8208D70E698B}"/>
              </a:ext>
            </a:extLst>
          </p:cNvPr>
          <p:cNvSpPr txBox="1"/>
          <p:nvPr/>
        </p:nvSpPr>
        <p:spPr>
          <a:xfrm>
            <a:off x="5193141" y="3616327"/>
            <a:ext cx="88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구성</a:t>
            </a: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05B36-5E62-76A9-BB0A-25509BACE572}"/>
              </a:ext>
            </a:extLst>
          </p:cNvPr>
          <p:cNvSpPr txBox="1"/>
          <p:nvPr/>
        </p:nvSpPr>
        <p:spPr>
          <a:xfrm>
            <a:off x="5863065" y="3124202"/>
            <a:ext cx="88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분포</a:t>
            </a: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183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BD34C-BB37-091E-B3B2-FCA966BE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683D-58D3-E468-4B96-3735880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ko-KR" dirty="0"/>
              <a:t>시간</a:t>
            </a:r>
            <a:r>
              <a:rPr lang="en-US" altLang="ko-KR" dirty="0"/>
              <a:t> </a:t>
            </a:r>
            <a:r>
              <a:rPr lang="ko-KR" altLang="en-US" dirty="0"/>
              <a:t>시각화</a:t>
            </a:r>
            <a:endParaRPr lang="en-US" altLang="ko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9F5B0-D69B-3648-080F-65CD0C28A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시간에 따른 변화 표현</a:t>
            </a:r>
            <a:r>
              <a:rPr lang="en-US" altLang="ko-KR" dirty="0"/>
              <a:t>.</a:t>
            </a:r>
            <a:r>
              <a:rPr lang="ko-KR" altLang="en-US" dirty="0"/>
              <a:t> 예</a:t>
            </a:r>
            <a:r>
              <a:rPr lang="en-US" altLang="ko-KR" dirty="0"/>
              <a:t>) </a:t>
            </a:r>
            <a:r>
              <a:rPr lang="ko-KR" altLang="en-US" dirty="0"/>
              <a:t>기온 변화</a:t>
            </a:r>
            <a:r>
              <a:rPr lang="en-US" altLang="ko-KR" dirty="0"/>
              <a:t>, </a:t>
            </a:r>
            <a:r>
              <a:rPr lang="ko-KR" altLang="en-US" dirty="0"/>
              <a:t>가구원수별 비중 변화</a:t>
            </a:r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선그래프</a:t>
            </a:r>
            <a:r>
              <a:rPr lang="en-US" altLang="ko-KR" dirty="0"/>
              <a:t>(</a:t>
            </a:r>
            <a:r>
              <a:rPr lang="ko-KR" altLang="en-US" dirty="0"/>
              <a:t>시계열 그래프</a:t>
            </a:r>
            <a:r>
              <a:rPr lang="en-US" altLang="ko-KR" dirty="0"/>
              <a:t>), </a:t>
            </a:r>
            <a:r>
              <a:rPr lang="ko-KR" altLang="en-US" dirty="0"/>
              <a:t>영역그래프 등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E1C3AA3-6936-4EFE-1785-44E3DCB7A7A7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1029812" y="2956707"/>
            <a:ext cx="7180263" cy="3094038"/>
          </a:xfrm>
          <a:ln>
            <a:solidFill>
              <a:schemeClr val="accent3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DD9ED7-8094-FAFF-5166-B45411CB647F}"/>
              </a:ext>
            </a:extLst>
          </p:cNvPr>
          <p:cNvSpPr txBox="1"/>
          <p:nvPr/>
        </p:nvSpPr>
        <p:spPr>
          <a:xfrm>
            <a:off x="2170432" y="6267721"/>
            <a:ext cx="36004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2017-2021</a:t>
            </a:r>
            <a:r>
              <a:rPr lang="ko-KR" altLang="en-US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년 가구원수별 비중 변화를 보여주는 선그래프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0E09F8-F11C-0660-C358-608FA013F5C3}"/>
              </a:ext>
            </a:extLst>
          </p:cNvPr>
          <p:cNvSpPr txBox="1"/>
          <p:nvPr/>
        </p:nvSpPr>
        <p:spPr>
          <a:xfrm>
            <a:off x="8706487" y="2956707"/>
            <a:ext cx="2630443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시간에 따른 변화 추이를 파악할 수 있음</a:t>
            </a:r>
          </a:p>
        </p:txBody>
      </p:sp>
    </p:spTree>
    <p:extLst>
      <p:ext uri="{BB962C8B-B14F-4D97-AF65-F5344CB8AC3E}">
        <p14:creationId xmlns:p14="http://schemas.microsoft.com/office/powerpoint/2010/main" val="26526187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E6C0B4-20B3-6206-A284-5D002F3C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선그래프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8B590-F5BB-C14E-41CC-9B7673662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9542"/>
            <a:ext cx="10515600" cy="4647421"/>
          </a:xfrm>
        </p:spPr>
        <p:txBody>
          <a:bodyPr>
            <a:normAutofit/>
          </a:bodyPr>
          <a:lstStyle/>
          <a:p>
            <a:r>
              <a:rPr lang="ko-KR" altLang="en-US" dirty="0"/>
              <a:t>아래는 </a:t>
            </a:r>
            <a:r>
              <a:rPr lang="en-US" altLang="ko-KR" dirty="0"/>
              <a:t>1</a:t>
            </a:r>
            <a:r>
              <a:rPr lang="ko-KR" altLang="en-US" dirty="0"/>
              <a:t>월부터 </a:t>
            </a:r>
            <a:r>
              <a:rPr lang="en-US" altLang="ko-KR" dirty="0"/>
              <a:t>12</a:t>
            </a:r>
            <a:r>
              <a:rPr lang="ko-KR" altLang="en-US" dirty="0"/>
              <a:t>월까지의 월별 평균 기온 데이터이다</a:t>
            </a:r>
            <a:r>
              <a:rPr lang="en-US" altLang="ko-KR" dirty="0"/>
              <a:t>. </a:t>
            </a:r>
            <a:r>
              <a:rPr lang="ko-KR" altLang="en-US" dirty="0"/>
              <a:t>이 데이터를 이용하여 선그래프</a:t>
            </a:r>
            <a:r>
              <a:rPr lang="en-US" altLang="ko-KR" dirty="0"/>
              <a:t>(line plot)</a:t>
            </a:r>
            <a:r>
              <a:rPr lang="ko-KR" altLang="en-US" dirty="0"/>
              <a:t>를 </a:t>
            </a:r>
            <a:r>
              <a:rPr lang="ko-KR" altLang="en-US" dirty="0" err="1"/>
              <a:t>그리시오</a:t>
            </a:r>
            <a:r>
              <a:rPr lang="en-US" altLang="ko-KR" dirty="0"/>
              <a:t>.</a:t>
            </a:r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DFE4454-31D7-3CEB-7282-AA92E0F3534A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6694488" y="2363788"/>
            <a:ext cx="5497512" cy="4494212"/>
          </a:xfrm>
          <a:prstGeom prst="rect">
            <a:avLst/>
          </a:prstGeom>
        </p:spPr>
      </p:pic>
      <p:graphicFrame>
        <p:nvGraphicFramePr>
          <p:cNvPr id="15" name="Content Placeholder 10">
            <a:extLst>
              <a:ext uri="{FF2B5EF4-FFF2-40B4-BE49-F238E27FC236}">
                <a16:creationId xmlns:a16="http://schemas.microsoft.com/office/drawing/2014/main" id="{2AFF0014-1098-A10B-FB8F-4D0BE7A1040A}"/>
              </a:ext>
            </a:extLst>
          </p:cNvPr>
          <p:cNvGraphicFramePr>
            <a:graphicFrameLocks/>
          </p:cNvGraphicFramePr>
          <p:nvPr/>
        </p:nvGraphicFramePr>
        <p:xfrm>
          <a:off x="556538" y="2750183"/>
          <a:ext cx="5496982" cy="37219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8491">
                  <a:extLst>
                    <a:ext uri="{9D8B030D-6E8A-4147-A177-3AD203B41FA5}">
                      <a16:colId xmlns:a16="http://schemas.microsoft.com/office/drawing/2014/main" val="204329875"/>
                    </a:ext>
                  </a:extLst>
                </a:gridCol>
                <a:gridCol w="2748491">
                  <a:extLst>
                    <a:ext uri="{9D8B030D-6E8A-4147-A177-3AD203B41FA5}">
                      <a16:colId xmlns:a16="http://schemas.microsoft.com/office/drawing/2014/main" val="2615339678"/>
                    </a:ext>
                  </a:extLst>
                </a:gridCol>
              </a:tblGrid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</a:rPr>
                        <a:t>month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</a:rPr>
                        <a:t>temperature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1559468659"/>
                  </a:ext>
                </a:extLst>
              </a:tr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1</a:t>
                      </a:r>
                      <a:r>
                        <a:rPr lang="ko-KR" altLang="en-US" sz="1300">
                          <a:effectLst/>
                        </a:rPr>
                        <a:t>월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</a:rPr>
                        <a:t>-5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1910838513"/>
                  </a:ext>
                </a:extLst>
              </a:tr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dirty="0">
                          <a:effectLst/>
                        </a:rPr>
                        <a:t>2</a:t>
                      </a:r>
                      <a:r>
                        <a:rPr lang="ko-KR" altLang="en-US" sz="1300" dirty="0">
                          <a:effectLst/>
                        </a:rPr>
                        <a:t>월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</a:rPr>
                        <a:t>-3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2389062179"/>
                  </a:ext>
                </a:extLst>
              </a:tr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3</a:t>
                      </a:r>
                      <a:r>
                        <a:rPr lang="ko-KR" altLang="en-US" sz="1300">
                          <a:effectLst/>
                        </a:rPr>
                        <a:t>월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</a:rPr>
                        <a:t>2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2746689162"/>
                  </a:ext>
                </a:extLst>
              </a:tr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4</a:t>
                      </a:r>
                      <a:r>
                        <a:rPr lang="ko-KR" altLang="en-US" sz="1300">
                          <a:effectLst/>
                        </a:rPr>
                        <a:t>월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</a:rPr>
                        <a:t>10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2541499680"/>
                  </a:ext>
                </a:extLst>
              </a:tr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5</a:t>
                      </a:r>
                      <a:r>
                        <a:rPr lang="ko-KR" altLang="en-US" sz="1300">
                          <a:effectLst/>
                        </a:rPr>
                        <a:t>월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</a:rPr>
                        <a:t>15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3615880399"/>
                  </a:ext>
                </a:extLst>
              </a:tr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6</a:t>
                      </a:r>
                      <a:r>
                        <a:rPr lang="ko-KR" altLang="en-US" sz="1300">
                          <a:effectLst/>
                        </a:rPr>
                        <a:t>월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</a:rPr>
                        <a:t>20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2387038748"/>
                  </a:ext>
                </a:extLst>
              </a:tr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7</a:t>
                      </a:r>
                      <a:r>
                        <a:rPr lang="ko-KR" altLang="en-US" sz="1300">
                          <a:effectLst/>
                        </a:rPr>
                        <a:t>월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</a:rPr>
                        <a:t>25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3435443763"/>
                  </a:ext>
                </a:extLst>
              </a:tr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8</a:t>
                      </a:r>
                      <a:r>
                        <a:rPr lang="ko-KR" altLang="en-US" sz="1300">
                          <a:effectLst/>
                        </a:rPr>
                        <a:t>월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</a:rPr>
                        <a:t>24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1424906478"/>
                  </a:ext>
                </a:extLst>
              </a:tr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9</a:t>
                      </a:r>
                      <a:r>
                        <a:rPr lang="ko-KR" altLang="en-US" sz="1300">
                          <a:effectLst/>
                        </a:rPr>
                        <a:t>월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</a:rPr>
                        <a:t>18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960710099"/>
                  </a:ext>
                </a:extLst>
              </a:tr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10</a:t>
                      </a:r>
                      <a:r>
                        <a:rPr lang="ko-KR" altLang="en-US" sz="1300">
                          <a:effectLst/>
                        </a:rPr>
                        <a:t>월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</a:rPr>
                        <a:t>10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748648813"/>
                  </a:ext>
                </a:extLst>
              </a:tr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11</a:t>
                      </a:r>
                      <a:r>
                        <a:rPr lang="ko-KR" altLang="en-US" sz="1300">
                          <a:effectLst/>
                        </a:rPr>
                        <a:t>월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1256498081"/>
                  </a:ext>
                </a:extLst>
              </a:tr>
              <a:tr h="286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12</a:t>
                      </a:r>
                      <a:r>
                        <a:rPr lang="ko-KR" altLang="en-US" sz="1300">
                          <a:effectLst/>
                        </a:rPr>
                        <a:t>월</a:t>
                      </a:r>
                    </a:p>
                  </a:txBody>
                  <a:tcPr marL="62328" marR="62328" marT="41552" marB="415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</a:rPr>
                        <a:t>-2</a:t>
                      </a:r>
                    </a:p>
                  </a:txBody>
                  <a:tcPr marL="62328" marR="62328" marT="41552" marB="41552" anchor="ctr"/>
                </a:tc>
                <a:extLst>
                  <a:ext uri="{0D108BD9-81ED-4DB2-BD59-A6C34878D82A}">
                    <a16:rowId xmlns:a16="http://schemas.microsoft.com/office/drawing/2014/main" val="3144082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745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CD0BA-4F18-E23A-8DCA-121D428A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3CC0-22A3-B03B-AA8A-430AB433A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비교 시각화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36000-7FA5-1231-ABA7-60D4C1A56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여러 변수를</a:t>
            </a:r>
            <a:r>
              <a:rPr lang="en-US" altLang="ko-KR" dirty="0"/>
              <a:t> </a:t>
            </a:r>
            <a:r>
              <a:rPr lang="ko-KR" altLang="en-US" dirty="0"/>
              <a:t>인지가 용이한 시각화 요소의 크기나 색을 이용해 표현</a:t>
            </a:r>
            <a:endParaRPr lang="en-US" altLang="ko-KR" dirty="0"/>
          </a:p>
          <a:p>
            <a:r>
              <a:rPr lang="ko-KR" altLang="en-US" dirty="0"/>
              <a:t>막대 그래프</a:t>
            </a:r>
            <a:r>
              <a:rPr lang="en-US" altLang="ko-KR" dirty="0"/>
              <a:t>, </a:t>
            </a:r>
            <a:r>
              <a:rPr lang="ko-KR" altLang="en-US" dirty="0"/>
              <a:t>그룹막대그래프</a:t>
            </a:r>
            <a:r>
              <a:rPr lang="en-US" altLang="ko-KR" dirty="0"/>
              <a:t>, </a:t>
            </a:r>
            <a:r>
              <a:rPr lang="ko-KR" altLang="en-US" dirty="0"/>
              <a:t>버블차트 등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99481E4-BA35-8D3E-EF9D-BED546F2793A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969269" y="3429000"/>
            <a:ext cx="6846888" cy="2657475"/>
          </a:xfrm>
          <a:ln>
            <a:solidFill>
              <a:schemeClr val="accent3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27C115-1575-3FFC-E795-F976D1AEC59B}"/>
              </a:ext>
            </a:extLst>
          </p:cNvPr>
          <p:cNvSpPr txBox="1"/>
          <p:nvPr/>
        </p:nvSpPr>
        <p:spPr>
          <a:xfrm>
            <a:off x="2573962" y="6100129"/>
            <a:ext cx="418907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2021</a:t>
            </a:r>
            <a:r>
              <a:rPr lang="ko-KR" altLang="en-US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년 가구주 연령 및 가구원수별 가구수를 비교해 주는 그룹 막대그래프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7E19A44-66A1-CD49-7100-095AC7DD8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614" y="3863704"/>
            <a:ext cx="3057256" cy="2222771"/>
          </a:xfrm>
          <a:prstGeom prst="rect">
            <a:avLst/>
          </a:prstGeom>
          <a:ln>
            <a:solidFill>
              <a:schemeClr val="accent3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A1F7A5-DE7F-640D-642B-DB940CA0C3B1}"/>
              </a:ext>
            </a:extLst>
          </p:cNvPr>
          <p:cNvSpPr txBox="1"/>
          <p:nvPr/>
        </p:nvSpPr>
        <p:spPr>
          <a:xfrm>
            <a:off x="8104914" y="6146404"/>
            <a:ext cx="314403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2021</a:t>
            </a:r>
            <a:r>
              <a:rPr lang="ko-KR" altLang="en-US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년 </a:t>
            </a:r>
            <a:r>
              <a:rPr lang="en-US" altLang="ko-KR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</a:t>
            </a:r>
            <a:r>
              <a:rPr lang="ko-KR" altLang="en-US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대 가구주의 가구원수별 가구수를 보여주는 버블차트</a:t>
            </a:r>
          </a:p>
        </p:txBody>
      </p:sp>
    </p:spTree>
    <p:extLst>
      <p:ext uri="{BB962C8B-B14F-4D97-AF65-F5344CB8AC3E}">
        <p14:creationId xmlns:p14="http://schemas.microsoft.com/office/powerpoint/2010/main" val="17398260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4F8403-EFB3-6404-D4BB-8A208FAA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막대 그래프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3F062-3CDC-CFCB-3C6E-116277DFB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982"/>
            <a:ext cx="10515600" cy="4555981"/>
          </a:xfrm>
        </p:spPr>
        <p:txBody>
          <a:bodyPr/>
          <a:lstStyle/>
          <a:p>
            <a:r>
              <a:rPr lang="ko-KR" altLang="en-US" dirty="0"/>
              <a:t>다음은 올해 </a:t>
            </a:r>
            <a:r>
              <a:rPr lang="en-US" altLang="ko-KR" dirty="0"/>
              <a:t>1</a:t>
            </a:r>
            <a:r>
              <a:rPr lang="ko-KR" altLang="en-US" dirty="0"/>
              <a:t>월부터 </a:t>
            </a:r>
            <a:r>
              <a:rPr lang="en-US" altLang="ko-KR" dirty="0"/>
              <a:t>6</a:t>
            </a:r>
            <a:r>
              <a:rPr lang="ko-KR" altLang="en-US" dirty="0"/>
              <a:t>월까지의 월별 판매량입니다</a:t>
            </a:r>
            <a:r>
              <a:rPr lang="en-US" altLang="ko-KR" dirty="0"/>
              <a:t>. </a:t>
            </a:r>
            <a:r>
              <a:rPr lang="ko-KR" altLang="en-US" dirty="0"/>
              <a:t>이 데이터를 이용하여 막대그래프</a:t>
            </a:r>
            <a:r>
              <a:rPr lang="en-US" altLang="ko-KR" dirty="0"/>
              <a:t>(bar chart)</a:t>
            </a:r>
            <a:r>
              <a:rPr lang="ko-KR" altLang="en-US" dirty="0"/>
              <a:t>를 </a:t>
            </a:r>
            <a:r>
              <a:rPr lang="ko-KR" altLang="en-US" dirty="0" err="1"/>
              <a:t>그리시오</a:t>
            </a:r>
            <a:r>
              <a:rPr lang="en-US" altLang="ko-KR" dirty="0"/>
              <a:t>.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5EB57B-C9B2-5A99-710B-8B2D56A54A3F}"/>
              </a:ext>
            </a:extLst>
          </p:cNvPr>
          <p:cNvGraphicFramePr>
            <a:graphicFrameLocks noGrp="1"/>
          </p:cNvGraphicFramePr>
          <p:nvPr/>
        </p:nvGraphicFramePr>
        <p:xfrm>
          <a:off x="1134534" y="2943629"/>
          <a:ext cx="4334934" cy="3698240"/>
        </p:xfrm>
        <a:graphic>
          <a:graphicData uri="http://schemas.openxmlformats.org/drawingml/2006/table">
            <a:tbl>
              <a:tblPr/>
              <a:tblGrid>
                <a:gridCol w="2167467">
                  <a:extLst>
                    <a:ext uri="{9D8B030D-6E8A-4147-A177-3AD203B41FA5}">
                      <a16:colId xmlns:a16="http://schemas.microsoft.com/office/drawing/2014/main" val="1948235665"/>
                    </a:ext>
                  </a:extLst>
                </a:gridCol>
                <a:gridCol w="2167467">
                  <a:extLst>
                    <a:ext uri="{9D8B030D-6E8A-4147-A177-3AD203B41FA5}">
                      <a16:colId xmlns:a16="http://schemas.microsoft.com/office/drawing/2014/main" val="155879485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</a:rPr>
                        <a:t>판매량 </a:t>
                      </a:r>
                      <a:r>
                        <a:rPr lang="en-US" altLang="ko-KR" sz="2400">
                          <a:effectLst/>
                        </a:rPr>
                        <a:t>(</a:t>
                      </a:r>
                      <a:r>
                        <a:rPr lang="ko-KR" altLang="en-US" sz="2400">
                          <a:effectLst/>
                        </a:rPr>
                        <a:t>개수</a:t>
                      </a:r>
                      <a:r>
                        <a:rPr lang="en-US" altLang="ko-KR" sz="2400">
                          <a:effectLst/>
                        </a:rPr>
                        <a:t>)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27981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</a:rPr>
                        <a:t>1</a:t>
                      </a: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120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91792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</a:rPr>
                        <a:t>2</a:t>
                      </a: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150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255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 dirty="0">
                          <a:effectLst/>
                        </a:rPr>
                        <a:t>3</a:t>
                      </a:r>
                      <a:r>
                        <a:rPr lang="ko-KR" altLang="en-US" sz="2400" dirty="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180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00129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</a:rPr>
                        <a:t>4</a:t>
                      </a: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220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672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</a:rPr>
                        <a:t>5</a:t>
                      </a: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250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20446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</a:rPr>
                        <a:t>6</a:t>
                      </a: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effectLst/>
                        </a:rPr>
                        <a:t>300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59331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1671D12-EC72-DD02-3B96-D883C2B2C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634" y="3001818"/>
            <a:ext cx="4157211" cy="339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20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47FCCC-B223-AD70-5B44-89547F4C6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박스플랏</a:t>
            </a:r>
            <a:r>
              <a:rPr lang="ko-KR" altLang="en-US" dirty="0"/>
              <a:t>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49277-348A-1DA7-4099-D754CEB11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10</a:t>
            </a:r>
            <a:r>
              <a:rPr lang="ko-KR" altLang="en-US" dirty="0"/>
              <a:t>명의 학생 시험 점수 데이터입니다</a:t>
            </a:r>
            <a:r>
              <a:rPr lang="en-US" altLang="ko-KR" dirty="0"/>
              <a:t>. </a:t>
            </a:r>
            <a:r>
              <a:rPr lang="ko-KR" altLang="en-US" dirty="0"/>
              <a:t>이 데이터를 이용하여 </a:t>
            </a:r>
            <a:r>
              <a:rPr lang="ko-KR" altLang="en-US" dirty="0" err="1"/>
              <a:t>박스플랏을</a:t>
            </a:r>
            <a:r>
              <a:rPr lang="ko-KR" altLang="en-US" dirty="0"/>
              <a:t> </a:t>
            </a:r>
            <a:r>
              <a:rPr lang="ko-KR" altLang="en-US" dirty="0" err="1"/>
              <a:t>그리시오</a:t>
            </a:r>
            <a:r>
              <a:rPr lang="en-US" altLang="ko-KR" dirty="0"/>
              <a:t>.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6DEAF0-FB65-934A-EB76-07E8A2BB2786}"/>
              </a:ext>
            </a:extLst>
          </p:cNvPr>
          <p:cNvGraphicFramePr>
            <a:graphicFrameLocks noGrp="1"/>
          </p:cNvGraphicFramePr>
          <p:nvPr/>
        </p:nvGraphicFramePr>
        <p:xfrm>
          <a:off x="1371908" y="2673647"/>
          <a:ext cx="2519680" cy="4135120"/>
        </p:xfrm>
        <a:graphic>
          <a:graphicData uri="http://schemas.openxmlformats.org/drawingml/2006/table">
            <a:tbl>
              <a:tblPr/>
              <a:tblGrid>
                <a:gridCol w="1259840">
                  <a:extLst>
                    <a:ext uri="{9D8B030D-6E8A-4147-A177-3AD203B41FA5}">
                      <a16:colId xmlns:a16="http://schemas.microsoft.com/office/drawing/2014/main" val="2899710620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534638094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학생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시험 점수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2923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55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81101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68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2396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72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1865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80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17387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85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34639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90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1891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92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165928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95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58189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98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08879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100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855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EFB7985-F450-209A-0AE4-086ADBA5E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735" y="2673647"/>
            <a:ext cx="5236827" cy="44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279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D335973-8A7C-F53B-F7DE-90B0AA037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히스토그램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7D104-3CF0-7D7B-3E83-1A36B385D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5024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아래는 한 반의 시험 점수 데이터</a:t>
            </a:r>
            <a:r>
              <a:rPr lang="en-US" altLang="ko-KR" dirty="0"/>
              <a:t>(100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 데이터를 이용하여 시험 점수의 분포를 보여주는 히스토그램을 </a:t>
            </a:r>
            <a:r>
              <a:rPr lang="ko-KR" altLang="en-US" dirty="0" err="1"/>
              <a:t>그리시오</a:t>
            </a:r>
            <a:r>
              <a:rPr lang="en-US" altLang="ko-KR" dirty="0"/>
              <a:t>.</a:t>
            </a:r>
          </a:p>
          <a:p>
            <a:pPr lvl="1"/>
            <a:r>
              <a:rPr lang="en-US" sz="1867" dirty="0" err="1"/>
              <a:t>exam_scores</a:t>
            </a:r>
            <a:r>
              <a:rPr lang="en-US" sz="1867" dirty="0"/>
              <a:t> = [ 45, 78, 65, 90, 88, 72, 64, 85, 91, 70, 55, 89, 77, 66, 60, 80, 95, 74, 80, 63, 57, 73, 92, 82, 84, 79, 59, 69, 93, 76, 67, 61, 94, 83, 68, 75, 71, 56, 62, 81, 87, 85, 64, 74, 66, 78, 80, 92, 65, 79, 88, 77, 72, 64, 90, 80, 75, 78, 92, 68, 91, 85, 80, 73, 66, 77, 89, 78, 62, 71, 70, 65, 78, 74, 80, 85, 78, 84, 87, 92, 63, 90, 75, 82, 72, 80, 95, 64, 69, 76, 61, 93, 67, 78, 68, 80, 85, 84, 77, 88 ]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795789-3038-C5CA-DDAF-43A8F5BC3A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81924" y="1374915"/>
            <a:ext cx="3771876" cy="291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451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EA6AD9-B1F5-A174-6ADA-2EDE7F452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영역 그래프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B685-1532-884B-BDBD-79F03DA39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아래 데이터를 이용하여 영역그래프를 </a:t>
            </a:r>
            <a:r>
              <a:rPr lang="ko-KR" altLang="en-US" dirty="0" err="1"/>
              <a:t>그리시오</a:t>
            </a:r>
            <a:r>
              <a:rPr lang="en-US" altLang="ko-KR" dirty="0"/>
              <a:t>.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A917EE-09E7-5C53-20BE-3B8EBF468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394130"/>
              </p:ext>
            </p:extLst>
          </p:nvPr>
        </p:nvGraphicFramePr>
        <p:xfrm>
          <a:off x="761618" y="2611340"/>
          <a:ext cx="6253799" cy="3698240"/>
        </p:xfrm>
        <a:graphic>
          <a:graphicData uri="http://schemas.openxmlformats.org/drawingml/2006/table">
            <a:tbl>
              <a:tblPr/>
              <a:tblGrid>
                <a:gridCol w="774065">
                  <a:extLst>
                    <a:ext uri="{9D8B030D-6E8A-4147-A177-3AD203B41FA5}">
                      <a16:colId xmlns:a16="http://schemas.microsoft.com/office/drawing/2014/main" val="2472549013"/>
                    </a:ext>
                  </a:extLst>
                </a:gridCol>
                <a:gridCol w="1826578">
                  <a:extLst>
                    <a:ext uri="{9D8B030D-6E8A-4147-A177-3AD203B41FA5}">
                      <a16:colId xmlns:a16="http://schemas.microsoft.com/office/drawing/2014/main" val="2877388846"/>
                    </a:ext>
                  </a:extLst>
                </a:gridCol>
                <a:gridCol w="1826578">
                  <a:extLst>
                    <a:ext uri="{9D8B030D-6E8A-4147-A177-3AD203B41FA5}">
                      <a16:colId xmlns:a16="http://schemas.microsoft.com/office/drawing/2014/main" val="1834330676"/>
                    </a:ext>
                  </a:extLst>
                </a:gridCol>
                <a:gridCol w="1826578">
                  <a:extLst>
                    <a:ext uri="{9D8B030D-6E8A-4147-A177-3AD203B41FA5}">
                      <a16:colId xmlns:a16="http://schemas.microsoft.com/office/drawing/2014/main" val="562952762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dirty="0">
                          <a:effectLst/>
                        </a:rPr>
                        <a:t>매출 </a:t>
                      </a:r>
                      <a:r>
                        <a:rPr lang="en-US" altLang="ko-KR" sz="2400" dirty="0">
                          <a:effectLst/>
                        </a:rPr>
                        <a:t>(</a:t>
                      </a:r>
                      <a:r>
                        <a:rPr lang="ko-KR" altLang="en-US" sz="2400" dirty="0">
                          <a:effectLst/>
                        </a:rPr>
                        <a:t>천 원</a:t>
                      </a:r>
                      <a:r>
                        <a:rPr lang="en-US" altLang="ko-KR" sz="2400" dirty="0">
                          <a:effectLst/>
                        </a:rPr>
                        <a:t>)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</a:rPr>
                        <a:t>비용 </a:t>
                      </a:r>
                      <a:r>
                        <a:rPr lang="en-US" altLang="ko-KR" sz="2400">
                          <a:effectLst/>
                        </a:rPr>
                        <a:t>(</a:t>
                      </a:r>
                      <a:r>
                        <a:rPr lang="ko-KR" altLang="en-US" sz="2400">
                          <a:effectLst/>
                        </a:rPr>
                        <a:t>천 원</a:t>
                      </a:r>
                      <a:r>
                        <a:rPr lang="en-US" altLang="ko-KR" sz="2400">
                          <a:effectLst/>
                        </a:rPr>
                        <a:t>)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</a:rPr>
                        <a:t>이익 </a:t>
                      </a:r>
                      <a:r>
                        <a:rPr lang="en-US" altLang="ko-KR" sz="2400">
                          <a:effectLst/>
                        </a:rPr>
                        <a:t>(</a:t>
                      </a:r>
                      <a:r>
                        <a:rPr lang="ko-KR" altLang="en-US" sz="2400">
                          <a:effectLst/>
                        </a:rPr>
                        <a:t>천 원</a:t>
                      </a:r>
                      <a:r>
                        <a:rPr lang="en-US" altLang="ko-KR" sz="2400">
                          <a:effectLst/>
                        </a:rPr>
                        <a:t>)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33044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</a:rPr>
                        <a:t>1</a:t>
                      </a: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1000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800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200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6952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</a:rPr>
                        <a:t>2</a:t>
                      </a: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1200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850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350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99109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</a:rPr>
                        <a:t>3</a:t>
                      </a: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1300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900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400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3393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</a:rPr>
                        <a:t>4</a:t>
                      </a: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1500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950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550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66247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</a:rPr>
                        <a:t>5</a:t>
                      </a: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1600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1000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600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84923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</a:rPr>
                        <a:t>6</a:t>
                      </a:r>
                      <a:r>
                        <a:rPr lang="ko-KR" altLang="en-US" sz="2400">
                          <a:effectLst/>
                        </a:rPr>
                        <a:t>월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1800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1100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effectLst/>
                        </a:rPr>
                        <a:t>70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48697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A602F78-C53C-75A3-259C-AEA6451A1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75" y="2611340"/>
            <a:ext cx="4303027" cy="305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126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204D3-E1BB-0340-1CF7-E4E1D0B91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ABF2A3-457B-C4FF-37C0-210207308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비율</a:t>
            </a:r>
            <a:r>
              <a:rPr lang="en-US" altLang="ko-KR" dirty="0"/>
              <a:t>(</a:t>
            </a:r>
            <a:r>
              <a:rPr lang="ko-KR" altLang="en-US" dirty="0"/>
              <a:t>구성</a:t>
            </a:r>
            <a:r>
              <a:rPr lang="en-US" altLang="ko-KR" dirty="0"/>
              <a:t>) </a:t>
            </a:r>
            <a:r>
              <a:rPr lang="ko-KR" altLang="en-US" dirty="0"/>
              <a:t>시각화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61945-25BD-4088-011D-8567F415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전체의 관점에서 각 부분이 차지하는 비중을 표현</a:t>
            </a:r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파이 차트</a:t>
            </a:r>
            <a:r>
              <a:rPr lang="en-US" altLang="ko-KR" dirty="0"/>
              <a:t>, </a:t>
            </a:r>
            <a:r>
              <a:rPr lang="ko-KR" altLang="en-US" dirty="0"/>
              <a:t>도넛 차트</a:t>
            </a:r>
            <a:r>
              <a:rPr lang="en-US" altLang="ko-KR" dirty="0"/>
              <a:t>, </a:t>
            </a:r>
            <a:r>
              <a:rPr lang="ko-KR" altLang="en-US" dirty="0" err="1"/>
              <a:t>트리맵</a:t>
            </a:r>
            <a:r>
              <a:rPr lang="ko-KR" altLang="en-US" dirty="0"/>
              <a:t> 차트</a:t>
            </a:r>
            <a:r>
              <a:rPr lang="en-US" altLang="ko-KR" dirty="0"/>
              <a:t>, </a:t>
            </a:r>
            <a:r>
              <a:rPr lang="ko-KR" altLang="en-US" dirty="0" err="1"/>
              <a:t>와플</a:t>
            </a:r>
            <a:r>
              <a:rPr lang="ko-KR" altLang="en-US" dirty="0"/>
              <a:t> 차트 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BB6893-E1FC-0496-288A-E5E100583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53" y="3628031"/>
            <a:ext cx="5777345" cy="2509655"/>
          </a:xfrm>
          <a:prstGeom prst="rect">
            <a:avLst/>
          </a:prstGeom>
          <a:ln>
            <a:solidFill>
              <a:schemeClr val="accent3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5A1AFA-E880-1587-087E-F0416819D17A}"/>
              </a:ext>
            </a:extLst>
          </p:cNvPr>
          <p:cNvSpPr txBox="1"/>
          <p:nvPr/>
        </p:nvSpPr>
        <p:spPr>
          <a:xfrm>
            <a:off x="1536087" y="6200487"/>
            <a:ext cx="418907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연령 그룹별 인구비율을 보여주는 파이차트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CCD7ED4-4777-A2EC-D737-F8B5C5275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493" y="3046034"/>
            <a:ext cx="4253345" cy="1836825"/>
          </a:xfrm>
          <a:prstGeom prst="rect">
            <a:avLst/>
          </a:prstGeom>
          <a:ln>
            <a:solidFill>
              <a:schemeClr val="accent3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B03FD5-99A5-0A8E-1D32-4A2BFB2F0A7D}"/>
              </a:ext>
            </a:extLst>
          </p:cNvPr>
          <p:cNvSpPr txBox="1"/>
          <p:nvPr/>
        </p:nvSpPr>
        <p:spPr>
          <a:xfrm>
            <a:off x="7015759" y="5000439"/>
            <a:ext cx="418907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2023</a:t>
            </a:r>
            <a:r>
              <a:rPr lang="ko-KR" altLang="en-US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년 연령별</a:t>
            </a:r>
            <a:r>
              <a:rPr lang="en-US" altLang="ko-KR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인구 현황을 보여주는 </a:t>
            </a:r>
            <a:r>
              <a:rPr lang="ko-KR" altLang="en-US" sz="13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트리맵</a:t>
            </a:r>
            <a:endParaRPr lang="ko-KR" altLang="en-US" sz="13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04207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BD6CA1A-BB84-384B-6D04-81669540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 그래프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75611-075D-E417-482A-049059B9D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61038"/>
            <a:ext cx="10752667" cy="4957233"/>
          </a:xfrm>
        </p:spPr>
        <p:txBody>
          <a:bodyPr/>
          <a:lstStyle/>
          <a:p>
            <a:r>
              <a:rPr lang="ko-KR" altLang="en-US" dirty="0"/>
              <a:t>다음은 과일에 대한 학생들의 선호도 조사 결과입니다</a:t>
            </a:r>
            <a:r>
              <a:rPr lang="en-US" altLang="ko-KR" dirty="0"/>
              <a:t>. </a:t>
            </a:r>
            <a:r>
              <a:rPr lang="ko-KR" altLang="en-US" dirty="0"/>
              <a:t>이 데이터를 바탕으로 파이차트를 </a:t>
            </a:r>
            <a:r>
              <a:rPr lang="ko-KR" altLang="en-US" dirty="0" err="1"/>
              <a:t>작성하시오</a:t>
            </a:r>
            <a:r>
              <a:rPr lang="en-US" altLang="ko-KR" dirty="0"/>
              <a:t>.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14C197-2750-00C4-4326-AC2864D08780}"/>
              </a:ext>
            </a:extLst>
          </p:cNvPr>
          <p:cNvGraphicFramePr>
            <a:graphicFrameLocks noGrp="1"/>
          </p:cNvGraphicFramePr>
          <p:nvPr/>
        </p:nvGraphicFramePr>
        <p:xfrm>
          <a:off x="657225" y="2831253"/>
          <a:ext cx="5316856" cy="2641600"/>
        </p:xfrm>
        <a:graphic>
          <a:graphicData uri="http://schemas.openxmlformats.org/drawingml/2006/table">
            <a:tbl>
              <a:tblPr/>
              <a:tblGrid>
                <a:gridCol w="2658428">
                  <a:extLst>
                    <a:ext uri="{9D8B030D-6E8A-4147-A177-3AD203B41FA5}">
                      <a16:colId xmlns:a16="http://schemas.microsoft.com/office/drawing/2014/main" val="1550708494"/>
                    </a:ext>
                  </a:extLst>
                </a:gridCol>
                <a:gridCol w="2658428">
                  <a:extLst>
                    <a:ext uri="{9D8B030D-6E8A-4147-A177-3AD203B41FA5}">
                      <a16:colId xmlns:a16="http://schemas.microsoft.com/office/drawing/2014/main" val="3075779800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</a:rPr>
                        <a:t>과일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</a:rPr>
                        <a:t>선호하는 학생 수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96534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</a:rPr>
                        <a:t>사과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40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4902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</a:rPr>
                        <a:t>바나나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30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40197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</a:rPr>
                        <a:t>오렌지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20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3434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</a:rPr>
                        <a:t>딸기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effectLst/>
                        </a:rPr>
                        <a:t>10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90847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10CED10-40F6-626C-661C-2D8C09ED8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725" y="2831254"/>
            <a:ext cx="3273505" cy="318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367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129E-FB62-7586-20DC-2561B831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AA00E-26E5-7BCF-A48D-62D916B6C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관계 시각화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67F49-31A5-15BB-569F-B05CAF900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각기 다른 변수 사이의 관계를 표현</a:t>
            </a:r>
            <a:endParaRPr lang="en-US" altLang="ko-KR" dirty="0"/>
          </a:p>
          <a:p>
            <a:r>
              <a:rPr lang="ko-KR" altLang="en-US" dirty="0" err="1"/>
              <a:t>산점도</a:t>
            </a:r>
            <a:r>
              <a:rPr lang="en-US" altLang="ko-KR" dirty="0"/>
              <a:t>, </a:t>
            </a:r>
            <a:r>
              <a:rPr lang="ko-KR" altLang="en-US" dirty="0"/>
              <a:t>평행좌표</a:t>
            </a:r>
            <a:r>
              <a:rPr lang="en-US" altLang="ko-KR" dirty="0"/>
              <a:t>, </a:t>
            </a:r>
            <a:r>
              <a:rPr lang="ko-KR" altLang="en-US" dirty="0"/>
              <a:t>네트워크 시각화 등</a:t>
            </a:r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B8B4D3B7-59B0-881D-5BE5-098FE95DE321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7283451" y="1960562"/>
            <a:ext cx="4254500" cy="4351338"/>
          </a:xfrm>
          <a:ln>
            <a:solidFill>
              <a:schemeClr val="accent3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9774A5-28AD-BE11-0C7C-99E5C25FA2A6}"/>
              </a:ext>
            </a:extLst>
          </p:cNvPr>
          <p:cNvSpPr txBox="1"/>
          <p:nvPr/>
        </p:nvSpPr>
        <p:spPr>
          <a:xfrm>
            <a:off x="6874951" y="6401640"/>
            <a:ext cx="510909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경제성장률과 소비자물가상승률의 관계를 보여주는 </a:t>
            </a:r>
            <a:r>
              <a:rPr lang="ko-KR" altLang="en-US" sz="13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산점도</a:t>
            </a:r>
            <a:endParaRPr lang="ko-KR" altLang="en-US" sz="13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7D0CB20-C50D-1B32-4D75-089018D68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32" y="3429001"/>
            <a:ext cx="5285595" cy="2759219"/>
          </a:xfrm>
          <a:prstGeom prst="rect">
            <a:avLst/>
          </a:prstGeom>
          <a:ln>
            <a:solidFill>
              <a:schemeClr val="accent3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1C9847-8354-C617-FFE9-97E249FD8F98}"/>
              </a:ext>
            </a:extLst>
          </p:cNvPr>
          <p:cNvSpPr txBox="1"/>
          <p:nvPr/>
        </p:nvSpPr>
        <p:spPr>
          <a:xfrm>
            <a:off x="1477904" y="6285693"/>
            <a:ext cx="36004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지역별 인구수</a:t>
            </a:r>
            <a:r>
              <a:rPr lang="en-US" altLang="ko-KR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자동차 등록대수</a:t>
            </a:r>
            <a:r>
              <a:rPr lang="en-US" altLang="ko-KR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3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교통사고 건수의 관계를 보여주는 평행좌표</a:t>
            </a:r>
          </a:p>
        </p:txBody>
      </p:sp>
    </p:spTree>
    <p:extLst>
      <p:ext uri="{BB962C8B-B14F-4D97-AF65-F5344CB8AC3E}">
        <p14:creationId xmlns:p14="http://schemas.microsoft.com/office/powerpoint/2010/main" val="13211910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8B054-8121-F9B2-F340-D365E2A2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9BBE03-81A9-86A9-E57C-90E2502AB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 err="1"/>
              <a:t>산점도</a:t>
            </a:r>
            <a:r>
              <a:rPr lang="ko-KR" altLang="en-US" dirty="0"/>
              <a:t>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48755-F052-7CEA-4556-8D8618EAB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167"/>
            <a:ext cx="10515600" cy="4630796"/>
          </a:xfrm>
        </p:spPr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10</a:t>
            </a:r>
            <a:r>
              <a:rPr lang="ko-KR" altLang="en-US" dirty="0"/>
              <a:t>명의 학생에 대한 공부 시간과 시험 점수이다</a:t>
            </a:r>
            <a:r>
              <a:rPr lang="en-US" altLang="ko-KR" dirty="0"/>
              <a:t>. </a:t>
            </a:r>
            <a:r>
              <a:rPr lang="ko-KR" altLang="en-US" dirty="0"/>
              <a:t>이 데이터를 이용하여 </a:t>
            </a:r>
            <a:r>
              <a:rPr lang="ko-KR" altLang="en-US" dirty="0" err="1"/>
              <a:t>산점도를</a:t>
            </a:r>
            <a:r>
              <a:rPr lang="ko-KR" altLang="en-US" dirty="0"/>
              <a:t> </a:t>
            </a:r>
            <a:r>
              <a:rPr lang="ko-KR" altLang="en-US" dirty="0" err="1"/>
              <a:t>그리시오</a:t>
            </a:r>
            <a:r>
              <a:rPr lang="en-US" altLang="ko-KR" dirty="0"/>
              <a:t>.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E36A49-D916-FC41-BC3D-08E767E8BBF4}"/>
              </a:ext>
            </a:extLst>
          </p:cNvPr>
          <p:cNvGraphicFramePr>
            <a:graphicFrameLocks noGrp="1"/>
          </p:cNvGraphicFramePr>
          <p:nvPr/>
        </p:nvGraphicFramePr>
        <p:xfrm>
          <a:off x="963612" y="2484684"/>
          <a:ext cx="5079999" cy="4135120"/>
        </p:xfrm>
        <a:graphic>
          <a:graphicData uri="http://schemas.openxmlformats.org/drawingml/2006/table">
            <a:tbl>
              <a:tblPr/>
              <a:tblGrid>
                <a:gridCol w="1693333">
                  <a:extLst>
                    <a:ext uri="{9D8B030D-6E8A-4147-A177-3AD203B41FA5}">
                      <a16:colId xmlns:a16="http://schemas.microsoft.com/office/drawing/2014/main" val="1485492419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1608728800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3207953989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학생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공부 시간 </a:t>
                      </a:r>
                      <a:r>
                        <a:rPr lang="en-US" altLang="ko-KR" sz="1400">
                          <a:effectLst/>
                        </a:rPr>
                        <a:t>(</a:t>
                      </a:r>
                      <a:r>
                        <a:rPr lang="ko-KR" altLang="en-US" sz="1400">
                          <a:effectLst/>
                        </a:rPr>
                        <a:t>시간</a:t>
                      </a:r>
                      <a:r>
                        <a:rPr lang="en-US" altLang="ko-KR" sz="1400">
                          <a:effectLst/>
                        </a:rPr>
                        <a:t>)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시험 점수 </a:t>
                      </a:r>
                      <a:r>
                        <a:rPr lang="en-US" altLang="ko-KR" sz="1400">
                          <a:effectLst/>
                        </a:rPr>
                        <a:t>(</a:t>
                      </a:r>
                      <a:r>
                        <a:rPr lang="ko-KR" altLang="en-US" sz="1400">
                          <a:effectLst/>
                        </a:rPr>
                        <a:t>점수</a:t>
                      </a:r>
                      <a:r>
                        <a:rPr lang="en-US" altLang="ko-KR" sz="1400">
                          <a:effectLst/>
                        </a:rPr>
                        <a:t>)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4596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50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31037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55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4765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60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67903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65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1908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70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67143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75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32845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80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42741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85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5441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90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98029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95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2302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C471C41-C125-29AA-243A-2C04B8789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760" y="2448400"/>
            <a:ext cx="4992852" cy="394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572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399EC76-10B1-FFAD-3789-13E4F916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 err="1"/>
              <a:t>히트맵</a:t>
            </a:r>
            <a:r>
              <a:rPr lang="ko-KR" altLang="en-US" dirty="0"/>
              <a:t> 실습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D9E0-0A4C-D8FD-CD47-A04BC0CBD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700"/>
            <a:ext cx="10515600" cy="4640263"/>
          </a:xfrm>
        </p:spPr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5</a:t>
            </a:r>
            <a:r>
              <a:rPr lang="ko-KR" altLang="en-US" dirty="0"/>
              <a:t>명의 학생에 대한 과목별 점수입니다</a:t>
            </a:r>
            <a:r>
              <a:rPr lang="en-US" altLang="ko-KR" dirty="0"/>
              <a:t>. </a:t>
            </a:r>
            <a:r>
              <a:rPr lang="ko-KR" altLang="en-US" dirty="0"/>
              <a:t>이 데이터를 활용하여 </a:t>
            </a:r>
            <a:r>
              <a:rPr lang="ko-KR" altLang="en-US" dirty="0" err="1"/>
              <a:t>히트맵</a:t>
            </a:r>
            <a:r>
              <a:rPr lang="en-US" altLang="ko-KR" dirty="0"/>
              <a:t>(Heat Map)</a:t>
            </a:r>
            <a:r>
              <a:rPr lang="ko-KR" altLang="en-US" dirty="0"/>
              <a:t>을 </a:t>
            </a:r>
            <a:r>
              <a:rPr lang="ko-KR" altLang="en-US" dirty="0" err="1"/>
              <a:t>그리시오</a:t>
            </a:r>
            <a:r>
              <a:rPr lang="en-US" altLang="ko-KR" dirty="0"/>
              <a:t>.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329457-EEFE-03C0-5D70-DEDB2CADC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983120"/>
              </p:ext>
            </p:extLst>
          </p:nvPr>
        </p:nvGraphicFramePr>
        <p:xfrm>
          <a:off x="838200" y="2890461"/>
          <a:ext cx="5663296" cy="3647862"/>
        </p:xfrm>
        <a:graphic>
          <a:graphicData uri="http://schemas.openxmlformats.org/drawingml/2006/table">
            <a:tbl>
              <a:tblPr/>
              <a:tblGrid>
                <a:gridCol w="1115423">
                  <a:extLst>
                    <a:ext uri="{9D8B030D-6E8A-4147-A177-3AD203B41FA5}">
                      <a16:colId xmlns:a16="http://schemas.microsoft.com/office/drawing/2014/main" val="1571461535"/>
                    </a:ext>
                  </a:extLst>
                </a:gridCol>
                <a:gridCol w="873856">
                  <a:extLst>
                    <a:ext uri="{9D8B030D-6E8A-4147-A177-3AD203B41FA5}">
                      <a16:colId xmlns:a16="http://schemas.microsoft.com/office/drawing/2014/main" val="1551277815"/>
                    </a:ext>
                  </a:extLst>
                </a:gridCol>
                <a:gridCol w="873856">
                  <a:extLst>
                    <a:ext uri="{9D8B030D-6E8A-4147-A177-3AD203B41FA5}">
                      <a16:colId xmlns:a16="http://schemas.microsoft.com/office/drawing/2014/main" val="354807237"/>
                    </a:ext>
                  </a:extLst>
                </a:gridCol>
                <a:gridCol w="873856">
                  <a:extLst>
                    <a:ext uri="{9D8B030D-6E8A-4147-A177-3AD203B41FA5}">
                      <a16:colId xmlns:a16="http://schemas.microsoft.com/office/drawing/2014/main" val="722658171"/>
                    </a:ext>
                  </a:extLst>
                </a:gridCol>
                <a:gridCol w="873856">
                  <a:extLst>
                    <a:ext uri="{9D8B030D-6E8A-4147-A177-3AD203B41FA5}">
                      <a16:colId xmlns:a16="http://schemas.microsoft.com/office/drawing/2014/main" val="1474103839"/>
                    </a:ext>
                  </a:extLst>
                </a:gridCol>
                <a:gridCol w="1052449">
                  <a:extLst>
                    <a:ext uri="{9D8B030D-6E8A-4147-A177-3AD203B41FA5}">
                      <a16:colId xmlns:a16="http://schemas.microsoft.com/office/drawing/2014/main" val="3167034162"/>
                    </a:ext>
                  </a:extLst>
                </a:gridCol>
              </a:tblGrid>
              <a:tr h="6079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>
                          <a:effectLst/>
                        </a:rPr>
                        <a:t>학생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>
                          <a:effectLst/>
                        </a:rPr>
                        <a:t>수학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>
                          <a:effectLst/>
                        </a:rPr>
                        <a:t>영어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>
                          <a:effectLst/>
                        </a:rPr>
                        <a:t>과학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>
                          <a:effectLst/>
                        </a:rPr>
                        <a:t>역사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>
                          <a:effectLst/>
                        </a:rPr>
                        <a:t>미술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532877"/>
                  </a:ext>
                </a:extLst>
              </a:tr>
              <a:tr h="6079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>
                          <a:effectLst/>
                        </a:rPr>
                        <a:t>학생 </a:t>
                      </a:r>
                      <a:r>
                        <a:rPr lang="en-US" altLang="ko-KR" sz="1800">
                          <a:effectLst/>
                        </a:rPr>
                        <a:t>1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85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78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92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88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76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31318"/>
                  </a:ext>
                </a:extLst>
              </a:tr>
              <a:tr h="6079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>
                          <a:effectLst/>
                        </a:rPr>
                        <a:t>학생 </a:t>
                      </a:r>
                      <a:r>
                        <a:rPr lang="en-US" altLang="ko-KR" sz="1800">
                          <a:effectLst/>
                        </a:rPr>
                        <a:t>2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72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85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88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82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80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555065"/>
                  </a:ext>
                </a:extLst>
              </a:tr>
              <a:tr h="6079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>
                          <a:effectLst/>
                        </a:rPr>
                        <a:t>학생 </a:t>
                      </a:r>
                      <a:r>
                        <a:rPr lang="en-US" altLang="ko-KR" sz="1800">
                          <a:effectLst/>
                        </a:rPr>
                        <a:t>3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90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75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94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</a:rPr>
                        <a:t>85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80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900912"/>
                  </a:ext>
                </a:extLst>
              </a:tr>
              <a:tr h="6079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>
                          <a:effectLst/>
                        </a:rPr>
                        <a:t>학생 </a:t>
                      </a:r>
                      <a:r>
                        <a:rPr lang="en-US" altLang="ko-KR" sz="1800">
                          <a:effectLst/>
                        </a:rPr>
                        <a:t>4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88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80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</a:rPr>
                        <a:t>91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89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</a:rPr>
                        <a:t>84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419669"/>
                  </a:ext>
                </a:extLst>
              </a:tr>
              <a:tr h="6079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>
                          <a:effectLst/>
                        </a:rPr>
                        <a:t>학생 </a:t>
                      </a:r>
                      <a:r>
                        <a:rPr lang="en-US" altLang="ko-KR" sz="1800">
                          <a:effectLst/>
                        </a:rPr>
                        <a:t>5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76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88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80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90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</a:rPr>
                        <a:t>92</a:t>
                      </a:r>
                    </a:p>
                  </a:txBody>
                  <a:tcPr marL="121920" marR="121920" marT="81280" marB="8128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69198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44B41BCA-E9A8-7757-209B-3D0793BA0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050" y="2570785"/>
            <a:ext cx="5292949" cy="428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738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71DB-86D0-9EC9-88B1-7B15741F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8641B-5D3B-CED9-8F47-A87D6AE9A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공간 시각화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9112A-3428-B755-86B1-42E237D6F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498600"/>
            <a:ext cx="5577115" cy="4678363"/>
          </a:xfrm>
        </p:spPr>
        <p:txBody>
          <a:bodyPr>
            <a:normAutofit/>
          </a:bodyPr>
          <a:lstStyle/>
          <a:p>
            <a:r>
              <a:rPr lang="ko-KR" altLang="en-US" dirty="0"/>
              <a:t>지도 위에 데이터를 점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버블 등을 이용하여 데이터 분포를 시각적으로 표현</a:t>
            </a:r>
            <a:endParaRPr lang="en-US" altLang="ko-KR" dirty="0"/>
          </a:p>
          <a:p>
            <a:r>
              <a:rPr lang="ko-KR" altLang="en-US" dirty="0"/>
              <a:t>단계구분도</a:t>
            </a:r>
            <a:r>
              <a:rPr lang="en-US" altLang="ko-KR" dirty="0"/>
              <a:t>, </a:t>
            </a:r>
            <a:r>
              <a:rPr lang="ko-KR" altLang="en-US" dirty="0" err="1"/>
              <a:t>카토그램</a:t>
            </a:r>
            <a:r>
              <a:rPr lang="ko-KR" altLang="en-US" dirty="0"/>
              <a:t> 등 </a:t>
            </a:r>
            <a:r>
              <a:rPr lang="en-US" altLang="ko-KR" dirty="0"/>
              <a:t> </a:t>
            </a:r>
            <a:endParaRPr lang="ko-KR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A761386-87BF-6C45-86A5-C78292B71E3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218" y="1825625"/>
            <a:ext cx="4053564" cy="4351338"/>
          </a:xfr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261E01-1471-49A0-796D-CA53FD9C0594}"/>
              </a:ext>
            </a:extLst>
          </p:cNvPr>
          <p:cNvSpPr txBox="1"/>
          <p:nvPr/>
        </p:nvSpPr>
        <p:spPr>
          <a:xfrm>
            <a:off x="5899237" y="6497833"/>
            <a:ext cx="5577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See How the Coronavirus Death Toll Grew Across the U.S. (NYTIMES, 2020)</a:t>
            </a:r>
            <a:endParaRPr lang="ko-KR" altLang="en-US" sz="12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15C077A-4723-6265-189C-CF46B6E18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656" y="3396041"/>
            <a:ext cx="2869637" cy="29382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99E3CD-9053-F21D-DDD2-1486E23AFD89}"/>
              </a:ext>
            </a:extLst>
          </p:cNvPr>
          <p:cNvSpPr txBox="1"/>
          <p:nvPr/>
        </p:nvSpPr>
        <p:spPr>
          <a:xfrm>
            <a:off x="1883656" y="6492875"/>
            <a:ext cx="31712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서울시</a:t>
            </a:r>
          </a:p>
        </p:txBody>
      </p:sp>
    </p:spTree>
    <p:extLst>
      <p:ext uri="{BB962C8B-B14F-4D97-AF65-F5344CB8AC3E}">
        <p14:creationId xmlns:p14="http://schemas.microsoft.com/office/powerpoint/2010/main" val="2612884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7576-D884-6F56-3894-80EB07BE8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매출 데이터 시각화를 위한 코드 생성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CF249-B3CE-F6BC-8FA9-08E97F00B2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목적에</a:t>
            </a:r>
            <a:r>
              <a:rPr lang="en-US" dirty="0"/>
              <a:t> </a:t>
            </a:r>
            <a:r>
              <a:rPr lang="en-US" dirty="0" err="1"/>
              <a:t>적합한</a:t>
            </a:r>
            <a:r>
              <a:rPr lang="en-US" dirty="0"/>
              <a:t> </a:t>
            </a:r>
            <a:r>
              <a:rPr lang="en-US" dirty="0" err="1"/>
              <a:t>차트</a:t>
            </a:r>
            <a:r>
              <a:rPr lang="en-US" dirty="0"/>
              <a:t> </a:t>
            </a:r>
            <a:r>
              <a:rPr lang="en-US" dirty="0" err="1"/>
              <a:t>유형</a:t>
            </a:r>
            <a:r>
              <a:rPr lang="en-US" dirty="0"/>
              <a:t> </a:t>
            </a:r>
            <a:r>
              <a:rPr lang="en-US" dirty="0" err="1"/>
              <a:t>선택</a:t>
            </a:r>
            <a:endParaRPr lang="en-US" dirty="0"/>
          </a:p>
          <a:p>
            <a:pPr lvl="1"/>
            <a:r>
              <a:rPr lang="en-US" dirty="0" err="1"/>
              <a:t>월별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추이</a:t>
            </a:r>
            <a:r>
              <a:rPr lang="en-US" dirty="0"/>
              <a:t>: </a:t>
            </a:r>
            <a:r>
              <a:rPr lang="en-US" dirty="0" err="1"/>
              <a:t>선그래프</a:t>
            </a:r>
            <a:endParaRPr lang="en-US" dirty="0"/>
          </a:p>
          <a:p>
            <a:pPr lvl="1"/>
            <a:r>
              <a:rPr lang="en-US" dirty="0" err="1"/>
              <a:t>제품별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비교</a:t>
            </a:r>
            <a:r>
              <a:rPr lang="en-US" dirty="0"/>
              <a:t>: </a:t>
            </a:r>
            <a:r>
              <a:rPr lang="en-US" dirty="0" err="1"/>
              <a:t>막대그래프</a:t>
            </a:r>
            <a:endParaRPr lang="en-US" dirty="0"/>
          </a:p>
          <a:p>
            <a:pPr lvl="1"/>
            <a:r>
              <a:rPr lang="en-US" dirty="0" err="1"/>
              <a:t>지역별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비교</a:t>
            </a:r>
            <a:r>
              <a:rPr lang="en-US" dirty="0"/>
              <a:t>: </a:t>
            </a:r>
            <a:r>
              <a:rPr lang="en-US" dirty="0" err="1"/>
              <a:t>막대그래프</a:t>
            </a:r>
            <a:endParaRPr lang="en-US" dirty="0"/>
          </a:p>
          <a:p>
            <a:pPr lvl="0"/>
            <a:r>
              <a:rPr lang="en-US" dirty="0" err="1"/>
              <a:t>차트</a:t>
            </a:r>
            <a:r>
              <a:rPr lang="en-US" dirty="0"/>
              <a:t> </a:t>
            </a:r>
            <a:r>
              <a:rPr lang="en-US" dirty="0" err="1"/>
              <a:t>제목</a:t>
            </a:r>
            <a:r>
              <a:rPr lang="en-US" dirty="0"/>
              <a:t>, </a:t>
            </a:r>
            <a:r>
              <a:rPr lang="en-US" dirty="0" err="1"/>
              <a:t>주석</a:t>
            </a:r>
            <a:r>
              <a:rPr lang="en-US" dirty="0"/>
              <a:t>, </a:t>
            </a:r>
            <a:r>
              <a:rPr lang="en-US" dirty="0" err="1"/>
              <a:t>설명</a:t>
            </a:r>
            <a:r>
              <a:rPr lang="en-US" dirty="0"/>
              <a:t> </a:t>
            </a:r>
            <a:r>
              <a:rPr lang="en-US" dirty="0" err="1"/>
              <a:t>작성</a:t>
            </a:r>
            <a:endParaRPr lang="en-US" dirty="0"/>
          </a:p>
          <a:p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결과를</a:t>
            </a:r>
            <a:r>
              <a:rPr lang="en-US" dirty="0"/>
              <a:t> </a:t>
            </a:r>
            <a:r>
              <a:rPr lang="en-US" dirty="0" err="1"/>
              <a:t>바탕으로</a:t>
            </a:r>
            <a:r>
              <a:rPr lang="en-US" dirty="0"/>
              <a:t> </a:t>
            </a:r>
            <a:r>
              <a:rPr lang="en-US" dirty="0" err="1"/>
              <a:t>개선</a:t>
            </a:r>
            <a:r>
              <a:rPr lang="en-US" dirty="0"/>
              <a:t> </a:t>
            </a:r>
            <a:r>
              <a:rPr lang="en-US" dirty="0" err="1"/>
              <a:t>방안</a:t>
            </a:r>
            <a:r>
              <a:rPr lang="en-US" dirty="0"/>
              <a:t> </a:t>
            </a:r>
            <a:r>
              <a:rPr lang="en-US" dirty="0" err="1"/>
              <a:t>도출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355FD-0FC5-4F05-29D8-C3FC0A2BF1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프롬프트</a:t>
            </a:r>
            <a:endParaRPr lang="en-US" altLang="ko-KR" dirty="0"/>
          </a:p>
          <a:p>
            <a:pPr lvl="1"/>
            <a:r>
              <a:rPr lang="en-US" dirty="0" err="1"/>
              <a:t>Matplotlib으로</a:t>
            </a:r>
            <a:r>
              <a:rPr lang="en-US" dirty="0"/>
              <a:t> </a:t>
            </a:r>
            <a:r>
              <a:rPr lang="en-US" dirty="0" err="1"/>
              <a:t>월별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선그래프와</a:t>
            </a:r>
            <a:r>
              <a:rPr lang="en-US" dirty="0"/>
              <a:t> </a:t>
            </a:r>
            <a:r>
              <a:rPr lang="en-US" dirty="0" err="1"/>
              <a:t>제품별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막대그래프를</a:t>
            </a:r>
            <a:r>
              <a:rPr lang="en-US" dirty="0"/>
              <a:t> </a:t>
            </a:r>
            <a:r>
              <a:rPr lang="en-US" dirty="0" err="1"/>
              <a:t>작성해</a:t>
            </a:r>
            <a:r>
              <a:rPr lang="en-US" dirty="0"/>
              <a:t> 줘. </a:t>
            </a:r>
          </a:p>
          <a:p>
            <a:pPr lvl="1"/>
            <a:r>
              <a:rPr lang="en-US" dirty="0"/>
              <a:t>각 </a:t>
            </a:r>
            <a:r>
              <a:rPr lang="en-US" dirty="0" err="1"/>
              <a:t>코드에</a:t>
            </a:r>
            <a:r>
              <a:rPr lang="en-US" dirty="0"/>
              <a:t> </a:t>
            </a:r>
            <a:r>
              <a:rPr lang="en-US" dirty="0" err="1"/>
              <a:t>한국어</a:t>
            </a:r>
            <a:r>
              <a:rPr lang="en-US" dirty="0"/>
              <a:t> </a:t>
            </a:r>
            <a:r>
              <a:rPr lang="en-US" dirty="0" err="1"/>
              <a:t>주석을</a:t>
            </a:r>
            <a:r>
              <a:rPr lang="en-US" dirty="0"/>
              <a:t> </a:t>
            </a:r>
            <a:r>
              <a:rPr lang="en-US" dirty="0" err="1"/>
              <a:t>추가해</a:t>
            </a:r>
            <a:r>
              <a:rPr lang="en-US" dirty="0"/>
              <a:t> 줘.</a:t>
            </a:r>
          </a:p>
          <a:p>
            <a:pPr lvl="1"/>
            <a:r>
              <a:rPr lang="en-US" dirty="0" err="1"/>
              <a:t>데이터에</a:t>
            </a:r>
            <a:r>
              <a:rPr lang="en-US" dirty="0"/>
              <a:t> </a:t>
            </a:r>
            <a:r>
              <a:rPr lang="en-US" dirty="0" err="1"/>
              <a:t>없는</a:t>
            </a:r>
            <a:r>
              <a:rPr lang="en-US" dirty="0"/>
              <a:t> 열 </a:t>
            </a:r>
            <a:r>
              <a:rPr lang="en-US" dirty="0" err="1"/>
              <a:t>이름을</a:t>
            </a:r>
            <a:r>
              <a:rPr lang="en-US" dirty="0"/>
              <a:t> </a:t>
            </a:r>
            <a:r>
              <a:rPr lang="en-US" dirty="0" err="1"/>
              <a:t>임의로</a:t>
            </a:r>
            <a:r>
              <a:rPr lang="en-US" dirty="0"/>
              <a:t> </a:t>
            </a:r>
            <a:r>
              <a:rPr lang="en-US" dirty="0" err="1"/>
              <a:t>가정하지</a:t>
            </a:r>
            <a:r>
              <a:rPr lang="en-US" dirty="0"/>
              <a:t> </a:t>
            </a:r>
            <a:r>
              <a:rPr lang="en-US" dirty="0" err="1"/>
              <a:t>말고</a:t>
            </a:r>
            <a:r>
              <a:rPr lang="en-US" dirty="0"/>
              <a:t>, </a:t>
            </a:r>
            <a:r>
              <a:rPr lang="en-US" dirty="0" err="1"/>
              <a:t>먼저</a:t>
            </a:r>
            <a:r>
              <a:rPr lang="en-US" dirty="0"/>
              <a:t> </a:t>
            </a:r>
            <a:r>
              <a:rPr lang="en-US" dirty="0" err="1"/>
              <a:t>실제</a:t>
            </a:r>
            <a:r>
              <a:rPr lang="en-US" dirty="0"/>
              <a:t> 열 </a:t>
            </a:r>
            <a:r>
              <a:rPr lang="en-US" dirty="0" err="1"/>
              <a:t>이름을</a:t>
            </a:r>
            <a:r>
              <a:rPr lang="en-US" dirty="0"/>
              <a:t> </a:t>
            </a:r>
            <a:r>
              <a:rPr lang="en-US" dirty="0" err="1"/>
              <a:t>확인하는</a:t>
            </a:r>
            <a:r>
              <a:rPr lang="en-US" dirty="0"/>
              <a:t> </a:t>
            </a:r>
            <a:r>
              <a:rPr lang="en-US" dirty="0" err="1"/>
              <a:t>코드를</a:t>
            </a:r>
            <a:r>
              <a:rPr lang="en-US" dirty="0"/>
              <a:t> </a:t>
            </a:r>
            <a:r>
              <a:rPr lang="en-US" dirty="0" err="1"/>
              <a:t>작성해</a:t>
            </a:r>
            <a:r>
              <a:rPr lang="en-US" dirty="0"/>
              <a:t> 줘.</a:t>
            </a:r>
          </a:p>
          <a:p>
            <a:pPr lvl="1"/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결과와</a:t>
            </a:r>
            <a:r>
              <a:rPr lang="en-US" dirty="0"/>
              <a:t> </a:t>
            </a:r>
            <a:r>
              <a:rPr lang="en-US" dirty="0" err="1"/>
              <a:t>시각화에서</a:t>
            </a:r>
            <a:r>
              <a:rPr lang="en-US" dirty="0"/>
              <a:t> </a:t>
            </a:r>
            <a:r>
              <a:rPr lang="en-US" dirty="0" err="1"/>
              <a:t>발견할</a:t>
            </a:r>
            <a:r>
              <a:rPr lang="en-US" dirty="0"/>
              <a:t> 수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인사이트를</a:t>
            </a:r>
            <a:r>
              <a:rPr lang="en-US" dirty="0"/>
              <a:t> </a:t>
            </a:r>
            <a:r>
              <a:rPr lang="en-US" dirty="0" err="1"/>
              <a:t>설명해</a:t>
            </a:r>
            <a:r>
              <a:rPr lang="en-US" dirty="0"/>
              <a:t> 줘.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1595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BF54E-5EEE-5DA9-003C-BB1592E2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온라인</a:t>
            </a:r>
            <a:r>
              <a:rPr lang="en-US" dirty="0"/>
              <a:t> </a:t>
            </a:r>
            <a:r>
              <a:rPr lang="en-US" dirty="0" err="1"/>
              <a:t>쇼핑몰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데이터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20BB13-F852-077E-FE17-4B53F9408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 err="1"/>
              <a:t>교육용</a:t>
            </a:r>
            <a:r>
              <a:rPr lang="en-US" dirty="0"/>
              <a:t> </a:t>
            </a:r>
            <a:r>
              <a:rPr lang="en-US" dirty="0" err="1"/>
              <a:t>가상</a:t>
            </a:r>
            <a:r>
              <a:rPr lang="en-US" dirty="0"/>
              <a:t> </a:t>
            </a:r>
            <a:r>
              <a:rPr lang="en-US" dirty="0" err="1"/>
              <a:t>데이터</a:t>
            </a:r>
            <a:endParaRPr lang="en-US" dirty="0"/>
          </a:p>
          <a:p>
            <a:pPr lvl="0"/>
            <a:r>
              <a:rPr lang="en-US" dirty="0" err="1"/>
              <a:t>기간</a:t>
            </a:r>
            <a:r>
              <a:rPr lang="en-US" dirty="0"/>
              <a:t>: 2025년 1월 ~ 12월</a:t>
            </a:r>
          </a:p>
          <a:p>
            <a:pPr lvl="0"/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항목</a:t>
            </a:r>
            <a:r>
              <a:rPr lang="en-US" dirty="0"/>
              <a:t>: </a:t>
            </a:r>
            <a:r>
              <a:rPr lang="en-US" dirty="0" err="1"/>
              <a:t>주문일자</a:t>
            </a:r>
            <a:r>
              <a:rPr lang="en-US" dirty="0"/>
              <a:t>, </a:t>
            </a:r>
            <a:r>
              <a:rPr lang="en-US" dirty="0" err="1"/>
              <a:t>주문번호</a:t>
            </a:r>
            <a:r>
              <a:rPr lang="en-US" dirty="0"/>
              <a:t>, </a:t>
            </a:r>
            <a:r>
              <a:rPr lang="en-US" dirty="0" err="1"/>
              <a:t>제품</a:t>
            </a:r>
            <a:r>
              <a:rPr lang="en-US" dirty="0"/>
              <a:t>, </a:t>
            </a:r>
            <a:r>
              <a:rPr lang="en-US" dirty="0" err="1"/>
              <a:t>카테고리</a:t>
            </a:r>
            <a:r>
              <a:rPr lang="en-US" dirty="0"/>
              <a:t>, </a:t>
            </a:r>
            <a:r>
              <a:rPr lang="en-US" dirty="0" err="1"/>
              <a:t>지역</a:t>
            </a:r>
            <a:r>
              <a:rPr lang="en-US" dirty="0"/>
              <a:t>, </a:t>
            </a:r>
            <a:r>
              <a:rPr lang="en-US" dirty="0" err="1"/>
              <a:t>판매수량</a:t>
            </a:r>
            <a:r>
              <a:rPr lang="en-US" dirty="0"/>
              <a:t>, </a:t>
            </a:r>
            <a:r>
              <a:rPr lang="en-US" dirty="0" err="1"/>
              <a:t>단가</a:t>
            </a:r>
            <a:r>
              <a:rPr lang="en-US" dirty="0"/>
              <a:t>, </a:t>
            </a:r>
            <a:r>
              <a:rPr lang="en-US" dirty="0" err="1"/>
              <a:t>매출액</a:t>
            </a:r>
            <a:endParaRPr lang="en-US" dirty="0"/>
          </a:p>
          <a:p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9A367D5-1C2B-5A26-22D6-BE158184AD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22188" y="1935455"/>
            <a:ext cx="4989059" cy="3551388"/>
          </a:xfr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D7781D2-F871-D444-94A0-49ED4F32A753}"/>
              </a:ext>
            </a:extLst>
          </p:cNvPr>
          <p:cNvSpPr txBox="1"/>
          <p:nvPr/>
        </p:nvSpPr>
        <p:spPr>
          <a:xfrm>
            <a:off x="7593370" y="5486843"/>
            <a:ext cx="370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sales_2025.csv</a:t>
            </a:r>
          </a:p>
        </p:txBody>
      </p:sp>
    </p:spTree>
    <p:extLst>
      <p:ext uri="{BB962C8B-B14F-4D97-AF65-F5344CB8AC3E}">
        <p14:creationId xmlns:p14="http://schemas.microsoft.com/office/powerpoint/2010/main" val="37500663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AAFCA4-2AB2-B512-F2CF-F161B5BEA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월별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추이</a:t>
            </a:r>
            <a:r>
              <a:rPr lang="en-US" dirty="0"/>
              <a:t>: </a:t>
            </a:r>
            <a:r>
              <a:rPr lang="en-US" dirty="0" err="1"/>
              <a:t>선그래프</a:t>
            </a: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3470216-1209-A5B7-7922-AE9F48A95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687" y="1825625"/>
            <a:ext cx="96706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127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05AA9-418F-F948-193E-63A14F93B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F14309-A90C-FDFD-9AAE-09DD783A9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제품별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비교</a:t>
            </a:r>
            <a:r>
              <a:rPr lang="en-US" dirty="0"/>
              <a:t>: </a:t>
            </a:r>
            <a:r>
              <a:rPr lang="en-US" dirty="0" err="1"/>
              <a:t>막대그래프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67BC95-F5C7-DEEB-E49A-29EF6A080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715" y="1825625"/>
            <a:ext cx="78945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270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5D13C-C5BC-7B87-F725-1A89B53F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313623-EACB-FE09-9F64-306E13ECB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지역별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비교</a:t>
            </a:r>
            <a:r>
              <a:rPr lang="en-US" dirty="0"/>
              <a:t>: </a:t>
            </a:r>
            <a:r>
              <a:rPr lang="en-US" dirty="0" err="1"/>
              <a:t>막대그래프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AEBC73-35EB-1CBE-12C2-18AC71696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715" y="1825625"/>
            <a:ext cx="78945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095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8D4D-E927-8652-DD3D-B1F278771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기반 데이터 분석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58FF5-0EC5-0EE5-98EB-E0F299ABB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과정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96A3329-713A-0793-BEA6-C8A514BFD1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4390650"/>
              </p:ext>
            </p:extLst>
          </p:nvPr>
        </p:nvGraphicFramePr>
        <p:xfrm>
          <a:off x="838199" y="1546173"/>
          <a:ext cx="10375670" cy="4796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629762B-58B7-87FB-9403-A9B64E8520FB}"/>
              </a:ext>
            </a:extLst>
          </p:cNvPr>
          <p:cNvSpPr txBox="1"/>
          <p:nvPr/>
        </p:nvSpPr>
        <p:spPr>
          <a:xfrm>
            <a:off x="8297487" y="4342171"/>
            <a:ext cx="2824942" cy="1200329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40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AI에게</a:t>
            </a:r>
            <a:r>
              <a:rPr lang="en-US" sz="240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코드를</a:t>
            </a:r>
            <a:r>
              <a:rPr lang="en-US" sz="240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요</a:t>
            </a:r>
            <a:r>
              <a:rPr lang="ko-KR" altLang="en-US" sz="240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청</a:t>
            </a:r>
            <a:r>
              <a:rPr lang="en-US" sz="240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→ </a:t>
            </a:r>
            <a:r>
              <a:rPr lang="en-US" sz="240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실행</a:t>
            </a:r>
            <a:r>
              <a:rPr lang="en-US" sz="240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→ </a:t>
            </a:r>
            <a:r>
              <a:rPr lang="en-US" sz="240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오류</a:t>
            </a:r>
            <a:r>
              <a:rPr lang="en-US" sz="240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수정</a:t>
            </a:r>
            <a:r>
              <a:rPr lang="en-US" sz="240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→ </a:t>
            </a:r>
            <a:r>
              <a:rPr lang="en-US" sz="240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결과</a:t>
            </a:r>
            <a:r>
              <a:rPr lang="en-US" sz="240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검증</a:t>
            </a:r>
            <a:endParaRPr lang="en-US" sz="2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67938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8524-1974-BC4F-2B40-4C7686A4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데이터 정제 </a:t>
            </a:r>
            <a:r>
              <a:rPr lang="en-US" dirty="0" err="1"/>
              <a:t>프롬프트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12067A-480A-D5A1-FD13-D0A2DC633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/>
              <a:t>첨부한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분석해</a:t>
            </a:r>
            <a:r>
              <a:rPr lang="en-US" dirty="0"/>
              <a:t> 줘.</a:t>
            </a:r>
          </a:p>
          <a:p>
            <a:pPr lvl="1"/>
            <a:r>
              <a:rPr lang="en-US" dirty="0" err="1"/>
              <a:t>데이터의</a:t>
            </a:r>
            <a:r>
              <a:rPr lang="en-US" dirty="0"/>
              <a:t> </a:t>
            </a:r>
            <a:r>
              <a:rPr lang="en-US" dirty="0" err="1"/>
              <a:t>행과</a:t>
            </a:r>
            <a:r>
              <a:rPr lang="en-US" dirty="0"/>
              <a:t> 열, </a:t>
            </a:r>
            <a:r>
              <a:rPr lang="en-US" dirty="0" err="1"/>
              <a:t>변수</a:t>
            </a:r>
            <a:r>
              <a:rPr lang="en-US" dirty="0"/>
              <a:t> </a:t>
            </a:r>
            <a:r>
              <a:rPr lang="en-US" dirty="0" err="1"/>
              <a:t>유형을</a:t>
            </a:r>
            <a:r>
              <a:rPr lang="en-US" dirty="0"/>
              <a:t> </a:t>
            </a:r>
            <a:r>
              <a:rPr lang="en-US" dirty="0" err="1"/>
              <a:t>파악해</a:t>
            </a:r>
            <a:r>
              <a:rPr lang="en-US" dirty="0"/>
              <a:t> 줘. </a:t>
            </a:r>
          </a:p>
          <a:p>
            <a:pPr lvl="1"/>
            <a:r>
              <a:rPr lang="en-US" dirty="0" err="1"/>
              <a:t>결측치</a:t>
            </a:r>
            <a:r>
              <a:rPr lang="en-US" dirty="0"/>
              <a:t>, </a:t>
            </a:r>
            <a:r>
              <a:rPr lang="en-US" dirty="0" err="1"/>
              <a:t>중복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, </a:t>
            </a:r>
            <a:r>
              <a:rPr lang="en-US" dirty="0" err="1"/>
              <a:t>이상치를</a:t>
            </a:r>
            <a:r>
              <a:rPr lang="en-US" dirty="0"/>
              <a:t> </a:t>
            </a:r>
            <a:r>
              <a:rPr lang="en-US" dirty="0" err="1"/>
              <a:t>확인해</a:t>
            </a:r>
            <a:r>
              <a:rPr lang="en-US" dirty="0"/>
              <a:t> 줘. </a:t>
            </a:r>
          </a:p>
          <a:p>
            <a:pPr lvl="1"/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전에</a:t>
            </a:r>
            <a:r>
              <a:rPr lang="en-US" dirty="0"/>
              <a:t> </a:t>
            </a:r>
            <a:r>
              <a:rPr lang="en-US" dirty="0" err="1"/>
              <a:t>정리해야</a:t>
            </a:r>
            <a:r>
              <a:rPr lang="en-US" dirty="0"/>
              <a:t> 할 </a:t>
            </a:r>
            <a:r>
              <a:rPr lang="en-US" dirty="0" err="1"/>
              <a:t>문제를</a:t>
            </a:r>
            <a:r>
              <a:rPr lang="en-US" dirty="0"/>
              <a:t> </a:t>
            </a:r>
            <a:r>
              <a:rPr lang="en-US" dirty="0" err="1"/>
              <a:t>표로</a:t>
            </a:r>
            <a:r>
              <a:rPr lang="en-US" dirty="0"/>
              <a:t> </a:t>
            </a:r>
            <a:r>
              <a:rPr lang="en-US" dirty="0" err="1"/>
              <a:t>정리해</a:t>
            </a:r>
            <a:r>
              <a:rPr lang="en-US" dirty="0"/>
              <a:t> 줘. </a:t>
            </a:r>
          </a:p>
          <a:p>
            <a:pPr lvl="1"/>
            <a:r>
              <a:rPr lang="ko-KR" altLang="en-US" dirty="0"/>
              <a:t>데</a:t>
            </a:r>
            <a:r>
              <a:rPr lang="en-US" dirty="0" err="1"/>
              <a:t>이터에</a:t>
            </a:r>
            <a:r>
              <a:rPr lang="en-US" dirty="0"/>
              <a:t> </a:t>
            </a:r>
            <a:r>
              <a:rPr lang="en-US" dirty="0" err="1"/>
              <a:t>실제로</a:t>
            </a:r>
            <a:r>
              <a:rPr lang="en-US" dirty="0"/>
              <a:t> </a:t>
            </a:r>
            <a:r>
              <a:rPr lang="en-US" dirty="0" err="1"/>
              <a:t>존재하는</a:t>
            </a:r>
            <a:r>
              <a:rPr lang="en-US" dirty="0"/>
              <a:t> </a:t>
            </a:r>
            <a:r>
              <a:rPr lang="en-US" dirty="0" err="1"/>
              <a:t>문제와</a:t>
            </a:r>
            <a:r>
              <a:rPr lang="en-US" dirty="0"/>
              <a:t> </a:t>
            </a:r>
            <a:r>
              <a:rPr lang="en-US" dirty="0" err="1"/>
              <a:t>추가</a:t>
            </a:r>
            <a:r>
              <a:rPr lang="en-US" dirty="0"/>
              <a:t> </a:t>
            </a:r>
            <a:r>
              <a:rPr lang="en-US" dirty="0" err="1"/>
              <a:t>확인이</a:t>
            </a:r>
            <a:r>
              <a:rPr lang="en-US" dirty="0"/>
              <a:t> </a:t>
            </a:r>
            <a:r>
              <a:rPr lang="en-US" dirty="0" err="1"/>
              <a:t>필요한</a:t>
            </a:r>
            <a:r>
              <a:rPr lang="en-US" dirty="0"/>
              <a:t> </a:t>
            </a:r>
            <a:r>
              <a:rPr lang="en-US" dirty="0" err="1"/>
              <a:t>사항을</a:t>
            </a:r>
            <a:r>
              <a:rPr lang="en-US" dirty="0"/>
              <a:t> </a:t>
            </a:r>
            <a:r>
              <a:rPr lang="en-US" dirty="0" err="1"/>
              <a:t>구분해</a:t>
            </a:r>
            <a:r>
              <a:rPr lang="en-US" dirty="0"/>
              <a:t> 줘. </a:t>
            </a:r>
          </a:p>
          <a:p>
            <a:pPr lvl="1"/>
            <a:r>
              <a:rPr lang="ko-KR" altLang="en-US" dirty="0"/>
              <a:t>원</a:t>
            </a:r>
            <a:r>
              <a:rPr lang="en-US" dirty="0"/>
              <a:t>본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임의로</a:t>
            </a:r>
            <a:r>
              <a:rPr lang="en-US" dirty="0"/>
              <a:t> </a:t>
            </a:r>
            <a:r>
              <a:rPr lang="en-US" dirty="0" err="1"/>
              <a:t>변경하지</a:t>
            </a:r>
            <a:r>
              <a:rPr lang="en-US" dirty="0"/>
              <a:t> </a:t>
            </a:r>
            <a:r>
              <a:rPr lang="en-US" dirty="0" err="1"/>
              <a:t>말고</a:t>
            </a:r>
            <a:r>
              <a:rPr lang="en-US" dirty="0"/>
              <a:t> </a:t>
            </a:r>
            <a:r>
              <a:rPr lang="en-US" dirty="0" err="1"/>
              <a:t>정제</a:t>
            </a:r>
            <a:r>
              <a:rPr lang="en-US" dirty="0"/>
              <a:t> </a:t>
            </a:r>
            <a:r>
              <a:rPr lang="en-US" dirty="0" err="1"/>
              <a:t>방법을</a:t>
            </a:r>
            <a:r>
              <a:rPr lang="en-US" dirty="0"/>
              <a:t> </a:t>
            </a:r>
            <a:r>
              <a:rPr lang="en-US" dirty="0" err="1"/>
              <a:t>제안해</a:t>
            </a:r>
            <a:r>
              <a:rPr lang="en-US" dirty="0"/>
              <a:t> 줘.</a:t>
            </a:r>
          </a:p>
        </p:txBody>
      </p:sp>
    </p:spTree>
    <p:extLst>
      <p:ext uri="{BB962C8B-B14F-4D97-AF65-F5344CB8AC3E}">
        <p14:creationId xmlns:p14="http://schemas.microsoft.com/office/powerpoint/2010/main" val="32372213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1B70-CECA-19E6-688F-FD8BBC0F3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생성형</a:t>
            </a:r>
            <a:r>
              <a:rPr lang="en-US" dirty="0"/>
              <a:t> </a:t>
            </a:r>
            <a:r>
              <a:rPr lang="en-US" dirty="0" err="1"/>
              <a:t>AI를</a:t>
            </a:r>
            <a:r>
              <a:rPr lang="en-US" dirty="0"/>
              <a:t> </a:t>
            </a:r>
            <a:r>
              <a:rPr lang="en-US" dirty="0" err="1"/>
              <a:t>활용한</a:t>
            </a:r>
            <a:r>
              <a:rPr lang="en-US" dirty="0"/>
              <a:t> Python </a:t>
            </a:r>
            <a:r>
              <a:rPr lang="en-US" dirty="0" err="1"/>
              <a:t>코드</a:t>
            </a:r>
            <a:r>
              <a:rPr lang="en-US" dirty="0"/>
              <a:t> </a:t>
            </a:r>
            <a:r>
              <a:rPr lang="en-US" dirty="0" err="1"/>
              <a:t>생성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F5740-E550-8C9B-850A-DA2367D57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2"/>
          </a:solidFill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np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koreanize_matplotlib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CSV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불러오기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("sales_2025.csv", encoding="utf-8-sig")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자료형 정리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주문일자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pd.to_datetime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주문일자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errors="coerce")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numeric_cols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판매수량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단가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col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numeric_cols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[col]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pd.to_numeric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[col], errors="coerce")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E243F-EBD8-3D4D-1DC4-855262F89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2"/>
          </a:solidFill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기본 정보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데이터 크기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df.shape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분석 기간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주문일자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min(), "~",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주문일자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max())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전체 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f'{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sum():,.0f}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전체 판매수량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판매수량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sum())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기초 통계량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display(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numeric_cols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].describe().round(2))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중앙값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 중앙값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f'{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median():,.0f}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indent="0">
              <a:buNone/>
            </a:pP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결측치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확인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display(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df.isna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().sum().rename("</a:t>
            </a:r>
            <a:r>
              <a:rPr lang="ko-KR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결측치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to_frame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2167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BCE7-81AE-21E0-DC44-AC4574862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생성형</a:t>
            </a:r>
            <a:r>
              <a:rPr lang="en-US" dirty="0"/>
              <a:t> </a:t>
            </a:r>
            <a:r>
              <a:rPr lang="en-US" dirty="0" err="1"/>
              <a:t>AI를</a:t>
            </a:r>
            <a:r>
              <a:rPr lang="en-US" dirty="0"/>
              <a:t> </a:t>
            </a:r>
            <a:r>
              <a:rPr lang="en-US" dirty="0" err="1"/>
              <a:t>활용한</a:t>
            </a:r>
            <a:r>
              <a:rPr lang="en-US" dirty="0"/>
              <a:t> Python </a:t>
            </a:r>
            <a:r>
              <a:rPr lang="en-US" dirty="0" err="1"/>
              <a:t>코드</a:t>
            </a:r>
            <a:r>
              <a:rPr lang="en-US" dirty="0"/>
              <a:t> </a:t>
            </a:r>
            <a:r>
              <a:rPr lang="en-US" dirty="0" err="1"/>
              <a:t>생성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5CFE8D-9C73-D5B8-C1CD-673D068050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8999"/>
            <a:ext cx="5181600" cy="4351338"/>
          </a:xfrm>
          <a:solidFill>
            <a:schemeClr val="bg2"/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1.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원본 데이터 보존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audit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df.copy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(deep=True)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2.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데이터 구조와 자료형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데이터 크기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audit.shape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print("\n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자료형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audit.dtypes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print("\n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기초 통계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audit.describe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(include="all"))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39997-C67B-8BDD-278C-D5CD09E8C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08999"/>
            <a:ext cx="5181600" cy="4351338"/>
          </a:xfrm>
          <a:solidFill>
            <a:schemeClr val="bg2"/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3. </a:t>
            </a:r>
            <a:r>
              <a:rPr lang="ko-KR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결측치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print("\n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열별 </a:t>
            </a:r>
            <a:r>
              <a:rPr lang="ko-KR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결측치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audit.isna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().sum())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4.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완전 중복 행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print("\n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완전 중복 행 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audit.duplicated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().sum())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5.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주문번호 중복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print("\n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주문번호 중복 행 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print(audit["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주문번호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duplicated().sum())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5539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F8EE-C5C7-1BAF-7CC8-D64FCA7DA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생성형</a:t>
            </a:r>
            <a:r>
              <a:rPr lang="en-US" dirty="0"/>
              <a:t> </a:t>
            </a:r>
            <a:r>
              <a:rPr lang="en-US" dirty="0" err="1"/>
              <a:t>AI를</a:t>
            </a:r>
            <a:r>
              <a:rPr lang="en-US" dirty="0"/>
              <a:t> </a:t>
            </a:r>
            <a:r>
              <a:rPr lang="en-US" dirty="0" err="1"/>
              <a:t>활용한</a:t>
            </a:r>
            <a:r>
              <a:rPr lang="en-US" dirty="0"/>
              <a:t> Python </a:t>
            </a:r>
            <a:r>
              <a:rPr lang="en-US" dirty="0" err="1"/>
              <a:t>코드</a:t>
            </a:r>
            <a:r>
              <a:rPr lang="en-US" dirty="0"/>
              <a:t> </a:t>
            </a:r>
            <a:r>
              <a:rPr lang="en-US" dirty="0" err="1"/>
              <a:t>생성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3E3A4-5A7B-76CD-B75C-4DE587D54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2"/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6.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 계산 검증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expected_sales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audit["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판매수량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 *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audit["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단가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mismatch = audit["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expected_sales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print("\n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 계산 불일치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mismatch.sum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audit.loc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[mismatch])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7.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음수 또는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인 값 검사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col in 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판매수량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단가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"]: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print(f"\n{col}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이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이하인 행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:")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audit.loc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[audit[col].le(0)])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6A53A-74BA-9CA8-C25F-27C43E7BC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2"/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8.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날짜 범위 확인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dates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pd.to_datetime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(audit["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주문일자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errors="coerce")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print("\n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날짜 변환 실패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dates.isna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().sum())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최초 주문일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dates.min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최종 주문일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dates.max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9.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제품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카테고리 매핑 불일치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print("\n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제품별 카테고리 종류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audit.groupby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제품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")["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카테고리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nunique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960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48A6-9D1D-2CBE-1B20-ED11232B1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데이터 분석 및 시각화 프롬프트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EC02F-E7EF-04E5-940F-D95A8A4D7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dirty="0" err="1"/>
              <a:t>기초</a:t>
            </a:r>
            <a:r>
              <a:rPr lang="en-US" dirty="0"/>
              <a:t> </a:t>
            </a:r>
            <a:r>
              <a:rPr lang="en-US" dirty="0" err="1"/>
              <a:t>통계량</a:t>
            </a:r>
            <a:r>
              <a:rPr lang="en-US" dirty="0"/>
              <a:t> 및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분포</a:t>
            </a:r>
            <a:r>
              <a:rPr lang="en-US" dirty="0"/>
              <a:t> </a:t>
            </a:r>
            <a:r>
              <a:rPr lang="en-US" dirty="0" err="1"/>
              <a:t>분석</a:t>
            </a:r>
            <a:endParaRPr lang="en-US" dirty="0"/>
          </a:p>
          <a:p>
            <a:r>
              <a:rPr lang="en-US" dirty="0" err="1"/>
              <a:t>항목별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(</a:t>
            </a:r>
            <a:r>
              <a:rPr lang="ko-KR" altLang="en-US" dirty="0"/>
              <a:t>제품</a:t>
            </a:r>
            <a:r>
              <a:rPr lang="en-US" altLang="ko-KR" dirty="0"/>
              <a:t>, </a:t>
            </a:r>
            <a:r>
              <a:rPr lang="ko-KR" altLang="en-US" dirty="0"/>
              <a:t>카테고리</a:t>
            </a:r>
            <a:r>
              <a:rPr lang="en-US" altLang="ko-KR" dirty="0"/>
              <a:t>, </a:t>
            </a:r>
            <a:r>
              <a:rPr lang="ko-KR" altLang="en-US" dirty="0"/>
              <a:t>지역별</a:t>
            </a:r>
            <a:r>
              <a:rPr lang="en-US" altLang="ko-KR" dirty="0"/>
              <a:t>)</a:t>
            </a:r>
            <a:endParaRPr lang="en-US" dirty="0"/>
          </a:p>
          <a:p>
            <a:pPr lvl="0"/>
            <a:r>
              <a:rPr lang="en-US" dirty="0" err="1"/>
              <a:t>월별</a:t>
            </a:r>
            <a:r>
              <a:rPr lang="en-US" dirty="0"/>
              <a:t> </a:t>
            </a:r>
            <a:r>
              <a:rPr lang="ko-KR" altLang="en-US" dirty="0"/>
              <a:t>매출 </a:t>
            </a:r>
            <a:r>
              <a:rPr lang="en-US" dirty="0" err="1"/>
              <a:t>추이</a:t>
            </a:r>
            <a:r>
              <a:rPr lang="en-US" dirty="0"/>
              <a:t>, </a:t>
            </a:r>
            <a:r>
              <a:rPr lang="en-US" dirty="0" err="1"/>
              <a:t>그룹별</a:t>
            </a:r>
            <a:r>
              <a:rPr lang="en-US" dirty="0"/>
              <a:t> </a:t>
            </a:r>
            <a:r>
              <a:rPr lang="en-US" dirty="0" err="1"/>
              <a:t>집계</a:t>
            </a:r>
            <a:endParaRPr lang="en-US" dirty="0"/>
          </a:p>
          <a:p>
            <a:pPr lvl="0"/>
            <a:r>
              <a:rPr lang="en-US" dirty="0" err="1"/>
              <a:t>변수</a:t>
            </a:r>
            <a:r>
              <a:rPr lang="en-US" dirty="0"/>
              <a:t> 간 </a:t>
            </a:r>
            <a:r>
              <a:rPr lang="en-US" dirty="0" err="1"/>
              <a:t>관계</a:t>
            </a:r>
            <a:r>
              <a:rPr lang="en-US" dirty="0"/>
              <a:t> </a:t>
            </a:r>
            <a:r>
              <a:rPr lang="en-US" dirty="0" err="1"/>
              <a:t>분석</a:t>
            </a:r>
            <a:endParaRPr lang="en-US" dirty="0"/>
          </a:p>
          <a:p>
            <a:pPr lvl="0"/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결과</a:t>
            </a:r>
            <a:r>
              <a:rPr lang="en-US" dirty="0"/>
              <a:t> </a:t>
            </a:r>
            <a:r>
              <a:rPr lang="en-US" dirty="0" err="1"/>
              <a:t>해석</a:t>
            </a:r>
            <a:r>
              <a:rPr lang="en-US" dirty="0"/>
              <a:t> 및 </a:t>
            </a:r>
            <a:r>
              <a:rPr lang="en-US" dirty="0" err="1"/>
              <a:t>가설</a:t>
            </a:r>
            <a:r>
              <a:rPr lang="en-US" dirty="0"/>
              <a:t> </a:t>
            </a:r>
            <a:r>
              <a:rPr lang="en-US" dirty="0" err="1"/>
              <a:t>검토</a:t>
            </a:r>
            <a:endParaRPr lang="en-US" dirty="0"/>
          </a:p>
          <a:p>
            <a:pPr lvl="0"/>
            <a:r>
              <a:rPr lang="ko-KR" altLang="en-US" dirty="0"/>
              <a:t>주요 지표 계산</a:t>
            </a:r>
            <a:r>
              <a:rPr lang="en-US" altLang="ko-KR" dirty="0"/>
              <a:t>, </a:t>
            </a:r>
            <a:r>
              <a:rPr lang="ko-KR" altLang="en-US" dirty="0"/>
              <a:t>핵심 인사이트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73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B618-323B-9A77-BD91-14BCE6CFF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항목별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분석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A245A-F7FF-F1F3-617E-CC3ED44D3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2"/>
          </a:solidFill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def sales_summary(group_col):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result = (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df.groupby(group_col, dropna=False)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  .agg(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=("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sum"),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판매수량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=("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판매수량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sum"),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주문건수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=("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주문번호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nunique"),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평균주문매출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=("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mean")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  )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  .sort_values("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ascending=False)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</a:p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result["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매출비중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(%)"] = (</a:t>
            </a:r>
          </a:p>
          <a:p>
            <a:pPr marL="0" indent="0">
              <a:buNone/>
            </a:pP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result["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"] /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df["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sum() * 100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).round(2)</a:t>
            </a:r>
          </a:p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return result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41B9A-63ED-E2EF-CB29-99018DD9A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2"/>
          </a:solidFill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제품별 매출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display(sales_summary("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제품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round(2))</a:t>
            </a:r>
          </a:p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카테고리별 매출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display(sales_summary("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카테고리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round(2))</a:t>
            </a:r>
          </a:p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지역별 매출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display(sales_summary("</a:t>
            </a:r>
            <a:r>
              <a:rPr lang="ko-KR" altLang="en-US">
                <a:latin typeface="Courier New" panose="02070309020205020404" pitchFamily="49" charset="0"/>
                <a:cs typeface="Courier New" panose="02070309020205020404" pitchFamily="49" charset="0"/>
              </a:rPr>
              <a:t>지역</a:t>
            </a:r>
            <a:r>
              <a:rPr lang="en-US" altLang="ko-KR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round(2))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0493C-D81A-6240-25E3-FC737798400D}"/>
              </a:ext>
            </a:extLst>
          </p:cNvPr>
          <p:cNvSpPr txBox="1"/>
          <p:nvPr/>
        </p:nvSpPr>
        <p:spPr>
          <a:xfrm>
            <a:off x="7453053" y="681037"/>
            <a:ext cx="3900747" cy="83099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400" b="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제품별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카테고리별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지역별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매출액과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매출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비중을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계산</a:t>
            </a:r>
            <a:endParaRPr lang="en-US" sz="2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3199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02A56-12F7-6E12-E978-EF7048418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r>
              <a:rPr lang="en-US" dirty="0" err="1"/>
              <a:t>월별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추이</a:t>
            </a:r>
            <a:r>
              <a:rPr lang="en-US" dirty="0"/>
              <a:t> 및 </a:t>
            </a:r>
            <a:r>
              <a:rPr lang="en-US" dirty="0" err="1"/>
              <a:t>전월</a:t>
            </a:r>
            <a:r>
              <a:rPr lang="en-US" dirty="0"/>
              <a:t> </a:t>
            </a:r>
            <a:r>
              <a:rPr lang="en-US" dirty="0" err="1"/>
              <a:t>대비</a:t>
            </a:r>
            <a:r>
              <a:rPr lang="en-US" dirty="0"/>
              <a:t> </a:t>
            </a:r>
            <a:r>
              <a:rPr lang="en-US" dirty="0" err="1"/>
              <a:t>증감률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54E76-87D4-93AF-929D-6FA6D48E19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1600"/>
            <a:ext cx="5181600" cy="5146675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월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"]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주문일자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dt.to_period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("M")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monthly = (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월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=("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sum"),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판매수량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=("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판매수량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sum"),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주문건수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=("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주문번호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nunique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sort_index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monthly["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전월대비 </a:t>
            </a:r>
            <a:r>
              <a:rPr lang="ko-KR" alt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증감액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"] =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monthly["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diff()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183038-63DE-311F-628D-732DF95C1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71600"/>
            <a:ext cx="5181600" cy="5146675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monthly["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전월대비 증감률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(%)"] = (</a:t>
            </a:r>
          </a:p>
          <a:p>
            <a:pPr marL="0" indent="0">
              <a:buNone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monthly["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pct_change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* 100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).round(2)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display(monthly)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월별 매출 시각화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monthly["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kind="line", marker="o",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figsize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=(11, 5)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("2025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년 월별 매출 추이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월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ko-KR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원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)")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plt.grid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(alpha=0.3)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plt.tight_layout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4619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719D9-8560-283E-D97D-B0AB231A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제품</a:t>
            </a:r>
            <a:r>
              <a:rPr lang="en-US" dirty="0"/>
              <a:t> × </a:t>
            </a:r>
            <a:r>
              <a:rPr lang="en-US" dirty="0" err="1"/>
              <a:t>지역</a:t>
            </a:r>
            <a:r>
              <a:rPr lang="en-US" dirty="0"/>
              <a:t> </a:t>
            </a:r>
            <a:r>
              <a:rPr lang="en-US" dirty="0" err="1"/>
              <a:t>매출</a:t>
            </a:r>
            <a:r>
              <a:rPr lang="en-US" dirty="0"/>
              <a:t> </a:t>
            </a:r>
            <a:r>
              <a:rPr lang="en-US" dirty="0" err="1"/>
              <a:t>분석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5E094E-CFAA-8EBD-0152-D866050E2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2"/>
          </a:solidFill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pivot_sales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pd.pivot_table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index="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제품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columns="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지역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values="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aggfunc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="sum",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display(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pivot_sales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43C58A-112A-AAF2-40D5-4BD2268F1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solidFill>
            <a:schemeClr val="bg2"/>
          </a:solidFill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pivot_sales.plot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kind="bar",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=(12, 6)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제품별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·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지역별 매출 비교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제품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)")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plt.xticks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(rotation=0)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plt.tight_layout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0706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4C784-F447-67EA-9565-9B60041CE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변수</a:t>
            </a:r>
            <a:r>
              <a:rPr lang="en-US" dirty="0"/>
              <a:t> 간 </a:t>
            </a:r>
            <a:r>
              <a:rPr lang="en-US" dirty="0" err="1"/>
              <a:t>상관관계</a:t>
            </a:r>
            <a:r>
              <a:rPr lang="en-US" dirty="0"/>
              <a:t> </a:t>
            </a:r>
            <a:r>
              <a:rPr lang="en-US" dirty="0" err="1"/>
              <a:t>분석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F7294-A6D2-2953-50B2-7C574D4F0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2"/>
          </a:solidFill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판매수량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단가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"]].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display(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corr.round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(3))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plt.figure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=(6, 4))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plt.imshow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cmap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coolwarm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vmin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=-1,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vmax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plt.colorbar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(label="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상관계수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cols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corr.columns.tolist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plt.xticks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(range(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(cols)), cols)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plt.yticks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(range(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(cols)), cols)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D06FAC-7595-252D-6A88-56E18FF2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solidFill>
            <a:schemeClr val="bg2"/>
          </a:solidFill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(cols)):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for j in range(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(cols)):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j,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f"{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j]:.2f}",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ha="center",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="center"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 관련 변수 상관관계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plt.tight_layout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59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BC2B-4619-5F1D-D08B-66DA2ACD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보고서 작성 프롬프트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F6560-F8DB-B62B-C1CB-FE61FE526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1페이지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보고서</a:t>
            </a:r>
            <a:r>
              <a:rPr lang="en-US" dirty="0"/>
              <a:t> </a:t>
            </a:r>
            <a:r>
              <a:rPr lang="en-US" dirty="0" err="1"/>
              <a:t>작성</a:t>
            </a:r>
            <a:endParaRPr lang="en-US" dirty="0"/>
          </a:p>
          <a:p>
            <a:r>
              <a:rPr lang="ko-KR" altLang="en-US" dirty="0"/>
              <a:t>구성</a:t>
            </a:r>
            <a:endParaRPr lang="en-US" altLang="ko-KR" dirty="0"/>
          </a:p>
          <a:p>
            <a:pPr lvl="1"/>
            <a:r>
              <a:rPr lang="en-US" dirty="0" err="1"/>
              <a:t>보고서</a:t>
            </a:r>
            <a:r>
              <a:rPr lang="en-US" dirty="0"/>
              <a:t> </a:t>
            </a:r>
            <a:r>
              <a:rPr lang="en-US" dirty="0" err="1"/>
              <a:t>제목</a:t>
            </a:r>
            <a:r>
              <a:rPr lang="en-US" dirty="0"/>
              <a:t> 및 </a:t>
            </a:r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기간</a:t>
            </a:r>
            <a:endParaRPr lang="en-US" dirty="0"/>
          </a:p>
          <a:p>
            <a:pPr lvl="1"/>
            <a:r>
              <a:rPr lang="en-US" dirty="0" err="1"/>
              <a:t>핵심</a:t>
            </a:r>
            <a:r>
              <a:rPr lang="en-US" dirty="0"/>
              <a:t> </a:t>
            </a:r>
            <a:r>
              <a:rPr lang="en-US" dirty="0" err="1"/>
              <a:t>성과</a:t>
            </a:r>
            <a:r>
              <a:rPr lang="en-US" dirty="0"/>
              <a:t> </a:t>
            </a:r>
            <a:r>
              <a:rPr lang="en-US" dirty="0" err="1"/>
              <a:t>지표</a:t>
            </a:r>
            <a:r>
              <a:rPr lang="en-US" dirty="0"/>
              <a:t>(KPI)</a:t>
            </a:r>
          </a:p>
          <a:p>
            <a:pPr lvl="1"/>
            <a:r>
              <a:rPr lang="en-US" dirty="0" err="1"/>
              <a:t>주요</a:t>
            </a:r>
            <a:r>
              <a:rPr lang="en-US" dirty="0"/>
              <a:t> </a:t>
            </a:r>
            <a:r>
              <a:rPr lang="en-US" dirty="0" err="1"/>
              <a:t>시각화</a:t>
            </a:r>
            <a:r>
              <a:rPr lang="en-US" dirty="0"/>
              <a:t> </a:t>
            </a:r>
            <a:r>
              <a:rPr lang="en-US" dirty="0" err="1"/>
              <a:t>차트</a:t>
            </a:r>
            <a:r>
              <a:rPr lang="en-US" dirty="0"/>
              <a:t> 3개</a:t>
            </a:r>
          </a:p>
          <a:p>
            <a:pPr lvl="1"/>
            <a:r>
              <a:rPr lang="en-US" dirty="0" err="1"/>
              <a:t>핵심</a:t>
            </a:r>
            <a:r>
              <a:rPr lang="en-US" dirty="0"/>
              <a:t> </a:t>
            </a:r>
            <a:r>
              <a:rPr lang="en-US" dirty="0" err="1"/>
              <a:t>인사이트</a:t>
            </a:r>
            <a:r>
              <a:rPr lang="en-US" dirty="0"/>
              <a:t> 3개</a:t>
            </a:r>
          </a:p>
          <a:p>
            <a:pPr lvl="1"/>
            <a:r>
              <a:rPr lang="en-US" dirty="0" err="1"/>
              <a:t>실행</a:t>
            </a:r>
            <a:r>
              <a:rPr lang="en-US" dirty="0"/>
              <a:t> </a:t>
            </a:r>
            <a:r>
              <a:rPr lang="en-US" dirty="0" err="1"/>
              <a:t>우선순위가</a:t>
            </a:r>
            <a:r>
              <a:rPr lang="en-US" dirty="0"/>
              <a:t> </a:t>
            </a:r>
            <a:r>
              <a:rPr lang="en-US" dirty="0" err="1"/>
              <a:t>포함된</a:t>
            </a:r>
            <a:r>
              <a:rPr lang="en-US" dirty="0"/>
              <a:t> </a:t>
            </a:r>
            <a:r>
              <a:rPr lang="en-US" dirty="0" err="1"/>
              <a:t>개선</a:t>
            </a:r>
            <a:r>
              <a:rPr lang="en-US" dirty="0"/>
              <a:t> </a:t>
            </a:r>
            <a:r>
              <a:rPr lang="en-US" dirty="0" err="1"/>
              <a:t>제안</a:t>
            </a:r>
            <a:endParaRPr lang="en-US" dirty="0"/>
          </a:p>
          <a:p>
            <a:pPr lvl="1"/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한계</a:t>
            </a:r>
            <a:r>
              <a:rPr lang="en-US" dirty="0"/>
              <a:t> 및 </a:t>
            </a:r>
            <a:r>
              <a:rPr lang="en-US" dirty="0" err="1"/>
              <a:t>유의사항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07F512-DC4F-856A-9582-DF6D811F7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결과를</a:t>
            </a:r>
            <a:r>
              <a:rPr lang="en-US" dirty="0"/>
              <a:t> </a:t>
            </a:r>
            <a:r>
              <a:rPr lang="en-US" dirty="0" err="1"/>
              <a:t>근거로</a:t>
            </a:r>
            <a:r>
              <a:rPr lang="en-US" dirty="0"/>
              <a:t> </a:t>
            </a:r>
            <a:r>
              <a:rPr lang="en-US" dirty="0" err="1"/>
              <a:t>가장</a:t>
            </a:r>
            <a:r>
              <a:rPr lang="en-US" dirty="0"/>
              <a:t> </a:t>
            </a:r>
            <a:r>
              <a:rPr lang="en-US" dirty="0" err="1"/>
              <a:t>먼저</a:t>
            </a:r>
            <a:r>
              <a:rPr lang="en-US" dirty="0"/>
              <a:t> </a:t>
            </a:r>
            <a:r>
              <a:rPr lang="en-US" dirty="0" err="1"/>
              <a:t>실행해야</a:t>
            </a:r>
            <a:r>
              <a:rPr lang="en-US" dirty="0"/>
              <a:t> 할 </a:t>
            </a:r>
            <a:r>
              <a:rPr lang="en-US" dirty="0" err="1"/>
              <a:t>개선</a:t>
            </a:r>
            <a:r>
              <a:rPr lang="en-US" dirty="0"/>
              <a:t> </a:t>
            </a:r>
            <a:r>
              <a:rPr lang="en-US" dirty="0" err="1"/>
              <a:t>과제</a:t>
            </a:r>
            <a:r>
              <a:rPr lang="en-US" dirty="0"/>
              <a:t> 한 </a:t>
            </a:r>
            <a:r>
              <a:rPr lang="en-US" dirty="0" err="1"/>
              <a:t>가지를</a:t>
            </a:r>
            <a:r>
              <a:rPr lang="en-US" dirty="0"/>
              <a:t> </a:t>
            </a:r>
            <a:r>
              <a:rPr lang="en-US" dirty="0" err="1"/>
              <a:t>선정하고</a:t>
            </a:r>
            <a:r>
              <a:rPr lang="en-US" dirty="0"/>
              <a:t>, </a:t>
            </a:r>
            <a:r>
              <a:rPr lang="en-US" dirty="0" err="1"/>
              <a:t>선정</a:t>
            </a:r>
            <a:r>
              <a:rPr lang="en-US" dirty="0"/>
              <a:t> </a:t>
            </a:r>
            <a:r>
              <a:rPr lang="en-US" dirty="0" err="1"/>
              <a:t>이유를</a:t>
            </a:r>
            <a:r>
              <a:rPr lang="en-US" dirty="0"/>
              <a:t> </a:t>
            </a:r>
            <a:r>
              <a:rPr lang="en-US" dirty="0" err="1"/>
              <a:t>수치로</a:t>
            </a:r>
            <a:r>
              <a:rPr lang="en-US" dirty="0"/>
              <a:t> </a:t>
            </a:r>
            <a:r>
              <a:rPr lang="en-US" dirty="0" err="1"/>
              <a:t>설명해</a:t>
            </a:r>
            <a:r>
              <a:rPr lang="en-US" dirty="0"/>
              <a:t> 줘</a:t>
            </a:r>
          </a:p>
        </p:txBody>
      </p:sp>
    </p:spTree>
    <p:extLst>
      <p:ext uri="{BB962C8B-B14F-4D97-AF65-F5344CB8AC3E}">
        <p14:creationId xmlns:p14="http://schemas.microsoft.com/office/powerpoint/2010/main" val="40291994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06674-2A9C-04A1-A98C-D614E6657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주요</a:t>
            </a:r>
            <a:r>
              <a:rPr lang="en-US" dirty="0"/>
              <a:t> </a:t>
            </a:r>
            <a:r>
              <a:rPr lang="en-US" dirty="0" err="1"/>
              <a:t>지표</a:t>
            </a:r>
            <a:r>
              <a:rPr lang="en-US" dirty="0"/>
              <a:t> </a:t>
            </a:r>
            <a:r>
              <a:rPr lang="en-US" dirty="0" err="1"/>
              <a:t>도출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697A0-BCBB-FE21-AA0F-B0C4C323E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2"/>
          </a:solidFill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total_sales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sum()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total_qty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판매수량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sum()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제품별 매출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위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product_summary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sales_summary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제품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top_product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product_summary.index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top_product_sales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product_summary.iloc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[0]["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top_product_share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product_summary.iloc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[0]["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매출비중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(%)"]</a:t>
            </a:r>
          </a:p>
          <a:p>
            <a:pPr marL="0" indent="0">
              <a:buNone/>
            </a:pP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지역별 매출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위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region_summary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sales_summary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지역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top_region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region_summary.index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top_region_sales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region_summary.iloc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[0]["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top_region_share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region_summary.iloc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[0]["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매출비중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(%)"]</a:t>
            </a:r>
          </a:p>
          <a:p>
            <a:pPr marL="0" indent="0">
              <a:buNone/>
            </a:pP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월별 최고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·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최저 매출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monthly_total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")["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"].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sum()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best_month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monthly_total.idxmax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worst_month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monthly_total.idxmin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71D29-A97E-A1E4-8DE5-EDB123914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solidFill>
            <a:schemeClr val="bg2"/>
          </a:solidFill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주요 지표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총매출액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total_sales:,.0f}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총판매수량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total_qty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:,}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개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주문당 평균 매출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매출액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'].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sum() 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주문번호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'].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nunique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():,.0f}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제품별 매출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위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top_product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({top_product_sales:,.0f}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제품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위 매출 비중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top_product_share:.2f}%")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지역별 매출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위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top_region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({top_region_sales:,.0f}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원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지역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위 매출 비중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top_region_share:.2f}%")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 최고 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best_month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 최저 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worst_month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4473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0C3C2-2E1D-3AF7-6142-1ADF10424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740E6-6631-E93F-079C-2B10C9FE4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핵심</a:t>
            </a:r>
            <a:r>
              <a:rPr lang="en-US" dirty="0"/>
              <a:t> </a:t>
            </a:r>
            <a:r>
              <a:rPr lang="en-US" dirty="0" err="1"/>
              <a:t>인사이트</a:t>
            </a:r>
            <a:r>
              <a:rPr lang="en-US" dirty="0"/>
              <a:t> 3개 </a:t>
            </a:r>
            <a:r>
              <a:rPr lang="en-US" dirty="0" err="1"/>
              <a:t>도출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4E54F-7660-E3FD-10F3-99CB1C82D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solidFill>
            <a:schemeClr val="bg2"/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인사이트 후보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개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print("\n[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핵심 인사이트 후보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]")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f"1.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top_product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제품이 매출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위이며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"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전체 매출의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top_product_share:.2f}%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를 차지합니다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."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f"2.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top_region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지역이 매출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위이며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"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전체 매출의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top_region_share:.2f}%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를 차지합니다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."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f"3. 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매출 최고 월은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best_month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}, "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최저 월은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worst_month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입니다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 "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ko-KR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해당 월의 제품 구성과 판매량을 비교해 원인을 검토하세요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."</a:t>
            </a:r>
          </a:p>
          <a:p>
            <a:pPr marL="0" indent="0">
              <a:buNone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2711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F1DB-9A53-EB54-B622-28FCDFA26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고용 데이터 수집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483FD-CA3C-A97C-6715-2CA272721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9400" cy="4351338"/>
          </a:xfrm>
        </p:spPr>
        <p:txBody>
          <a:bodyPr/>
          <a:lstStyle/>
          <a:p>
            <a:r>
              <a:rPr lang="ko-KR" altLang="en-US" noProof="0" dirty="0" err="1"/>
              <a:t>국가통계포털</a:t>
            </a:r>
            <a:r>
              <a:rPr lang="ko-KR" altLang="en-US" dirty="0"/>
              <a:t>에서 학제별 설립별 졸업상황</a:t>
            </a:r>
            <a:r>
              <a:rPr lang="en-US" altLang="ko-KR" dirty="0"/>
              <a:t>, </a:t>
            </a:r>
            <a:r>
              <a:rPr lang="ko-KR" altLang="en-US" dirty="0"/>
              <a:t>필터링해서 다운로드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https://kosis.kr/search/search.do</a:t>
            </a:r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19601366-D110-448F-246E-028F649BD0C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7788275" y="1690688"/>
            <a:ext cx="3857625" cy="4967287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30760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9D7D-5D46-D551-CB86-A8F0AB84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고용 데이터 분석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5AE9005-B2A5-581A-061B-9534BBA1940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447" y="1661038"/>
            <a:ext cx="5496983" cy="3002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43260F-59FF-31B7-0B97-2EE02D45C3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고용데이터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pPr lvl="1"/>
            <a:r>
              <a:rPr lang="ko-KR" altLang="en-US" noProof="0" dirty="0"/>
              <a:t>컬럼이름 변경 </a:t>
            </a:r>
            <a:r>
              <a:rPr lang="en-US" altLang="ko-KR" noProof="0" dirty="0"/>
              <a:t>(columns)</a:t>
            </a:r>
          </a:p>
          <a:p>
            <a:pPr lvl="1"/>
            <a:r>
              <a:rPr lang="ko-KR" altLang="en-US" dirty="0" err="1"/>
              <a:t>필요없는</a:t>
            </a:r>
            <a:r>
              <a:rPr lang="ko-KR" altLang="en-US" dirty="0"/>
              <a:t> 컬럼 제거 </a:t>
            </a:r>
            <a:r>
              <a:rPr lang="en-US" altLang="ko-KR" dirty="0"/>
              <a:t>(drop)</a:t>
            </a:r>
          </a:p>
          <a:p>
            <a:pPr lvl="1"/>
            <a:r>
              <a:rPr lang="ko-KR" altLang="en-US" dirty="0" err="1"/>
              <a:t>널값</a:t>
            </a:r>
            <a:r>
              <a:rPr lang="ko-KR" altLang="en-US" dirty="0"/>
              <a:t> 채우기 </a:t>
            </a:r>
            <a:r>
              <a:rPr lang="en-US" altLang="ko-KR" dirty="0"/>
              <a:t>(</a:t>
            </a:r>
            <a:r>
              <a:rPr lang="en-US" altLang="ko-KR" dirty="0" err="1"/>
              <a:t>fillna</a:t>
            </a:r>
            <a:r>
              <a:rPr lang="en-US" altLang="ko-KR" dirty="0"/>
              <a:t>, method=‘</a:t>
            </a:r>
            <a:r>
              <a:rPr lang="en-US" altLang="ko-KR" dirty="0" err="1"/>
              <a:t>ffill</a:t>
            </a:r>
            <a:r>
              <a:rPr lang="en-US" altLang="ko-KR" dirty="0"/>
              <a:t>’)</a:t>
            </a:r>
          </a:p>
          <a:p>
            <a:pPr lvl="1"/>
            <a:r>
              <a:rPr lang="ko-KR" altLang="en-US" dirty="0"/>
              <a:t>필터링 </a:t>
            </a:r>
            <a:r>
              <a:rPr lang="en-US" altLang="ko-KR" dirty="0"/>
              <a:t>(‘</a:t>
            </a:r>
            <a:r>
              <a:rPr lang="ko-KR" altLang="en-US" dirty="0"/>
              <a:t>취업률 </a:t>
            </a:r>
            <a:r>
              <a:rPr lang="en-US" altLang="ko-KR" dirty="0"/>
              <a:t>(%)’)</a:t>
            </a:r>
          </a:p>
          <a:p>
            <a:pPr lvl="1"/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타입 변환 </a:t>
            </a:r>
            <a:r>
              <a:rPr lang="en-US" altLang="ko-KR" dirty="0"/>
              <a:t>(</a:t>
            </a:r>
            <a:r>
              <a:rPr lang="en-US" altLang="ko-KR" dirty="0" err="1"/>
              <a:t>astype</a:t>
            </a:r>
            <a:r>
              <a:rPr lang="en-US" altLang="ko-KR" dirty="0"/>
              <a:t>)</a:t>
            </a:r>
          </a:p>
          <a:p>
            <a:r>
              <a:rPr lang="ko-KR" altLang="en-US" noProof="0" dirty="0"/>
              <a:t>연도별 취업률 데이터 수집 및 분석</a:t>
            </a:r>
            <a:endParaRPr lang="en-US" dirty="0"/>
          </a:p>
          <a:p>
            <a:pPr lvl="1"/>
            <a:r>
              <a:rPr lang="ko-KR" altLang="en-US" dirty="0"/>
              <a:t>막대그래프 </a:t>
            </a:r>
            <a:r>
              <a:rPr lang="en-US" altLang="ko-KR" dirty="0"/>
              <a:t>(bar)</a:t>
            </a:r>
          </a:p>
          <a:p>
            <a:pPr lvl="1"/>
            <a:r>
              <a:rPr lang="ko-KR" altLang="en-US" dirty="0"/>
              <a:t>선그래프 </a:t>
            </a:r>
            <a:r>
              <a:rPr lang="en-US" altLang="ko-KR" dirty="0"/>
              <a:t>(plot)</a:t>
            </a:r>
          </a:p>
          <a:p>
            <a:pPr lvl="1"/>
            <a:r>
              <a:rPr lang="ko-KR" altLang="en-US" dirty="0"/>
              <a:t>그래프</a:t>
            </a:r>
            <a:r>
              <a:rPr lang="en-US" altLang="ko-KR" dirty="0"/>
              <a:t> </a:t>
            </a:r>
            <a:r>
              <a:rPr lang="ko-KR" altLang="en-US" dirty="0"/>
              <a:t>처리 </a:t>
            </a:r>
            <a:r>
              <a:rPr lang="en-US" altLang="ko-KR" dirty="0"/>
              <a:t>(</a:t>
            </a:r>
            <a:r>
              <a:rPr lang="en-US" altLang="ko-KR" dirty="0" err="1"/>
              <a:t>xlabel</a:t>
            </a:r>
            <a:r>
              <a:rPr lang="en-US" altLang="ko-KR" dirty="0"/>
              <a:t>, </a:t>
            </a:r>
            <a:r>
              <a:rPr lang="en-US" altLang="ko-KR" dirty="0" err="1"/>
              <a:t>ylabel</a:t>
            </a:r>
            <a:r>
              <a:rPr lang="en-US" altLang="ko-KR" dirty="0"/>
              <a:t>, </a:t>
            </a:r>
            <a:r>
              <a:rPr lang="en-US" altLang="ko-KR" dirty="0" err="1"/>
              <a:t>ylim</a:t>
            </a:r>
            <a:r>
              <a:rPr lang="en-US" altLang="ko-KR" dirty="0"/>
              <a:t>, title, annotate)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547740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EF1E4DC-A604-FAF4-170F-40D57B5F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불법주정차와 </a:t>
            </a:r>
            <a:r>
              <a:rPr lang="en-US" altLang="ko-KR" dirty="0"/>
              <a:t>CCTV </a:t>
            </a:r>
            <a:r>
              <a:rPr lang="ko-KR" altLang="en-US" dirty="0"/>
              <a:t>데이터 수집 </a:t>
            </a:r>
            <a:endParaRPr lang="en-US" altLang="ko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5EF29-4CC1-4764-107B-CB8CC4D7A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ko-KR" altLang="en-US" noProof="0" dirty="0"/>
              <a:t>서울 </a:t>
            </a:r>
            <a:r>
              <a:rPr lang="ko-KR" altLang="en-US" noProof="0" dirty="0" err="1"/>
              <a:t>열린데이터</a:t>
            </a:r>
            <a:r>
              <a:rPr lang="ko-KR" altLang="en-US" noProof="0" dirty="0"/>
              <a:t> 광장</a:t>
            </a:r>
            <a:r>
              <a:rPr lang="en-US" altLang="ko-KR" noProof="0" dirty="0"/>
              <a:t>, </a:t>
            </a:r>
            <a:r>
              <a:rPr lang="ko-KR" altLang="en-US" noProof="0" dirty="0"/>
              <a:t>서울시 불법주정차 단속 정보</a:t>
            </a:r>
            <a:r>
              <a:rPr lang="en-US" altLang="ko-KR" noProof="0" dirty="0"/>
              <a:t>, </a:t>
            </a:r>
            <a:r>
              <a:rPr lang="ko-KR" altLang="en-US" noProof="0" dirty="0"/>
              <a:t>다운로드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485D03-E073-F538-0650-EDA5C9D82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575300" cy="4351338"/>
          </a:xfrm>
        </p:spPr>
        <p:txBody>
          <a:bodyPr/>
          <a:lstStyle/>
          <a:p>
            <a:r>
              <a:rPr lang="ko-KR" altLang="en-US" dirty="0"/>
              <a:t>서울 </a:t>
            </a:r>
            <a:r>
              <a:rPr lang="ko-KR" altLang="en-US" dirty="0" err="1"/>
              <a:t>열린데이터</a:t>
            </a:r>
            <a:r>
              <a:rPr lang="ko-KR" altLang="en-US" dirty="0"/>
              <a:t> 광장</a:t>
            </a:r>
            <a:r>
              <a:rPr lang="en-US" altLang="ko-KR" dirty="0"/>
              <a:t>, </a:t>
            </a:r>
            <a:r>
              <a:rPr lang="ko-KR" altLang="en-US" dirty="0"/>
              <a:t>서울시 불법주정차</a:t>
            </a:r>
            <a:r>
              <a:rPr lang="en-US" altLang="ko-KR" dirty="0"/>
              <a:t>/</a:t>
            </a:r>
            <a:r>
              <a:rPr lang="ko-KR" altLang="en-US" dirty="0"/>
              <a:t>전용차로 위반 단속 </a:t>
            </a:r>
            <a:r>
              <a:rPr lang="en-US" altLang="ko-KR" dirty="0"/>
              <a:t>CCTV </a:t>
            </a:r>
            <a:r>
              <a:rPr lang="ko-KR" altLang="en-US" dirty="0"/>
              <a:t>위치정보</a:t>
            </a:r>
            <a:r>
              <a:rPr lang="en-US" altLang="ko-KR" dirty="0"/>
              <a:t>, </a:t>
            </a:r>
            <a:r>
              <a:rPr lang="ko-KR" altLang="en-US" dirty="0"/>
              <a:t>다운로드</a:t>
            </a:r>
            <a:endParaRPr lang="en-US" altLang="ko-KR" dirty="0"/>
          </a:p>
          <a:p>
            <a:pPr lvl="1"/>
            <a:endParaRPr lang="ko-KR" alt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ED9E1C-E10E-6A2D-FD21-FEBE6EA89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493" y="3110110"/>
            <a:ext cx="3822403" cy="33827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DA2A49-93BA-E588-4745-6CC89825A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602" y="3110111"/>
            <a:ext cx="3552509" cy="338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028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31AC2B-2C0A-407A-137D-B8082224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불법주정차와 </a:t>
            </a:r>
            <a:r>
              <a:rPr lang="en-US" altLang="ko-KR" dirty="0"/>
              <a:t>CCTV </a:t>
            </a:r>
            <a:r>
              <a:rPr lang="ko-KR" altLang="en-US" dirty="0"/>
              <a:t>데이터 분석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DF448B-9E6C-963B-0560-94323E33E3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noProof="0" dirty="0"/>
              <a:t>서울시 불법주정차 단속 정보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pPr lvl="1"/>
            <a:r>
              <a:rPr lang="ko-KR" altLang="en-US" dirty="0"/>
              <a:t>자치구 생성 </a:t>
            </a:r>
            <a:r>
              <a:rPr lang="en-US" altLang="ko-KR" dirty="0"/>
              <a:t>(apply,</a:t>
            </a:r>
            <a:r>
              <a:rPr lang="ko-KR" altLang="en-US" dirty="0"/>
              <a:t> </a:t>
            </a:r>
            <a:r>
              <a:rPr lang="en-US" altLang="ko-KR" dirty="0"/>
              <a:t>lambda)</a:t>
            </a:r>
          </a:p>
          <a:p>
            <a:pPr lvl="1"/>
            <a:r>
              <a:rPr lang="ko-KR" altLang="en-US" dirty="0"/>
              <a:t>자치구별 개수 카운트 </a:t>
            </a:r>
            <a:r>
              <a:rPr lang="en-US" altLang="ko-KR" dirty="0"/>
              <a:t>(</a:t>
            </a:r>
            <a:r>
              <a:rPr lang="en-US" altLang="ko-KR" dirty="0" err="1"/>
              <a:t>groupby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noProof="0" dirty="0"/>
              <a:t>서울시 불법주정차</a:t>
            </a:r>
            <a:r>
              <a:rPr lang="en-US" altLang="ko-KR" noProof="0" dirty="0"/>
              <a:t>/</a:t>
            </a:r>
            <a:r>
              <a:rPr lang="ko-KR" altLang="en-US" noProof="0" dirty="0"/>
              <a:t>전용차로 위반 단속 </a:t>
            </a:r>
            <a:r>
              <a:rPr lang="en-US" altLang="ko-KR" noProof="0" dirty="0"/>
              <a:t>CCTV </a:t>
            </a:r>
            <a:r>
              <a:rPr lang="ko-KR" altLang="en-US" noProof="0" dirty="0"/>
              <a:t>위치정보 </a:t>
            </a:r>
            <a:r>
              <a:rPr lang="ko-KR" altLang="en-US" noProof="0" dirty="0" err="1"/>
              <a:t>전처리</a:t>
            </a:r>
            <a:endParaRPr lang="en-US" altLang="ko-KR" noProof="0" dirty="0"/>
          </a:p>
          <a:p>
            <a:pPr lvl="1"/>
            <a:r>
              <a:rPr lang="ko-KR" altLang="en-US" dirty="0"/>
              <a:t>자치구별 개수 카운트 </a:t>
            </a:r>
            <a:r>
              <a:rPr lang="en-US" altLang="ko-KR" dirty="0"/>
              <a:t>(</a:t>
            </a:r>
            <a:r>
              <a:rPr lang="en-US" altLang="ko-KR" dirty="0" err="1"/>
              <a:t>groupby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자치구로 병합 </a:t>
            </a:r>
            <a:r>
              <a:rPr lang="en-US" altLang="ko-KR" dirty="0"/>
              <a:t>(merge)</a:t>
            </a:r>
          </a:p>
          <a:p>
            <a:r>
              <a:rPr lang="ko-KR" altLang="en-US" dirty="0"/>
              <a:t>컬럼이름 변경 </a:t>
            </a:r>
            <a:r>
              <a:rPr lang="en-US" altLang="ko-KR" dirty="0"/>
              <a:t>(columns)</a:t>
            </a:r>
          </a:p>
          <a:p>
            <a:r>
              <a:rPr lang="ko-KR" altLang="en-US" dirty="0" err="1"/>
              <a:t>산점도</a:t>
            </a:r>
            <a:r>
              <a:rPr lang="ko-KR" altLang="en-US" dirty="0"/>
              <a:t> </a:t>
            </a:r>
            <a:r>
              <a:rPr lang="en-US" altLang="ko-KR" dirty="0"/>
              <a:t>(scatter, grid, annotate)</a:t>
            </a:r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00062A2-3E49-B603-884E-5B17038750E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2447" y="1659335"/>
            <a:ext cx="5496983" cy="353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508555"/>
      </p:ext>
    </p:extLst>
  </p:cSld>
  <p:clrMapOvr>
    <a:masterClrMapping/>
  </p:clrMapOvr>
</p:sld>
</file>

<file path=ppt/theme/theme1.xml><?xml version="1.0" encoding="utf-8"?>
<a:theme xmlns:a="http://schemas.openxmlformats.org/drawingml/2006/main" name="Terra">
  <a:themeElements>
    <a:clrScheme name="Custom 3">
      <a:dk1>
        <a:srgbClr val="000000"/>
      </a:dk1>
      <a:lt1>
        <a:srgbClr val="FFFFFF"/>
      </a:lt1>
      <a:dk2>
        <a:srgbClr val="718DB2"/>
      </a:dk2>
      <a:lt2>
        <a:srgbClr val="FEFFFF"/>
      </a:lt2>
      <a:accent1>
        <a:srgbClr val="5E5E5E"/>
      </a:accent1>
      <a:accent2>
        <a:srgbClr val="E7E6E6"/>
      </a:accent2>
      <a:accent3>
        <a:srgbClr val="D7CDC8"/>
      </a:accent3>
      <a:accent4>
        <a:srgbClr val="AFA5A0"/>
      </a:accent4>
      <a:accent5>
        <a:srgbClr val="918787"/>
      </a:accent5>
      <a:accent6>
        <a:srgbClr val="556969"/>
      </a:accent6>
      <a:hlink>
        <a:srgbClr val="3758C1"/>
      </a:hlink>
      <a:folHlink>
        <a:srgbClr val="00539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1C7E41-42DC-4B4E-84FE-DF921EB2F04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18639</TotalTime>
  <Words>4903</Words>
  <Application>Microsoft Office PowerPoint</Application>
  <PresentationFormat>Widescreen</PresentationFormat>
  <Paragraphs>784</Paragraphs>
  <Slides>65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7" baseType="lpstr">
      <vt:lpstr>Calibri</vt:lpstr>
      <vt:lpstr>Aptos Display</vt:lpstr>
      <vt:lpstr>Courier New</vt:lpstr>
      <vt:lpstr>Microsoft GothicNeo</vt:lpstr>
      <vt:lpstr>G마켓 산스 TTF Medium</vt:lpstr>
      <vt:lpstr>Wingdings</vt:lpstr>
      <vt:lpstr>Poppins</vt:lpstr>
      <vt:lpstr>Arial</vt:lpstr>
      <vt:lpstr>Aptos</vt:lpstr>
      <vt:lpstr>KoPub돋움체 Medium</vt:lpstr>
      <vt:lpstr>Terra</vt:lpstr>
      <vt:lpstr>Office Theme</vt:lpstr>
      <vt:lpstr>[AI 리터러시 교육]</vt:lpstr>
      <vt:lpstr>생성형 AI 활용 실무역량 강화 교육</vt:lpstr>
      <vt:lpstr>Topics</vt:lpstr>
      <vt:lpstr>홍보 영상 콘텐츠 설계 실습</vt:lpstr>
      <vt:lpstr>예상 출력</vt:lpstr>
      <vt:lpstr>예상 출력</vt:lpstr>
      <vt:lpstr>영상 제작 AI 도구들</vt:lpstr>
      <vt:lpstr>Pandas를 이용한 데이터 분석 실습</vt:lpstr>
      <vt:lpstr>데이터 분석 및 시각화를 위한  파이썬 라이브러리</vt:lpstr>
      <vt:lpstr>Pandas 팬다스</vt:lpstr>
      <vt:lpstr>근무시간 분석을 위한 코드 생성</vt:lpstr>
      <vt:lpstr>attendance.csv</vt:lpstr>
      <vt:lpstr>1. attendance.csv 파일 읽기</vt:lpstr>
      <vt:lpstr>2. 'Check_in'과 'Check_out' 시간을 datetime 형식으로 변환</vt:lpstr>
      <vt:lpstr>3. 근무 시간 계산</vt:lpstr>
      <vt:lpstr>4. 각 직원별 평균 근무 시간 계산</vt:lpstr>
      <vt:lpstr>5. 결과를 staff_avg_hours.csv 파일로 저장</vt:lpstr>
      <vt:lpstr>예산 집행 내역 분석을 위한 코드 생성</vt:lpstr>
      <vt:lpstr>budget_2024.csv</vt:lpstr>
      <vt:lpstr>1. budget_2024.csv 파일 불러오기</vt:lpstr>
      <vt:lpstr>2. 각 항목별 잔여 예산(Remaining) 계산</vt:lpstr>
      <vt:lpstr>3. 잔여 예산이 0 이하인 항목만 출력하기</vt:lpstr>
      <vt:lpstr>민원 처리 데이터 분석을 위한 코드 생성</vt:lpstr>
      <vt:lpstr>complaints.xlsx</vt:lpstr>
      <vt:lpstr>1. 파일 불러오기</vt:lpstr>
      <vt:lpstr>2. 부서별 민원 건수 집계</vt:lpstr>
      <vt:lpstr>3. 결과를 파일로 저장</vt:lpstr>
      <vt:lpstr>Matplotlib를 이용한 데이터 분석 실습</vt:lpstr>
      <vt:lpstr>matplotlib</vt:lpstr>
      <vt:lpstr>분석목적에 따른 차트 유형</vt:lpstr>
      <vt:lpstr>시간 시각화</vt:lpstr>
      <vt:lpstr>선그래프 실습</vt:lpstr>
      <vt:lpstr>비교 시각화</vt:lpstr>
      <vt:lpstr>막대 그래프 실습</vt:lpstr>
      <vt:lpstr>박스플랏 실습</vt:lpstr>
      <vt:lpstr>히스토그램 실습</vt:lpstr>
      <vt:lpstr>영역 그래프 실습</vt:lpstr>
      <vt:lpstr>비율(구성) 시각화</vt:lpstr>
      <vt:lpstr>파이 그래프 실습</vt:lpstr>
      <vt:lpstr>관계 시각화</vt:lpstr>
      <vt:lpstr>산점도 실습</vt:lpstr>
      <vt:lpstr>히트맵 실습</vt:lpstr>
      <vt:lpstr>공간 시각화</vt:lpstr>
      <vt:lpstr>매출 데이터 시각화를 위한 코드 생성</vt:lpstr>
      <vt:lpstr>온라인 쇼핑몰 매출 데이터</vt:lpstr>
      <vt:lpstr>월별 매출 추이: 선그래프</vt:lpstr>
      <vt:lpstr>제품별 매출 비교: 막대그래프</vt:lpstr>
      <vt:lpstr>지역별 매출 비교: 막대그래프</vt:lpstr>
      <vt:lpstr>생성형 AI 기반 데이터 분석</vt:lpstr>
      <vt:lpstr>데이터 정제 프롬프트</vt:lpstr>
      <vt:lpstr>생성형 AI를 활용한 Python 코드 생성</vt:lpstr>
      <vt:lpstr>생성형 AI를 활용한 Python 코드 생성</vt:lpstr>
      <vt:lpstr>생성형 AI를 활용한 Python 코드 생성</vt:lpstr>
      <vt:lpstr>데이터 분석 및 시각화 프롬프트</vt:lpstr>
      <vt:lpstr>항목별 매출 분석</vt:lpstr>
      <vt:lpstr>월별 매출 추이 및 전월 대비 증감률</vt:lpstr>
      <vt:lpstr>제품 × 지역 매출 분석</vt:lpstr>
      <vt:lpstr>변수 간 상관관계 분석</vt:lpstr>
      <vt:lpstr>보고서 작성 프롬프트</vt:lpstr>
      <vt:lpstr>주요 지표 도출</vt:lpstr>
      <vt:lpstr>핵심 인사이트 3개 도출</vt:lpstr>
      <vt:lpstr>고용 데이터 수집</vt:lpstr>
      <vt:lpstr>고용 데이터 분석</vt:lpstr>
      <vt:lpstr>불법주정차와 CCTV 데이터 수집 </vt:lpstr>
      <vt:lpstr>불법주정차와 CCTV 데이터 분석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Hyo-Jeong  Kim</dc:creator>
  <cp:lastModifiedBy>Hyo-Jeong Kim</cp:lastModifiedBy>
  <cp:revision>91</cp:revision>
  <dcterms:created xsi:type="dcterms:W3CDTF">2024-06-16T05:53:51Z</dcterms:created>
  <dcterms:modified xsi:type="dcterms:W3CDTF">2026-10-21T02:31:20Z</dcterms:modified>
</cp:coreProperties>
</file>